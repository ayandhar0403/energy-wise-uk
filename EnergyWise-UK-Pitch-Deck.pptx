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274320" y="182880"/>
            <a:ext cx="36576" cy="36576"/>
          </a:xfrm>
          <a:prstGeom prst="ellipse">
            <a:avLst/>
          </a:prstGeom>
          <a:solidFill>
            <a:srgbClr val="0D9488">
              <a:alpha val="15000"/>
            </a:srgbClr>
          </a:solidFill>
          <a:ln/>
        </p:spPr>
      </p:sp>
      <p:sp>
        <p:nvSpPr>
          <p:cNvPr id="3" name="Shape 1"/>
          <p:cNvSpPr/>
          <p:nvPr/>
        </p:nvSpPr>
        <p:spPr>
          <a:xfrm>
            <a:off x="713232" y="182880"/>
            <a:ext cx="36576" cy="36576"/>
          </a:xfrm>
          <a:prstGeom prst="ellipse">
            <a:avLst/>
          </a:prstGeom>
          <a:solidFill>
            <a:srgbClr val="0D9488">
              <a:alpha val="15000"/>
            </a:srgbClr>
          </a:solidFill>
          <a:ln/>
        </p:spPr>
      </p:sp>
      <p:sp>
        <p:nvSpPr>
          <p:cNvPr id="4" name="Shape 2"/>
          <p:cNvSpPr/>
          <p:nvPr/>
        </p:nvSpPr>
        <p:spPr>
          <a:xfrm>
            <a:off x="1152144" y="182880"/>
            <a:ext cx="36576" cy="36576"/>
          </a:xfrm>
          <a:prstGeom prst="ellipse">
            <a:avLst/>
          </a:prstGeom>
          <a:solidFill>
            <a:srgbClr val="0D9488">
              <a:alpha val="15000"/>
            </a:srgbClr>
          </a:solidFill>
          <a:ln/>
        </p:spPr>
      </p:sp>
      <p:sp>
        <p:nvSpPr>
          <p:cNvPr id="5" name="Shape 3"/>
          <p:cNvSpPr/>
          <p:nvPr/>
        </p:nvSpPr>
        <p:spPr>
          <a:xfrm>
            <a:off x="1591056" y="182880"/>
            <a:ext cx="36576" cy="36576"/>
          </a:xfrm>
          <a:prstGeom prst="ellipse">
            <a:avLst/>
          </a:prstGeom>
          <a:solidFill>
            <a:srgbClr val="0D9488">
              <a:alpha val="15000"/>
            </a:srgbClr>
          </a:solidFill>
          <a:ln/>
        </p:spPr>
      </p:sp>
      <p:sp>
        <p:nvSpPr>
          <p:cNvPr id="6" name="Shape 4"/>
          <p:cNvSpPr/>
          <p:nvPr/>
        </p:nvSpPr>
        <p:spPr>
          <a:xfrm>
            <a:off x="2029968" y="182880"/>
            <a:ext cx="36576" cy="36576"/>
          </a:xfrm>
          <a:prstGeom prst="ellipse">
            <a:avLst/>
          </a:prstGeom>
          <a:solidFill>
            <a:srgbClr val="0D9488">
              <a:alpha val="15000"/>
            </a:srgbClr>
          </a:solidFill>
          <a:ln/>
        </p:spPr>
      </p:sp>
      <p:sp>
        <p:nvSpPr>
          <p:cNvPr id="7" name="Shape 5"/>
          <p:cNvSpPr/>
          <p:nvPr/>
        </p:nvSpPr>
        <p:spPr>
          <a:xfrm>
            <a:off x="2468880" y="182880"/>
            <a:ext cx="36576" cy="36576"/>
          </a:xfrm>
          <a:prstGeom prst="ellipse">
            <a:avLst/>
          </a:prstGeom>
          <a:solidFill>
            <a:srgbClr val="0D9488">
              <a:alpha val="15000"/>
            </a:srgbClr>
          </a:solidFill>
          <a:ln/>
        </p:spPr>
      </p:sp>
      <p:sp>
        <p:nvSpPr>
          <p:cNvPr id="8" name="Shape 6"/>
          <p:cNvSpPr/>
          <p:nvPr/>
        </p:nvSpPr>
        <p:spPr>
          <a:xfrm>
            <a:off x="2907792" y="182880"/>
            <a:ext cx="36576" cy="36576"/>
          </a:xfrm>
          <a:prstGeom prst="ellipse">
            <a:avLst/>
          </a:prstGeom>
          <a:solidFill>
            <a:srgbClr val="0D9488">
              <a:alpha val="15000"/>
            </a:srgbClr>
          </a:solidFill>
          <a:ln/>
        </p:spPr>
      </p:sp>
      <p:sp>
        <p:nvSpPr>
          <p:cNvPr id="9" name="Shape 7"/>
          <p:cNvSpPr/>
          <p:nvPr/>
        </p:nvSpPr>
        <p:spPr>
          <a:xfrm>
            <a:off x="3346704" y="182880"/>
            <a:ext cx="36576" cy="36576"/>
          </a:xfrm>
          <a:prstGeom prst="ellipse">
            <a:avLst/>
          </a:prstGeom>
          <a:solidFill>
            <a:srgbClr val="0D9488">
              <a:alpha val="15000"/>
            </a:srgbClr>
          </a:solidFill>
          <a:ln/>
        </p:spPr>
      </p:sp>
      <p:sp>
        <p:nvSpPr>
          <p:cNvPr id="10" name="Shape 8"/>
          <p:cNvSpPr/>
          <p:nvPr/>
        </p:nvSpPr>
        <p:spPr>
          <a:xfrm>
            <a:off x="3785616" y="182880"/>
            <a:ext cx="36576" cy="36576"/>
          </a:xfrm>
          <a:prstGeom prst="ellipse">
            <a:avLst/>
          </a:prstGeom>
          <a:solidFill>
            <a:srgbClr val="0D9488">
              <a:alpha val="15000"/>
            </a:srgbClr>
          </a:solidFill>
          <a:ln/>
        </p:spPr>
      </p:sp>
      <p:sp>
        <p:nvSpPr>
          <p:cNvPr id="11" name="Shape 9"/>
          <p:cNvSpPr/>
          <p:nvPr/>
        </p:nvSpPr>
        <p:spPr>
          <a:xfrm>
            <a:off x="4224528" y="182880"/>
            <a:ext cx="36576" cy="36576"/>
          </a:xfrm>
          <a:prstGeom prst="ellipse">
            <a:avLst/>
          </a:prstGeom>
          <a:solidFill>
            <a:srgbClr val="0D9488">
              <a:alpha val="15000"/>
            </a:srgbClr>
          </a:solidFill>
          <a:ln/>
        </p:spPr>
      </p:sp>
      <p:sp>
        <p:nvSpPr>
          <p:cNvPr id="12" name="Shape 10"/>
          <p:cNvSpPr/>
          <p:nvPr/>
        </p:nvSpPr>
        <p:spPr>
          <a:xfrm>
            <a:off x="4663440" y="182880"/>
            <a:ext cx="36576" cy="36576"/>
          </a:xfrm>
          <a:prstGeom prst="ellipse">
            <a:avLst/>
          </a:prstGeom>
          <a:solidFill>
            <a:srgbClr val="0D9488">
              <a:alpha val="15000"/>
            </a:srgbClr>
          </a:solidFill>
          <a:ln/>
        </p:spPr>
      </p:sp>
      <p:sp>
        <p:nvSpPr>
          <p:cNvPr id="13" name="Shape 11"/>
          <p:cNvSpPr/>
          <p:nvPr/>
        </p:nvSpPr>
        <p:spPr>
          <a:xfrm>
            <a:off x="5102352" y="182880"/>
            <a:ext cx="36576" cy="36576"/>
          </a:xfrm>
          <a:prstGeom prst="ellipse">
            <a:avLst/>
          </a:prstGeom>
          <a:solidFill>
            <a:srgbClr val="0D9488">
              <a:alpha val="15000"/>
            </a:srgbClr>
          </a:solidFill>
          <a:ln/>
        </p:spPr>
      </p:sp>
      <p:sp>
        <p:nvSpPr>
          <p:cNvPr id="14" name="Shape 12"/>
          <p:cNvSpPr/>
          <p:nvPr/>
        </p:nvSpPr>
        <p:spPr>
          <a:xfrm>
            <a:off x="5541264" y="182880"/>
            <a:ext cx="36576" cy="36576"/>
          </a:xfrm>
          <a:prstGeom prst="ellipse">
            <a:avLst/>
          </a:prstGeom>
          <a:solidFill>
            <a:srgbClr val="0D9488">
              <a:alpha val="15000"/>
            </a:srgbClr>
          </a:solidFill>
          <a:ln/>
        </p:spPr>
      </p:sp>
      <p:sp>
        <p:nvSpPr>
          <p:cNvPr id="15" name="Shape 13"/>
          <p:cNvSpPr/>
          <p:nvPr/>
        </p:nvSpPr>
        <p:spPr>
          <a:xfrm>
            <a:off x="5980176" y="182880"/>
            <a:ext cx="36576" cy="36576"/>
          </a:xfrm>
          <a:prstGeom prst="ellipse">
            <a:avLst/>
          </a:prstGeom>
          <a:solidFill>
            <a:srgbClr val="0D9488">
              <a:alpha val="15000"/>
            </a:srgbClr>
          </a:solidFill>
          <a:ln/>
        </p:spPr>
      </p:sp>
      <p:sp>
        <p:nvSpPr>
          <p:cNvPr id="16" name="Shape 14"/>
          <p:cNvSpPr/>
          <p:nvPr/>
        </p:nvSpPr>
        <p:spPr>
          <a:xfrm>
            <a:off x="6419088" y="182880"/>
            <a:ext cx="36576" cy="36576"/>
          </a:xfrm>
          <a:prstGeom prst="ellipse">
            <a:avLst/>
          </a:prstGeom>
          <a:solidFill>
            <a:srgbClr val="0D9488">
              <a:alpha val="15000"/>
            </a:srgbClr>
          </a:solidFill>
          <a:ln/>
        </p:spPr>
      </p:sp>
      <p:sp>
        <p:nvSpPr>
          <p:cNvPr id="17" name="Shape 15"/>
          <p:cNvSpPr/>
          <p:nvPr/>
        </p:nvSpPr>
        <p:spPr>
          <a:xfrm>
            <a:off x="6858000" y="182880"/>
            <a:ext cx="36576" cy="36576"/>
          </a:xfrm>
          <a:prstGeom prst="ellipse">
            <a:avLst/>
          </a:prstGeom>
          <a:solidFill>
            <a:srgbClr val="0D9488">
              <a:alpha val="15000"/>
            </a:srgbClr>
          </a:solidFill>
          <a:ln/>
        </p:spPr>
      </p:sp>
      <p:sp>
        <p:nvSpPr>
          <p:cNvPr id="18" name="Shape 16"/>
          <p:cNvSpPr/>
          <p:nvPr/>
        </p:nvSpPr>
        <p:spPr>
          <a:xfrm>
            <a:off x="7296912" y="182880"/>
            <a:ext cx="36576" cy="36576"/>
          </a:xfrm>
          <a:prstGeom prst="ellipse">
            <a:avLst/>
          </a:prstGeom>
          <a:solidFill>
            <a:srgbClr val="0D9488">
              <a:alpha val="15000"/>
            </a:srgbClr>
          </a:solidFill>
          <a:ln/>
        </p:spPr>
      </p:sp>
      <p:sp>
        <p:nvSpPr>
          <p:cNvPr id="19" name="Shape 17"/>
          <p:cNvSpPr/>
          <p:nvPr/>
        </p:nvSpPr>
        <p:spPr>
          <a:xfrm>
            <a:off x="7735824" y="182880"/>
            <a:ext cx="36576" cy="36576"/>
          </a:xfrm>
          <a:prstGeom prst="ellipse">
            <a:avLst/>
          </a:prstGeom>
          <a:solidFill>
            <a:srgbClr val="0D9488">
              <a:alpha val="15000"/>
            </a:srgbClr>
          </a:solidFill>
          <a:ln/>
        </p:spPr>
      </p:sp>
      <p:sp>
        <p:nvSpPr>
          <p:cNvPr id="20" name="Shape 18"/>
          <p:cNvSpPr/>
          <p:nvPr/>
        </p:nvSpPr>
        <p:spPr>
          <a:xfrm>
            <a:off x="8174736" y="182880"/>
            <a:ext cx="36576" cy="36576"/>
          </a:xfrm>
          <a:prstGeom prst="ellipse">
            <a:avLst/>
          </a:prstGeom>
          <a:solidFill>
            <a:srgbClr val="0D9488">
              <a:alpha val="15000"/>
            </a:srgbClr>
          </a:solidFill>
          <a:ln/>
        </p:spPr>
      </p:sp>
      <p:sp>
        <p:nvSpPr>
          <p:cNvPr id="21" name="Shape 19"/>
          <p:cNvSpPr/>
          <p:nvPr/>
        </p:nvSpPr>
        <p:spPr>
          <a:xfrm>
            <a:off x="8613648" y="182880"/>
            <a:ext cx="36576" cy="36576"/>
          </a:xfrm>
          <a:prstGeom prst="ellipse">
            <a:avLst/>
          </a:prstGeom>
          <a:solidFill>
            <a:srgbClr val="0D9488">
              <a:alpha val="15000"/>
            </a:srgbClr>
          </a:solidFill>
          <a:ln/>
        </p:spPr>
      </p:sp>
      <p:sp>
        <p:nvSpPr>
          <p:cNvPr id="22" name="Shape 20"/>
          <p:cNvSpPr/>
          <p:nvPr/>
        </p:nvSpPr>
        <p:spPr>
          <a:xfrm>
            <a:off x="274320" y="621792"/>
            <a:ext cx="36576" cy="36576"/>
          </a:xfrm>
          <a:prstGeom prst="ellipse">
            <a:avLst/>
          </a:prstGeom>
          <a:solidFill>
            <a:srgbClr val="0D9488">
              <a:alpha val="15000"/>
            </a:srgbClr>
          </a:solidFill>
          <a:ln/>
        </p:spPr>
      </p:sp>
      <p:sp>
        <p:nvSpPr>
          <p:cNvPr id="23" name="Shape 21"/>
          <p:cNvSpPr/>
          <p:nvPr/>
        </p:nvSpPr>
        <p:spPr>
          <a:xfrm>
            <a:off x="713232" y="621792"/>
            <a:ext cx="36576" cy="36576"/>
          </a:xfrm>
          <a:prstGeom prst="ellipse">
            <a:avLst/>
          </a:prstGeom>
          <a:solidFill>
            <a:srgbClr val="0D9488">
              <a:alpha val="15000"/>
            </a:srgbClr>
          </a:solidFill>
          <a:ln/>
        </p:spPr>
      </p:sp>
      <p:sp>
        <p:nvSpPr>
          <p:cNvPr id="24" name="Shape 22"/>
          <p:cNvSpPr/>
          <p:nvPr/>
        </p:nvSpPr>
        <p:spPr>
          <a:xfrm>
            <a:off x="1152144" y="621792"/>
            <a:ext cx="36576" cy="36576"/>
          </a:xfrm>
          <a:prstGeom prst="ellipse">
            <a:avLst/>
          </a:prstGeom>
          <a:solidFill>
            <a:srgbClr val="0D9488">
              <a:alpha val="15000"/>
            </a:srgbClr>
          </a:solidFill>
          <a:ln/>
        </p:spPr>
      </p:sp>
      <p:sp>
        <p:nvSpPr>
          <p:cNvPr id="25" name="Shape 23"/>
          <p:cNvSpPr/>
          <p:nvPr/>
        </p:nvSpPr>
        <p:spPr>
          <a:xfrm>
            <a:off x="1591056" y="621792"/>
            <a:ext cx="36576" cy="36576"/>
          </a:xfrm>
          <a:prstGeom prst="ellipse">
            <a:avLst/>
          </a:prstGeom>
          <a:solidFill>
            <a:srgbClr val="0D9488">
              <a:alpha val="15000"/>
            </a:srgbClr>
          </a:solidFill>
          <a:ln/>
        </p:spPr>
      </p:sp>
      <p:sp>
        <p:nvSpPr>
          <p:cNvPr id="26" name="Shape 24"/>
          <p:cNvSpPr/>
          <p:nvPr/>
        </p:nvSpPr>
        <p:spPr>
          <a:xfrm>
            <a:off x="2029968" y="621792"/>
            <a:ext cx="36576" cy="36576"/>
          </a:xfrm>
          <a:prstGeom prst="ellipse">
            <a:avLst/>
          </a:prstGeom>
          <a:solidFill>
            <a:srgbClr val="0D9488">
              <a:alpha val="15000"/>
            </a:srgbClr>
          </a:solidFill>
          <a:ln/>
        </p:spPr>
      </p:sp>
      <p:sp>
        <p:nvSpPr>
          <p:cNvPr id="27" name="Shape 25"/>
          <p:cNvSpPr/>
          <p:nvPr/>
        </p:nvSpPr>
        <p:spPr>
          <a:xfrm>
            <a:off x="2468880" y="621792"/>
            <a:ext cx="36576" cy="36576"/>
          </a:xfrm>
          <a:prstGeom prst="ellipse">
            <a:avLst/>
          </a:prstGeom>
          <a:solidFill>
            <a:srgbClr val="0D9488">
              <a:alpha val="15000"/>
            </a:srgbClr>
          </a:solidFill>
          <a:ln/>
        </p:spPr>
      </p:sp>
      <p:sp>
        <p:nvSpPr>
          <p:cNvPr id="28" name="Shape 26"/>
          <p:cNvSpPr/>
          <p:nvPr/>
        </p:nvSpPr>
        <p:spPr>
          <a:xfrm>
            <a:off x="2907792" y="621792"/>
            <a:ext cx="36576" cy="36576"/>
          </a:xfrm>
          <a:prstGeom prst="ellipse">
            <a:avLst/>
          </a:prstGeom>
          <a:solidFill>
            <a:srgbClr val="0D9488">
              <a:alpha val="15000"/>
            </a:srgbClr>
          </a:solidFill>
          <a:ln/>
        </p:spPr>
      </p:sp>
      <p:sp>
        <p:nvSpPr>
          <p:cNvPr id="29" name="Shape 27"/>
          <p:cNvSpPr/>
          <p:nvPr/>
        </p:nvSpPr>
        <p:spPr>
          <a:xfrm>
            <a:off x="3346704" y="621792"/>
            <a:ext cx="36576" cy="36576"/>
          </a:xfrm>
          <a:prstGeom prst="ellipse">
            <a:avLst/>
          </a:prstGeom>
          <a:solidFill>
            <a:srgbClr val="0D9488">
              <a:alpha val="15000"/>
            </a:srgbClr>
          </a:solidFill>
          <a:ln/>
        </p:spPr>
      </p:sp>
      <p:sp>
        <p:nvSpPr>
          <p:cNvPr id="30" name="Shape 28"/>
          <p:cNvSpPr/>
          <p:nvPr/>
        </p:nvSpPr>
        <p:spPr>
          <a:xfrm>
            <a:off x="3785616" y="621792"/>
            <a:ext cx="36576" cy="36576"/>
          </a:xfrm>
          <a:prstGeom prst="ellipse">
            <a:avLst/>
          </a:prstGeom>
          <a:solidFill>
            <a:srgbClr val="0D9488">
              <a:alpha val="15000"/>
            </a:srgbClr>
          </a:solidFill>
          <a:ln/>
        </p:spPr>
      </p:sp>
      <p:sp>
        <p:nvSpPr>
          <p:cNvPr id="31" name="Shape 29"/>
          <p:cNvSpPr/>
          <p:nvPr/>
        </p:nvSpPr>
        <p:spPr>
          <a:xfrm>
            <a:off x="4224528" y="621792"/>
            <a:ext cx="36576" cy="36576"/>
          </a:xfrm>
          <a:prstGeom prst="ellipse">
            <a:avLst/>
          </a:prstGeom>
          <a:solidFill>
            <a:srgbClr val="0D9488">
              <a:alpha val="15000"/>
            </a:srgbClr>
          </a:solidFill>
          <a:ln/>
        </p:spPr>
      </p:sp>
      <p:sp>
        <p:nvSpPr>
          <p:cNvPr id="32" name="Shape 30"/>
          <p:cNvSpPr/>
          <p:nvPr/>
        </p:nvSpPr>
        <p:spPr>
          <a:xfrm>
            <a:off x="4663440" y="621792"/>
            <a:ext cx="36576" cy="36576"/>
          </a:xfrm>
          <a:prstGeom prst="ellipse">
            <a:avLst/>
          </a:prstGeom>
          <a:solidFill>
            <a:srgbClr val="0D9488">
              <a:alpha val="15000"/>
            </a:srgbClr>
          </a:solidFill>
          <a:ln/>
        </p:spPr>
      </p:sp>
      <p:sp>
        <p:nvSpPr>
          <p:cNvPr id="33" name="Shape 31"/>
          <p:cNvSpPr/>
          <p:nvPr/>
        </p:nvSpPr>
        <p:spPr>
          <a:xfrm>
            <a:off x="5102352" y="621792"/>
            <a:ext cx="36576" cy="36576"/>
          </a:xfrm>
          <a:prstGeom prst="ellipse">
            <a:avLst/>
          </a:prstGeom>
          <a:solidFill>
            <a:srgbClr val="0D9488">
              <a:alpha val="15000"/>
            </a:srgbClr>
          </a:solidFill>
          <a:ln/>
        </p:spPr>
      </p:sp>
      <p:sp>
        <p:nvSpPr>
          <p:cNvPr id="34" name="Shape 32"/>
          <p:cNvSpPr/>
          <p:nvPr/>
        </p:nvSpPr>
        <p:spPr>
          <a:xfrm>
            <a:off x="5541264" y="621792"/>
            <a:ext cx="36576" cy="36576"/>
          </a:xfrm>
          <a:prstGeom prst="ellipse">
            <a:avLst/>
          </a:prstGeom>
          <a:solidFill>
            <a:srgbClr val="0D9488">
              <a:alpha val="15000"/>
            </a:srgbClr>
          </a:solidFill>
          <a:ln/>
        </p:spPr>
      </p:sp>
      <p:sp>
        <p:nvSpPr>
          <p:cNvPr id="35" name="Shape 33"/>
          <p:cNvSpPr/>
          <p:nvPr/>
        </p:nvSpPr>
        <p:spPr>
          <a:xfrm>
            <a:off x="5980176" y="621792"/>
            <a:ext cx="36576" cy="36576"/>
          </a:xfrm>
          <a:prstGeom prst="ellipse">
            <a:avLst/>
          </a:prstGeom>
          <a:solidFill>
            <a:srgbClr val="0D9488">
              <a:alpha val="15000"/>
            </a:srgbClr>
          </a:solidFill>
          <a:ln/>
        </p:spPr>
      </p:sp>
      <p:sp>
        <p:nvSpPr>
          <p:cNvPr id="36" name="Shape 34"/>
          <p:cNvSpPr/>
          <p:nvPr/>
        </p:nvSpPr>
        <p:spPr>
          <a:xfrm>
            <a:off x="6419088" y="621792"/>
            <a:ext cx="36576" cy="36576"/>
          </a:xfrm>
          <a:prstGeom prst="ellipse">
            <a:avLst/>
          </a:prstGeom>
          <a:solidFill>
            <a:srgbClr val="0D9488">
              <a:alpha val="15000"/>
            </a:srgbClr>
          </a:solidFill>
          <a:ln/>
        </p:spPr>
      </p:sp>
      <p:sp>
        <p:nvSpPr>
          <p:cNvPr id="37" name="Shape 35"/>
          <p:cNvSpPr/>
          <p:nvPr/>
        </p:nvSpPr>
        <p:spPr>
          <a:xfrm>
            <a:off x="6858000" y="621792"/>
            <a:ext cx="36576" cy="36576"/>
          </a:xfrm>
          <a:prstGeom prst="ellipse">
            <a:avLst/>
          </a:prstGeom>
          <a:solidFill>
            <a:srgbClr val="0D9488">
              <a:alpha val="15000"/>
            </a:srgbClr>
          </a:solidFill>
          <a:ln/>
        </p:spPr>
      </p:sp>
      <p:sp>
        <p:nvSpPr>
          <p:cNvPr id="38" name="Shape 36"/>
          <p:cNvSpPr/>
          <p:nvPr/>
        </p:nvSpPr>
        <p:spPr>
          <a:xfrm>
            <a:off x="7296912" y="621792"/>
            <a:ext cx="36576" cy="36576"/>
          </a:xfrm>
          <a:prstGeom prst="ellipse">
            <a:avLst/>
          </a:prstGeom>
          <a:solidFill>
            <a:srgbClr val="0D9488">
              <a:alpha val="15000"/>
            </a:srgbClr>
          </a:solidFill>
          <a:ln/>
        </p:spPr>
      </p:sp>
      <p:sp>
        <p:nvSpPr>
          <p:cNvPr id="39" name="Shape 37"/>
          <p:cNvSpPr/>
          <p:nvPr/>
        </p:nvSpPr>
        <p:spPr>
          <a:xfrm>
            <a:off x="7735824" y="621792"/>
            <a:ext cx="36576" cy="36576"/>
          </a:xfrm>
          <a:prstGeom prst="ellipse">
            <a:avLst/>
          </a:prstGeom>
          <a:solidFill>
            <a:srgbClr val="0D9488">
              <a:alpha val="15000"/>
            </a:srgbClr>
          </a:solidFill>
          <a:ln/>
        </p:spPr>
      </p:sp>
      <p:sp>
        <p:nvSpPr>
          <p:cNvPr id="40" name="Shape 38"/>
          <p:cNvSpPr/>
          <p:nvPr/>
        </p:nvSpPr>
        <p:spPr>
          <a:xfrm>
            <a:off x="8174736" y="621792"/>
            <a:ext cx="36576" cy="36576"/>
          </a:xfrm>
          <a:prstGeom prst="ellipse">
            <a:avLst/>
          </a:prstGeom>
          <a:solidFill>
            <a:srgbClr val="0D9488">
              <a:alpha val="15000"/>
            </a:srgbClr>
          </a:solidFill>
          <a:ln/>
        </p:spPr>
      </p:sp>
      <p:sp>
        <p:nvSpPr>
          <p:cNvPr id="41" name="Shape 39"/>
          <p:cNvSpPr/>
          <p:nvPr/>
        </p:nvSpPr>
        <p:spPr>
          <a:xfrm>
            <a:off x="8613648" y="621792"/>
            <a:ext cx="36576" cy="36576"/>
          </a:xfrm>
          <a:prstGeom prst="ellipse">
            <a:avLst/>
          </a:prstGeom>
          <a:solidFill>
            <a:srgbClr val="0D9488">
              <a:alpha val="15000"/>
            </a:srgbClr>
          </a:solidFill>
          <a:ln/>
        </p:spPr>
      </p:sp>
      <p:sp>
        <p:nvSpPr>
          <p:cNvPr id="42" name="Shape 40"/>
          <p:cNvSpPr/>
          <p:nvPr/>
        </p:nvSpPr>
        <p:spPr>
          <a:xfrm>
            <a:off x="274320" y="1060704"/>
            <a:ext cx="36576" cy="36576"/>
          </a:xfrm>
          <a:prstGeom prst="ellipse">
            <a:avLst/>
          </a:prstGeom>
          <a:solidFill>
            <a:srgbClr val="0D9488">
              <a:alpha val="15000"/>
            </a:srgbClr>
          </a:solidFill>
          <a:ln/>
        </p:spPr>
      </p:sp>
      <p:sp>
        <p:nvSpPr>
          <p:cNvPr id="43" name="Shape 41"/>
          <p:cNvSpPr/>
          <p:nvPr/>
        </p:nvSpPr>
        <p:spPr>
          <a:xfrm>
            <a:off x="713232" y="1060704"/>
            <a:ext cx="36576" cy="36576"/>
          </a:xfrm>
          <a:prstGeom prst="ellipse">
            <a:avLst/>
          </a:prstGeom>
          <a:solidFill>
            <a:srgbClr val="0D9488">
              <a:alpha val="15000"/>
            </a:srgbClr>
          </a:solidFill>
          <a:ln/>
        </p:spPr>
      </p:sp>
      <p:sp>
        <p:nvSpPr>
          <p:cNvPr id="44" name="Shape 42"/>
          <p:cNvSpPr/>
          <p:nvPr/>
        </p:nvSpPr>
        <p:spPr>
          <a:xfrm>
            <a:off x="1152144" y="1060704"/>
            <a:ext cx="36576" cy="36576"/>
          </a:xfrm>
          <a:prstGeom prst="ellipse">
            <a:avLst/>
          </a:prstGeom>
          <a:solidFill>
            <a:srgbClr val="0D9488">
              <a:alpha val="15000"/>
            </a:srgbClr>
          </a:solidFill>
          <a:ln/>
        </p:spPr>
      </p:sp>
      <p:sp>
        <p:nvSpPr>
          <p:cNvPr id="45" name="Shape 43"/>
          <p:cNvSpPr/>
          <p:nvPr/>
        </p:nvSpPr>
        <p:spPr>
          <a:xfrm>
            <a:off x="1591056" y="1060704"/>
            <a:ext cx="36576" cy="36576"/>
          </a:xfrm>
          <a:prstGeom prst="ellipse">
            <a:avLst/>
          </a:prstGeom>
          <a:solidFill>
            <a:srgbClr val="0D9488">
              <a:alpha val="15000"/>
            </a:srgbClr>
          </a:solidFill>
          <a:ln/>
        </p:spPr>
      </p:sp>
      <p:sp>
        <p:nvSpPr>
          <p:cNvPr id="46" name="Shape 44"/>
          <p:cNvSpPr/>
          <p:nvPr/>
        </p:nvSpPr>
        <p:spPr>
          <a:xfrm>
            <a:off x="2029968" y="1060704"/>
            <a:ext cx="36576" cy="36576"/>
          </a:xfrm>
          <a:prstGeom prst="ellipse">
            <a:avLst/>
          </a:prstGeom>
          <a:solidFill>
            <a:srgbClr val="0D9488">
              <a:alpha val="15000"/>
            </a:srgbClr>
          </a:solidFill>
          <a:ln/>
        </p:spPr>
      </p:sp>
      <p:sp>
        <p:nvSpPr>
          <p:cNvPr id="47" name="Shape 45"/>
          <p:cNvSpPr/>
          <p:nvPr/>
        </p:nvSpPr>
        <p:spPr>
          <a:xfrm>
            <a:off x="2468880" y="1060704"/>
            <a:ext cx="36576" cy="36576"/>
          </a:xfrm>
          <a:prstGeom prst="ellipse">
            <a:avLst/>
          </a:prstGeom>
          <a:solidFill>
            <a:srgbClr val="0D9488">
              <a:alpha val="15000"/>
            </a:srgbClr>
          </a:solidFill>
          <a:ln/>
        </p:spPr>
      </p:sp>
      <p:sp>
        <p:nvSpPr>
          <p:cNvPr id="48" name="Shape 46"/>
          <p:cNvSpPr/>
          <p:nvPr/>
        </p:nvSpPr>
        <p:spPr>
          <a:xfrm>
            <a:off x="2907792" y="1060704"/>
            <a:ext cx="36576" cy="36576"/>
          </a:xfrm>
          <a:prstGeom prst="ellipse">
            <a:avLst/>
          </a:prstGeom>
          <a:solidFill>
            <a:srgbClr val="0D9488">
              <a:alpha val="15000"/>
            </a:srgbClr>
          </a:solidFill>
          <a:ln/>
        </p:spPr>
      </p:sp>
      <p:sp>
        <p:nvSpPr>
          <p:cNvPr id="49" name="Shape 47"/>
          <p:cNvSpPr/>
          <p:nvPr/>
        </p:nvSpPr>
        <p:spPr>
          <a:xfrm>
            <a:off x="3346704" y="1060704"/>
            <a:ext cx="36576" cy="36576"/>
          </a:xfrm>
          <a:prstGeom prst="ellipse">
            <a:avLst/>
          </a:prstGeom>
          <a:solidFill>
            <a:srgbClr val="0D9488">
              <a:alpha val="15000"/>
            </a:srgbClr>
          </a:solidFill>
          <a:ln/>
        </p:spPr>
      </p:sp>
      <p:sp>
        <p:nvSpPr>
          <p:cNvPr id="50" name="Shape 48"/>
          <p:cNvSpPr/>
          <p:nvPr/>
        </p:nvSpPr>
        <p:spPr>
          <a:xfrm>
            <a:off x="3785616" y="1060704"/>
            <a:ext cx="36576" cy="36576"/>
          </a:xfrm>
          <a:prstGeom prst="ellipse">
            <a:avLst/>
          </a:prstGeom>
          <a:solidFill>
            <a:srgbClr val="0D9488">
              <a:alpha val="15000"/>
            </a:srgbClr>
          </a:solidFill>
          <a:ln/>
        </p:spPr>
      </p:sp>
      <p:sp>
        <p:nvSpPr>
          <p:cNvPr id="51" name="Shape 49"/>
          <p:cNvSpPr/>
          <p:nvPr/>
        </p:nvSpPr>
        <p:spPr>
          <a:xfrm>
            <a:off x="4224528" y="1060704"/>
            <a:ext cx="36576" cy="36576"/>
          </a:xfrm>
          <a:prstGeom prst="ellipse">
            <a:avLst/>
          </a:prstGeom>
          <a:solidFill>
            <a:srgbClr val="0D9488">
              <a:alpha val="15000"/>
            </a:srgbClr>
          </a:solidFill>
          <a:ln/>
        </p:spPr>
      </p:sp>
      <p:sp>
        <p:nvSpPr>
          <p:cNvPr id="52" name="Shape 50"/>
          <p:cNvSpPr/>
          <p:nvPr/>
        </p:nvSpPr>
        <p:spPr>
          <a:xfrm>
            <a:off x="4663440" y="1060704"/>
            <a:ext cx="36576" cy="36576"/>
          </a:xfrm>
          <a:prstGeom prst="ellipse">
            <a:avLst/>
          </a:prstGeom>
          <a:solidFill>
            <a:srgbClr val="0D9488">
              <a:alpha val="15000"/>
            </a:srgbClr>
          </a:solidFill>
          <a:ln/>
        </p:spPr>
      </p:sp>
      <p:sp>
        <p:nvSpPr>
          <p:cNvPr id="53" name="Shape 51"/>
          <p:cNvSpPr/>
          <p:nvPr/>
        </p:nvSpPr>
        <p:spPr>
          <a:xfrm>
            <a:off x="5102352" y="1060704"/>
            <a:ext cx="36576" cy="36576"/>
          </a:xfrm>
          <a:prstGeom prst="ellipse">
            <a:avLst/>
          </a:prstGeom>
          <a:solidFill>
            <a:srgbClr val="0D9488">
              <a:alpha val="15000"/>
            </a:srgbClr>
          </a:solidFill>
          <a:ln/>
        </p:spPr>
      </p:sp>
      <p:sp>
        <p:nvSpPr>
          <p:cNvPr id="54" name="Shape 52"/>
          <p:cNvSpPr/>
          <p:nvPr/>
        </p:nvSpPr>
        <p:spPr>
          <a:xfrm>
            <a:off x="5541264" y="1060704"/>
            <a:ext cx="36576" cy="36576"/>
          </a:xfrm>
          <a:prstGeom prst="ellipse">
            <a:avLst/>
          </a:prstGeom>
          <a:solidFill>
            <a:srgbClr val="0D9488">
              <a:alpha val="15000"/>
            </a:srgbClr>
          </a:solidFill>
          <a:ln/>
        </p:spPr>
      </p:sp>
      <p:sp>
        <p:nvSpPr>
          <p:cNvPr id="55" name="Shape 53"/>
          <p:cNvSpPr/>
          <p:nvPr/>
        </p:nvSpPr>
        <p:spPr>
          <a:xfrm>
            <a:off x="5980176" y="1060704"/>
            <a:ext cx="36576" cy="36576"/>
          </a:xfrm>
          <a:prstGeom prst="ellipse">
            <a:avLst/>
          </a:prstGeom>
          <a:solidFill>
            <a:srgbClr val="0D9488">
              <a:alpha val="15000"/>
            </a:srgbClr>
          </a:solidFill>
          <a:ln/>
        </p:spPr>
      </p:sp>
      <p:sp>
        <p:nvSpPr>
          <p:cNvPr id="56" name="Shape 54"/>
          <p:cNvSpPr/>
          <p:nvPr/>
        </p:nvSpPr>
        <p:spPr>
          <a:xfrm>
            <a:off x="6419088" y="1060704"/>
            <a:ext cx="36576" cy="36576"/>
          </a:xfrm>
          <a:prstGeom prst="ellipse">
            <a:avLst/>
          </a:prstGeom>
          <a:solidFill>
            <a:srgbClr val="0D9488">
              <a:alpha val="15000"/>
            </a:srgbClr>
          </a:solidFill>
          <a:ln/>
        </p:spPr>
      </p:sp>
      <p:sp>
        <p:nvSpPr>
          <p:cNvPr id="57" name="Shape 55"/>
          <p:cNvSpPr/>
          <p:nvPr/>
        </p:nvSpPr>
        <p:spPr>
          <a:xfrm>
            <a:off x="6858000" y="1060704"/>
            <a:ext cx="36576" cy="36576"/>
          </a:xfrm>
          <a:prstGeom prst="ellipse">
            <a:avLst/>
          </a:prstGeom>
          <a:solidFill>
            <a:srgbClr val="0D9488">
              <a:alpha val="15000"/>
            </a:srgbClr>
          </a:solidFill>
          <a:ln/>
        </p:spPr>
      </p:sp>
      <p:sp>
        <p:nvSpPr>
          <p:cNvPr id="58" name="Shape 56"/>
          <p:cNvSpPr/>
          <p:nvPr/>
        </p:nvSpPr>
        <p:spPr>
          <a:xfrm>
            <a:off x="7296912" y="1060704"/>
            <a:ext cx="36576" cy="36576"/>
          </a:xfrm>
          <a:prstGeom prst="ellipse">
            <a:avLst/>
          </a:prstGeom>
          <a:solidFill>
            <a:srgbClr val="0D9488">
              <a:alpha val="15000"/>
            </a:srgbClr>
          </a:solidFill>
          <a:ln/>
        </p:spPr>
      </p:sp>
      <p:sp>
        <p:nvSpPr>
          <p:cNvPr id="59" name="Shape 57"/>
          <p:cNvSpPr/>
          <p:nvPr/>
        </p:nvSpPr>
        <p:spPr>
          <a:xfrm>
            <a:off x="7735824" y="1060704"/>
            <a:ext cx="36576" cy="36576"/>
          </a:xfrm>
          <a:prstGeom prst="ellipse">
            <a:avLst/>
          </a:prstGeom>
          <a:solidFill>
            <a:srgbClr val="0D9488">
              <a:alpha val="15000"/>
            </a:srgbClr>
          </a:solidFill>
          <a:ln/>
        </p:spPr>
      </p:sp>
      <p:sp>
        <p:nvSpPr>
          <p:cNvPr id="60" name="Shape 58"/>
          <p:cNvSpPr/>
          <p:nvPr/>
        </p:nvSpPr>
        <p:spPr>
          <a:xfrm>
            <a:off x="8174736" y="1060704"/>
            <a:ext cx="36576" cy="36576"/>
          </a:xfrm>
          <a:prstGeom prst="ellipse">
            <a:avLst/>
          </a:prstGeom>
          <a:solidFill>
            <a:srgbClr val="0D9488">
              <a:alpha val="15000"/>
            </a:srgbClr>
          </a:solidFill>
          <a:ln/>
        </p:spPr>
      </p:sp>
      <p:sp>
        <p:nvSpPr>
          <p:cNvPr id="61" name="Shape 59"/>
          <p:cNvSpPr/>
          <p:nvPr/>
        </p:nvSpPr>
        <p:spPr>
          <a:xfrm>
            <a:off x="8613648" y="1060704"/>
            <a:ext cx="36576" cy="36576"/>
          </a:xfrm>
          <a:prstGeom prst="ellipse">
            <a:avLst/>
          </a:prstGeom>
          <a:solidFill>
            <a:srgbClr val="0D9488">
              <a:alpha val="15000"/>
            </a:srgbClr>
          </a:solidFill>
          <a:ln/>
        </p:spPr>
      </p:sp>
      <p:sp>
        <p:nvSpPr>
          <p:cNvPr id="62" name="Shape 60"/>
          <p:cNvSpPr/>
          <p:nvPr/>
        </p:nvSpPr>
        <p:spPr>
          <a:xfrm>
            <a:off x="274320" y="1499616"/>
            <a:ext cx="36576" cy="36576"/>
          </a:xfrm>
          <a:prstGeom prst="ellipse">
            <a:avLst/>
          </a:prstGeom>
          <a:solidFill>
            <a:srgbClr val="0D9488">
              <a:alpha val="15000"/>
            </a:srgbClr>
          </a:solidFill>
          <a:ln/>
        </p:spPr>
      </p:sp>
      <p:sp>
        <p:nvSpPr>
          <p:cNvPr id="63" name="Shape 61"/>
          <p:cNvSpPr/>
          <p:nvPr/>
        </p:nvSpPr>
        <p:spPr>
          <a:xfrm>
            <a:off x="713232" y="1499616"/>
            <a:ext cx="36576" cy="36576"/>
          </a:xfrm>
          <a:prstGeom prst="ellipse">
            <a:avLst/>
          </a:prstGeom>
          <a:solidFill>
            <a:srgbClr val="0D9488">
              <a:alpha val="15000"/>
            </a:srgbClr>
          </a:solidFill>
          <a:ln/>
        </p:spPr>
      </p:sp>
      <p:sp>
        <p:nvSpPr>
          <p:cNvPr id="64" name="Shape 62"/>
          <p:cNvSpPr/>
          <p:nvPr/>
        </p:nvSpPr>
        <p:spPr>
          <a:xfrm>
            <a:off x="1152144" y="1499616"/>
            <a:ext cx="36576" cy="36576"/>
          </a:xfrm>
          <a:prstGeom prst="ellipse">
            <a:avLst/>
          </a:prstGeom>
          <a:solidFill>
            <a:srgbClr val="0D9488">
              <a:alpha val="15000"/>
            </a:srgbClr>
          </a:solidFill>
          <a:ln/>
        </p:spPr>
      </p:sp>
      <p:sp>
        <p:nvSpPr>
          <p:cNvPr id="65" name="Shape 63"/>
          <p:cNvSpPr/>
          <p:nvPr/>
        </p:nvSpPr>
        <p:spPr>
          <a:xfrm>
            <a:off x="1591056" y="1499616"/>
            <a:ext cx="36576" cy="36576"/>
          </a:xfrm>
          <a:prstGeom prst="ellipse">
            <a:avLst/>
          </a:prstGeom>
          <a:solidFill>
            <a:srgbClr val="0D9488">
              <a:alpha val="15000"/>
            </a:srgbClr>
          </a:solidFill>
          <a:ln/>
        </p:spPr>
      </p:sp>
      <p:sp>
        <p:nvSpPr>
          <p:cNvPr id="66" name="Shape 64"/>
          <p:cNvSpPr/>
          <p:nvPr/>
        </p:nvSpPr>
        <p:spPr>
          <a:xfrm>
            <a:off x="2029968" y="1499616"/>
            <a:ext cx="36576" cy="36576"/>
          </a:xfrm>
          <a:prstGeom prst="ellipse">
            <a:avLst/>
          </a:prstGeom>
          <a:solidFill>
            <a:srgbClr val="0D9488">
              <a:alpha val="15000"/>
            </a:srgbClr>
          </a:solidFill>
          <a:ln/>
        </p:spPr>
      </p:sp>
      <p:sp>
        <p:nvSpPr>
          <p:cNvPr id="67" name="Shape 65"/>
          <p:cNvSpPr/>
          <p:nvPr/>
        </p:nvSpPr>
        <p:spPr>
          <a:xfrm>
            <a:off x="2468880" y="1499616"/>
            <a:ext cx="36576" cy="36576"/>
          </a:xfrm>
          <a:prstGeom prst="ellipse">
            <a:avLst/>
          </a:prstGeom>
          <a:solidFill>
            <a:srgbClr val="0D9488">
              <a:alpha val="15000"/>
            </a:srgbClr>
          </a:solidFill>
          <a:ln/>
        </p:spPr>
      </p:sp>
      <p:sp>
        <p:nvSpPr>
          <p:cNvPr id="68" name="Shape 66"/>
          <p:cNvSpPr/>
          <p:nvPr/>
        </p:nvSpPr>
        <p:spPr>
          <a:xfrm>
            <a:off x="2907792" y="1499616"/>
            <a:ext cx="36576" cy="36576"/>
          </a:xfrm>
          <a:prstGeom prst="ellipse">
            <a:avLst/>
          </a:prstGeom>
          <a:solidFill>
            <a:srgbClr val="0D9488">
              <a:alpha val="15000"/>
            </a:srgbClr>
          </a:solidFill>
          <a:ln/>
        </p:spPr>
      </p:sp>
      <p:sp>
        <p:nvSpPr>
          <p:cNvPr id="69" name="Shape 67"/>
          <p:cNvSpPr/>
          <p:nvPr/>
        </p:nvSpPr>
        <p:spPr>
          <a:xfrm>
            <a:off x="3346704" y="1499616"/>
            <a:ext cx="36576" cy="36576"/>
          </a:xfrm>
          <a:prstGeom prst="ellipse">
            <a:avLst/>
          </a:prstGeom>
          <a:solidFill>
            <a:srgbClr val="0D9488">
              <a:alpha val="15000"/>
            </a:srgbClr>
          </a:solidFill>
          <a:ln/>
        </p:spPr>
      </p:sp>
      <p:sp>
        <p:nvSpPr>
          <p:cNvPr id="70" name="Shape 68"/>
          <p:cNvSpPr/>
          <p:nvPr/>
        </p:nvSpPr>
        <p:spPr>
          <a:xfrm>
            <a:off x="3785616" y="1499616"/>
            <a:ext cx="36576" cy="36576"/>
          </a:xfrm>
          <a:prstGeom prst="ellipse">
            <a:avLst/>
          </a:prstGeom>
          <a:solidFill>
            <a:srgbClr val="0D9488">
              <a:alpha val="15000"/>
            </a:srgbClr>
          </a:solidFill>
          <a:ln/>
        </p:spPr>
      </p:sp>
      <p:sp>
        <p:nvSpPr>
          <p:cNvPr id="71" name="Shape 69"/>
          <p:cNvSpPr/>
          <p:nvPr/>
        </p:nvSpPr>
        <p:spPr>
          <a:xfrm>
            <a:off x="4224528" y="1499616"/>
            <a:ext cx="36576" cy="36576"/>
          </a:xfrm>
          <a:prstGeom prst="ellipse">
            <a:avLst/>
          </a:prstGeom>
          <a:solidFill>
            <a:srgbClr val="0D9488">
              <a:alpha val="15000"/>
            </a:srgbClr>
          </a:solidFill>
          <a:ln/>
        </p:spPr>
      </p:sp>
      <p:sp>
        <p:nvSpPr>
          <p:cNvPr id="72" name="Shape 70"/>
          <p:cNvSpPr/>
          <p:nvPr/>
        </p:nvSpPr>
        <p:spPr>
          <a:xfrm>
            <a:off x="4663440" y="1499616"/>
            <a:ext cx="36576" cy="36576"/>
          </a:xfrm>
          <a:prstGeom prst="ellipse">
            <a:avLst/>
          </a:prstGeom>
          <a:solidFill>
            <a:srgbClr val="0D9488">
              <a:alpha val="15000"/>
            </a:srgbClr>
          </a:solidFill>
          <a:ln/>
        </p:spPr>
      </p:sp>
      <p:sp>
        <p:nvSpPr>
          <p:cNvPr id="73" name="Shape 71"/>
          <p:cNvSpPr/>
          <p:nvPr/>
        </p:nvSpPr>
        <p:spPr>
          <a:xfrm>
            <a:off x="5102352" y="1499616"/>
            <a:ext cx="36576" cy="36576"/>
          </a:xfrm>
          <a:prstGeom prst="ellipse">
            <a:avLst/>
          </a:prstGeom>
          <a:solidFill>
            <a:srgbClr val="0D9488">
              <a:alpha val="15000"/>
            </a:srgbClr>
          </a:solidFill>
          <a:ln/>
        </p:spPr>
      </p:sp>
      <p:sp>
        <p:nvSpPr>
          <p:cNvPr id="74" name="Shape 72"/>
          <p:cNvSpPr/>
          <p:nvPr/>
        </p:nvSpPr>
        <p:spPr>
          <a:xfrm>
            <a:off x="5541264" y="1499616"/>
            <a:ext cx="36576" cy="36576"/>
          </a:xfrm>
          <a:prstGeom prst="ellipse">
            <a:avLst/>
          </a:prstGeom>
          <a:solidFill>
            <a:srgbClr val="0D9488">
              <a:alpha val="15000"/>
            </a:srgbClr>
          </a:solidFill>
          <a:ln/>
        </p:spPr>
      </p:sp>
      <p:sp>
        <p:nvSpPr>
          <p:cNvPr id="75" name="Shape 73"/>
          <p:cNvSpPr/>
          <p:nvPr/>
        </p:nvSpPr>
        <p:spPr>
          <a:xfrm>
            <a:off x="5980176" y="1499616"/>
            <a:ext cx="36576" cy="36576"/>
          </a:xfrm>
          <a:prstGeom prst="ellipse">
            <a:avLst/>
          </a:prstGeom>
          <a:solidFill>
            <a:srgbClr val="0D9488">
              <a:alpha val="15000"/>
            </a:srgbClr>
          </a:solidFill>
          <a:ln/>
        </p:spPr>
      </p:sp>
      <p:sp>
        <p:nvSpPr>
          <p:cNvPr id="76" name="Shape 74"/>
          <p:cNvSpPr/>
          <p:nvPr/>
        </p:nvSpPr>
        <p:spPr>
          <a:xfrm>
            <a:off x="6419088" y="1499616"/>
            <a:ext cx="36576" cy="36576"/>
          </a:xfrm>
          <a:prstGeom prst="ellipse">
            <a:avLst/>
          </a:prstGeom>
          <a:solidFill>
            <a:srgbClr val="0D9488">
              <a:alpha val="15000"/>
            </a:srgbClr>
          </a:solidFill>
          <a:ln/>
        </p:spPr>
      </p:sp>
      <p:sp>
        <p:nvSpPr>
          <p:cNvPr id="77" name="Shape 75"/>
          <p:cNvSpPr/>
          <p:nvPr/>
        </p:nvSpPr>
        <p:spPr>
          <a:xfrm>
            <a:off x="6858000" y="1499616"/>
            <a:ext cx="36576" cy="36576"/>
          </a:xfrm>
          <a:prstGeom prst="ellipse">
            <a:avLst/>
          </a:prstGeom>
          <a:solidFill>
            <a:srgbClr val="0D9488">
              <a:alpha val="15000"/>
            </a:srgbClr>
          </a:solidFill>
          <a:ln/>
        </p:spPr>
      </p:sp>
      <p:sp>
        <p:nvSpPr>
          <p:cNvPr id="78" name="Shape 76"/>
          <p:cNvSpPr/>
          <p:nvPr/>
        </p:nvSpPr>
        <p:spPr>
          <a:xfrm>
            <a:off x="7296912" y="1499616"/>
            <a:ext cx="36576" cy="36576"/>
          </a:xfrm>
          <a:prstGeom prst="ellipse">
            <a:avLst/>
          </a:prstGeom>
          <a:solidFill>
            <a:srgbClr val="0D9488">
              <a:alpha val="15000"/>
            </a:srgbClr>
          </a:solidFill>
          <a:ln/>
        </p:spPr>
      </p:sp>
      <p:sp>
        <p:nvSpPr>
          <p:cNvPr id="79" name="Shape 77"/>
          <p:cNvSpPr/>
          <p:nvPr/>
        </p:nvSpPr>
        <p:spPr>
          <a:xfrm>
            <a:off x="7735824" y="1499616"/>
            <a:ext cx="36576" cy="36576"/>
          </a:xfrm>
          <a:prstGeom prst="ellipse">
            <a:avLst/>
          </a:prstGeom>
          <a:solidFill>
            <a:srgbClr val="0D9488">
              <a:alpha val="15000"/>
            </a:srgbClr>
          </a:solidFill>
          <a:ln/>
        </p:spPr>
      </p:sp>
      <p:sp>
        <p:nvSpPr>
          <p:cNvPr id="80" name="Shape 78"/>
          <p:cNvSpPr/>
          <p:nvPr/>
        </p:nvSpPr>
        <p:spPr>
          <a:xfrm>
            <a:off x="8174736" y="1499616"/>
            <a:ext cx="36576" cy="36576"/>
          </a:xfrm>
          <a:prstGeom prst="ellipse">
            <a:avLst/>
          </a:prstGeom>
          <a:solidFill>
            <a:srgbClr val="0D9488">
              <a:alpha val="15000"/>
            </a:srgbClr>
          </a:solidFill>
          <a:ln/>
        </p:spPr>
      </p:sp>
      <p:sp>
        <p:nvSpPr>
          <p:cNvPr id="81" name="Shape 79"/>
          <p:cNvSpPr/>
          <p:nvPr/>
        </p:nvSpPr>
        <p:spPr>
          <a:xfrm>
            <a:off x="8613648" y="1499616"/>
            <a:ext cx="36576" cy="36576"/>
          </a:xfrm>
          <a:prstGeom prst="ellipse">
            <a:avLst/>
          </a:prstGeom>
          <a:solidFill>
            <a:srgbClr val="0D9488">
              <a:alpha val="15000"/>
            </a:srgbClr>
          </a:solidFill>
          <a:ln/>
        </p:spPr>
      </p:sp>
      <p:sp>
        <p:nvSpPr>
          <p:cNvPr id="82" name="Shape 80"/>
          <p:cNvSpPr/>
          <p:nvPr/>
        </p:nvSpPr>
        <p:spPr>
          <a:xfrm>
            <a:off x="274320" y="1938528"/>
            <a:ext cx="36576" cy="36576"/>
          </a:xfrm>
          <a:prstGeom prst="ellipse">
            <a:avLst/>
          </a:prstGeom>
          <a:solidFill>
            <a:srgbClr val="0D9488">
              <a:alpha val="15000"/>
            </a:srgbClr>
          </a:solidFill>
          <a:ln/>
        </p:spPr>
      </p:sp>
      <p:sp>
        <p:nvSpPr>
          <p:cNvPr id="83" name="Shape 81"/>
          <p:cNvSpPr/>
          <p:nvPr/>
        </p:nvSpPr>
        <p:spPr>
          <a:xfrm>
            <a:off x="713232" y="1938528"/>
            <a:ext cx="36576" cy="36576"/>
          </a:xfrm>
          <a:prstGeom prst="ellipse">
            <a:avLst/>
          </a:prstGeom>
          <a:solidFill>
            <a:srgbClr val="0D9488">
              <a:alpha val="15000"/>
            </a:srgbClr>
          </a:solidFill>
          <a:ln/>
        </p:spPr>
      </p:sp>
      <p:sp>
        <p:nvSpPr>
          <p:cNvPr id="84" name="Shape 82"/>
          <p:cNvSpPr/>
          <p:nvPr/>
        </p:nvSpPr>
        <p:spPr>
          <a:xfrm>
            <a:off x="1152144" y="1938528"/>
            <a:ext cx="36576" cy="36576"/>
          </a:xfrm>
          <a:prstGeom prst="ellipse">
            <a:avLst/>
          </a:prstGeom>
          <a:solidFill>
            <a:srgbClr val="0D9488">
              <a:alpha val="15000"/>
            </a:srgbClr>
          </a:solidFill>
          <a:ln/>
        </p:spPr>
      </p:sp>
      <p:sp>
        <p:nvSpPr>
          <p:cNvPr id="85" name="Shape 83"/>
          <p:cNvSpPr/>
          <p:nvPr/>
        </p:nvSpPr>
        <p:spPr>
          <a:xfrm>
            <a:off x="1591056" y="1938528"/>
            <a:ext cx="36576" cy="36576"/>
          </a:xfrm>
          <a:prstGeom prst="ellipse">
            <a:avLst/>
          </a:prstGeom>
          <a:solidFill>
            <a:srgbClr val="0D9488">
              <a:alpha val="15000"/>
            </a:srgbClr>
          </a:solidFill>
          <a:ln/>
        </p:spPr>
      </p:sp>
      <p:sp>
        <p:nvSpPr>
          <p:cNvPr id="86" name="Shape 84"/>
          <p:cNvSpPr/>
          <p:nvPr/>
        </p:nvSpPr>
        <p:spPr>
          <a:xfrm>
            <a:off x="2029968" y="1938528"/>
            <a:ext cx="36576" cy="36576"/>
          </a:xfrm>
          <a:prstGeom prst="ellipse">
            <a:avLst/>
          </a:prstGeom>
          <a:solidFill>
            <a:srgbClr val="0D9488">
              <a:alpha val="15000"/>
            </a:srgbClr>
          </a:solidFill>
          <a:ln/>
        </p:spPr>
      </p:sp>
      <p:sp>
        <p:nvSpPr>
          <p:cNvPr id="87" name="Shape 85"/>
          <p:cNvSpPr/>
          <p:nvPr/>
        </p:nvSpPr>
        <p:spPr>
          <a:xfrm>
            <a:off x="2468880" y="1938528"/>
            <a:ext cx="36576" cy="36576"/>
          </a:xfrm>
          <a:prstGeom prst="ellipse">
            <a:avLst/>
          </a:prstGeom>
          <a:solidFill>
            <a:srgbClr val="0D9488">
              <a:alpha val="15000"/>
            </a:srgbClr>
          </a:solidFill>
          <a:ln/>
        </p:spPr>
      </p:sp>
      <p:sp>
        <p:nvSpPr>
          <p:cNvPr id="88" name="Shape 86"/>
          <p:cNvSpPr/>
          <p:nvPr/>
        </p:nvSpPr>
        <p:spPr>
          <a:xfrm>
            <a:off x="2907792" y="1938528"/>
            <a:ext cx="36576" cy="36576"/>
          </a:xfrm>
          <a:prstGeom prst="ellipse">
            <a:avLst/>
          </a:prstGeom>
          <a:solidFill>
            <a:srgbClr val="0D9488">
              <a:alpha val="15000"/>
            </a:srgbClr>
          </a:solidFill>
          <a:ln/>
        </p:spPr>
      </p:sp>
      <p:sp>
        <p:nvSpPr>
          <p:cNvPr id="89" name="Shape 87"/>
          <p:cNvSpPr/>
          <p:nvPr/>
        </p:nvSpPr>
        <p:spPr>
          <a:xfrm>
            <a:off x="3346704" y="1938528"/>
            <a:ext cx="36576" cy="36576"/>
          </a:xfrm>
          <a:prstGeom prst="ellipse">
            <a:avLst/>
          </a:prstGeom>
          <a:solidFill>
            <a:srgbClr val="0D9488">
              <a:alpha val="15000"/>
            </a:srgbClr>
          </a:solidFill>
          <a:ln/>
        </p:spPr>
      </p:sp>
      <p:sp>
        <p:nvSpPr>
          <p:cNvPr id="90" name="Shape 88"/>
          <p:cNvSpPr/>
          <p:nvPr/>
        </p:nvSpPr>
        <p:spPr>
          <a:xfrm>
            <a:off x="3785616" y="1938528"/>
            <a:ext cx="36576" cy="36576"/>
          </a:xfrm>
          <a:prstGeom prst="ellipse">
            <a:avLst/>
          </a:prstGeom>
          <a:solidFill>
            <a:srgbClr val="0D9488">
              <a:alpha val="15000"/>
            </a:srgbClr>
          </a:solidFill>
          <a:ln/>
        </p:spPr>
      </p:sp>
      <p:sp>
        <p:nvSpPr>
          <p:cNvPr id="91" name="Shape 89"/>
          <p:cNvSpPr/>
          <p:nvPr/>
        </p:nvSpPr>
        <p:spPr>
          <a:xfrm>
            <a:off x="4224528" y="1938528"/>
            <a:ext cx="36576" cy="36576"/>
          </a:xfrm>
          <a:prstGeom prst="ellipse">
            <a:avLst/>
          </a:prstGeom>
          <a:solidFill>
            <a:srgbClr val="0D9488">
              <a:alpha val="15000"/>
            </a:srgbClr>
          </a:solidFill>
          <a:ln/>
        </p:spPr>
      </p:sp>
      <p:sp>
        <p:nvSpPr>
          <p:cNvPr id="92" name="Shape 90"/>
          <p:cNvSpPr/>
          <p:nvPr/>
        </p:nvSpPr>
        <p:spPr>
          <a:xfrm>
            <a:off x="4663440" y="1938528"/>
            <a:ext cx="36576" cy="36576"/>
          </a:xfrm>
          <a:prstGeom prst="ellipse">
            <a:avLst/>
          </a:prstGeom>
          <a:solidFill>
            <a:srgbClr val="0D9488">
              <a:alpha val="15000"/>
            </a:srgbClr>
          </a:solidFill>
          <a:ln/>
        </p:spPr>
      </p:sp>
      <p:sp>
        <p:nvSpPr>
          <p:cNvPr id="93" name="Shape 91"/>
          <p:cNvSpPr/>
          <p:nvPr/>
        </p:nvSpPr>
        <p:spPr>
          <a:xfrm>
            <a:off x="5102352" y="1938528"/>
            <a:ext cx="36576" cy="36576"/>
          </a:xfrm>
          <a:prstGeom prst="ellipse">
            <a:avLst/>
          </a:prstGeom>
          <a:solidFill>
            <a:srgbClr val="0D9488">
              <a:alpha val="15000"/>
            </a:srgbClr>
          </a:solidFill>
          <a:ln/>
        </p:spPr>
      </p:sp>
      <p:sp>
        <p:nvSpPr>
          <p:cNvPr id="94" name="Shape 92"/>
          <p:cNvSpPr/>
          <p:nvPr/>
        </p:nvSpPr>
        <p:spPr>
          <a:xfrm>
            <a:off x="5541264" y="1938528"/>
            <a:ext cx="36576" cy="36576"/>
          </a:xfrm>
          <a:prstGeom prst="ellipse">
            <a:avLst/>
          </a:prstGeom>
          <a:solidFill>
            <a:srgbClr val="0D9488">
              <a:alpha val="15000"/>
            </a:srgbClr>
          </a:solidFill>
          <a:ln/>
        </p:spPr>
      </p:sp>
      <p:sp>
        <p:nvSpPr>
          <p:cNvPr id="95" name="Shape 93"/>
          <p:cNvSpPr/>
          <p:nvPr/>
        </p:nvSpPr>
        <p:spPr>
          <a:xfrm>
            <a:off x="5980176" y="1938528"/>
            <a:ext cx="36576" cy="36576"/>
          </a:xfrm>
          <a:prstGeom prst="ellipse">
            <a:avLst/>
          </a:prstGeom>
          <a:solidFill>
            <a:srgbClr val="0D9488">
              <a:alpha val="15000"/>
            </a:srgbClr>
          </a:solidFill>
          <a:ln/>
        </p:spPr>
      </p:sp>
      <p:sp>
        <p:nvSpPr>
          <p:cNvPr id="96" name="Shape 94"/>
          <p:cNvSpPr/>
          <p:nvPr/>
        </p:nvSpPr>
        <p:spPr>
          <a:xfrm>
            <a:off x="6419088" y="1938528"/>
            <a:ext cx="36576" cy="36576"/>
          </a:xfrm>
          <a:prstGeom prst="ellipse">
            <a:avLst/>
          </a:prstGeom>
          <a:solidFill>
            <a:srgbClr val="0D9488">
              <a:alpha val="15000"/>
            </a:srgbClr>
          </a:solidFill>
          <a:ln/>
        </p:spPr>
      </p:sp>
      <p:sp>
        <p:nvSpPr>
          <p:cNvPr id="97" name="Shape 95"/>
          <p:cNvSpPr/>
          <p:nvPr/>
        </p:nvSpPr>
        <p:spPr>
          <a:xfrm>
            <a:off x="6858000" y="1938528"/>
            <a:ext cx="36576" cy="36576"/>
          </a:xfrm>
          <a:prstGeom prst="ellipse">
            <a:avLst/>
          </a:prstGeom>
          <a:solidFill>
            <a:srgbClr val="0D9488">
              <a:alpha val="15000"/>
            </a:srgbClr>
          </a:solidFill>
          <a:ln/>
        </p:spPr>
      </p:sp>
      <p:sp>
        <p:nvSpPr>
          <p:cNvPr id="98" name="Shape 96"/>
          <p:cNvSpPr/>
          <p:nvPr/>
        </p:nvSpPr>
        <p:spPr>
          <a:xfrm>
            <a:off x="7296912" y="1938528"/>
            <a:ext cx="36576" cy="36576"/>
          </a:xfrm>
          <a:prstGeom prst="ellipse">
            <a:avLst/>
          </a:prstGeom>
          <a:solidFill>
            <a:srgbClr val="0D9488">
              <a:alpha val="15000"/>
            </a:srgbClr>
          </a:solidFill>
          <a:ln/>
        </p:spPr>
      </p:sp>
      <p:sp>
        <p:nvSpPr>
          <p:cNvPr id="99" name="Shape 97"/>
          <p:cNvSpPr/>
          <p:nvPr/>
        </p:nvSpPr>
        <p:spPr>
          <a:xfrm>
            <a:off x="7735824" y="1938528"/>
            <a:ext cx="36576" cy="36576"/>
          </a:xfrm>
          <a:prstGeom prst="ellipse">
            <a:avLst/>
          </a:prstGeom>
          <a:solidFill>
            <a:srgbClr val="0D9488">
              <a:alpha val="15000"/>
            </a:srgbClr>
          </a:solidFill>
          <a:ln/>
        </p:spPr>
      </p:sp>
      <p:sp>
        <p:nvSpPr>
          <p:cNvPr id="100" name="Shape 98"/>
          <p:cNvSpPr/>
          <p:nvPr/>
        </p:nvSpPr>
        <p:spPr>
          <a:xfrm>
            <a:off x="8174736" y="1938528"/>
            <a:ext cx="36576" cy="36576"/>
          </a:xfrm>
          <a:prstGeom prst="ellipse">
            <a:avLst/>
          </a:prstGeom>
          <a:solidFill>
            <a:srgbClr val="0D9488">
              <a:alpha val="15000"/>
            </a:srgbClr>
          </a:solidFill>
          <a:ln/>
        </p:spPr>
      </p:sp>
      <p:sp>
        <p:nvSpPr>
          <p:cNvPr id="101" name="Shape 99"/>
          <p:cNvSpPr/>
          <p:nvPr/>
        </p:nvSpPr>
        <p:spPr>
          <a:xfrm>
            <a:off x="8613648" y="1938528"/>
            <a:ext cx="36576" cy="36576"/>
          </a:xfrm>
          <a:prstGeom prst="ellipse">
            <a:avLst/>
          </a:prstGeom>
          <a:solidFill>
            <a:srgbClr val="0D9488">
              <a:alpha val="15000"/>
            </a:srgbClr>
          </a:solidFill>
          <a:ln/>
        </p:spPr>
      </p:sp>
      <p:sp>
        <p:nvSpPr>
          <p:cNvPr id="102" name="Shape 100"/>
          <p:cNvSpPr/>
          <p:nvPr/>
        </p:nvSpPr>
        <p:spPr>
          <a:xfrm>
            <a:off x="274320" y="2377440"/>
            <a:ext cx="36576" cy="36576"/>
          </a:xfrm>
          <a:prstGeom prst="ellipse">
            <a:avLst/>
          </a:prstGeom>
          <a:solidFill>
            <a:srgbClr val="0D9488">
              <a:alpha val="15000"/>
            </a:srgbClr>
          </a:solidFill>
          <a:ln/>
        </p:spPr>
      </p:sp>
      <p:sp>
        <p:nvSpPr>
          <p:cNvPr id="103" name="Shape 101"/>
          <p:cNvSpPr/>
          <p:nvPr/>
        </p:nvSpPr>
        <p:spPr>
          <a:xfrm>
            <a:off x="713232" y="2377440"/>
            <a:ext cx="36576" cy="36576"/>
          </a:xfrm>
          <a:prstGeom prst="ellipse">
            <a:avLst/>
          </a:prstGeom>
          <a:solidFill>
            <a:srgbClr val="0D9488">
              <a:alpha val="15000"/>
            </a:srgbClr>
          </a:solidFill>
          <a:ln/>
        </p:spPr>
      </p:sp>
      <p:sp>
        <p:nvSpPr>
          <p:cNvPr id="104" name="Shape 102"/>
          <p:cNvSpPr/>
          <p:nvPr/>
        </p:nvSpPr>
        <p:spPr>
          <a:xfrm>
            <a:off x="1152144" y="2377440"/>
            <a:ext cx="36576" cy="36576"/>
          </a:xfrm>
          <a:prstGeom prst="ellipse">
            <a:avLst/>
          </a:prstGeom>
          <a:solidFill>
            <a:srgbClr val="0D9488">
              <a:alpha val="15000"/>
            </a:srgbClr>
          </a:solidFill>
          <a:ln/>
        </p:spPr>
      </p:sp>
      <p:sp>
        <p:nvSpPr>
          <p:cNvPr id="105" name="Shape 103"/>
          <p:cNvSpPr/>
          <p:nvPr/>
        </p:nvSpPr>
        <p:spPr>
          <a:xfrm>
            <a:off x="1591056" y="2377440"/>
            <a:ext cx="36576" cy="36576"/>
          </a:xfrm>
          <a:prstGeom prst="ellipse">
            <a:avLst/>
          </a:prstGeom>
          <a:solidFill>
            <a:srgbClr val="0D9488">
              <a:alpha val="15000"/>
            </a:srgbClr>
          </a:solidFill>
          <a:ln/>
        </p:spPr>
      </p:sp>
      <p:sp>
        <p:nvSpPr>
          <p:cNvPr id="106" name="Shape 104"/>
          <p:cNvSpPr/>
          <p:nvPr/>
        </p:nvSpPr>
        <p:spPr>
          <a:xfrm>
            <a:off x="2029968" y="2377440"/>
            <a:ext cx="36576" cy="36576"/>
          </a:xfrm>
          <a:prstGeom prst="ellipse">
            <a:avLst/>
          </a:prstGeom>
          <a:solidFill>
            <a:srgbClr val="0D9488">
              <a:alpha val="15000"/>
            </a:srgbClr>
          </a:solidFill>
          <a:ln/>
        </p:spPr>
      </p:sp>
      <p:sp>
        <p:nvSpPr>
          <p:cNvPr id="107" name="Shape 105"/>
          <p:cNvSpPr/>
          <p:nvPr/>
        </p:nvSpPr>
        <p:spPr>
          <a:xfrm>
            <a:off x="2468880" y="2377440"/>
            <a:ext cx="36576" cy="36576"/>
          </a:xfrm>
          <a:prstGeom prst="ellipse">
            <a:avLst/>
          </a:prstGeom>
          <a:solidFill>
            <a:srgbClr val="0D9488">
              <a:alpha val="15000"/>
            </a:srgbClr>
          </a:solidFill>
          <a:ln/>
        </p:spPr>
      </p:sp>
      <p:sp>
        <p:nvSpPr>
          <p:cNvPr id="108" name="Shape 106"/>
          <p:cNvSpPr/>
          <p:nvPr/>
        </p:nvSpPr>
        <p:spPr>
          <a:xfrm>
            <a:off x="2907792" y="2377440"/>
            <a:ext cx="36576" cy="36576"/>
          </a:xfrm>
          <a:prstGeom prst="ellipse">
            <a:avLst/>
          </a:prstGeom>
          <a:solidFill>
            <a:srgbClr val="0D9488">
              <a:alpha val="15000"/>
            </a:srgbClr>
          </a:solidFill>
          <a:ln/>
        </p:spPr>
      </p:sp>
      <p:sp>
        <p:nvSpPr>
          <p:cNvPr id="109" name="Shape 107"/>
          <p:cNvSpPr/>
          <p:nvPr/>
        </p:nvSpPr>
        <p:spPr>
          <a:xfrm>
            <a:off x="3346704" y="2377440"/>
            <a:ext cx="36576" cy="36576"/>
          </a:xfrm>
          <a:prstGeom prst="ellipse">
            <a:avLst/>
          </a:prstGeom>
          <a:solidFill>
            <a:srgbClr val="0D9488">
              <a:alpha val="15000"/>
            </a:srgbClr>
          </a:solidFill>
          <a:ln/>
        </p:spPr>
      </p:sp>
      <p:sp>
        <p:nvSpPr>
          <p:cNvPr id="110" name="Shape 108"/>
          <p:cNvSpPr/>
          <p:nvPr/>
        </p:nvSpPr>
        <p:spPr>
          <a:xfrm>
            <a:off x="3785616" y="2377440"/>
            <a:ext cx="36576" cy="36576"/>
          </a:xfrm>
          <a:prstGeom prst="ellipse">
            <a:avLst/>
          </a:prstGeom>
          <a:solidFill>
            <a:srgbClr val="0D9488">
              <a:alpha val="15000"/>
            </a:srgbClr>
          </a:solidFill>
          <a:ln/>
        </p:spPr>
      </p:sp>
      <p:sp>
        <p:nvSpPr>
          <p:cNvPr id="111" name="Shape 109"/>
          <p:cNvSpPr/>
          <p:nvPr/>
        </p:nvSpPr>
        <p:spPr>
          <a:xfrm>
            <a:off x="4224528" y="2377440"/>
            <a:ext cx="36576" cy="36576"/>
          </a:xfrm>
          <a:prstGeom prst="ellipse">
            <a:avLst/>
          </a:prstGeom>
          <a:solidFill>
            <a:srgbClr val="0D9488">
              <a:alpha val="15000"/>
            </a:srgbClr>
          </a:solidFill>
          <a:ln/>
        </p:spPr>
      </p:sp>
      <p:sp>
        <p:nvSpPr>
          <p:cNvPr id="112" name="Shape 110"/>
          <p:cNvSpPr/>
          <p:nvPr/>
        </p:nvSpPr>
        <p:spPr>
          <a:xfrm>
            <a:off x="4663440" y="2377440"/>
            <a:ext cx="36576" cy="36576"/>
          </a:xfrm>
          <a:prstGeom prst="ellipse">
            <a:avLst/>
          </a:prstGeom>
          <a:solidFill>
            <a:srgbClr val="0D9488">
              <a:alpha val="15000"/>
            </a:srgbClr>
          </a:solidFill>
          <a:ln/>
        </p:spPr>
      </p:sp>
      <p:sp>
        <p:nvSpPr>
          <p:cNvPr id="113" name="Shape 111"/>
          <p:cNvSpPr/>
          <p:nvPr/>
        </p:nvSpPr>
        <p:spPr>
          <a:xfrm>
            <a:off x="5102352" y="2377440"/>
            <a:ext cx="36576" cy="36576"/>
          </a:xfrm>
          <a:prstGeom prst="ellipse">
            <a:avLst/>
          </a:prstGeom>
          <a:solidFill>
            <a:srgbClr val="0D9488">
              <a:alpha val="15000"/>
            </a:srgbClr>
          </a:solidFill>
          <a:ln/>
        </p:spPr>
      </p:sp>
      <p:sp>
        <p:nvSpPr>
          <p:cNvPr id="114" name="Shape 112"/>
          <p:cNvSpPr/>
          <p:nvPr/>
        </p:nvSpPr>
        <p:spPr>
          <a:xfrm>
            <a:off x="5541264" y="2377440"/>
            <a:ext cx="36576" cy="36576"/>
          </a:xfrm>
          <a:prstGeom prst="ellipse">
            <a:avLst/>
          </a:prstGeom>
          <a:solidFill>
            <a:srgbClr val="0D9488">
              <a:alpha val="15000"/>
            </a:srgbClr>
          </a:solidFill>
          <a:ln/>
        </p:spPr>
      </p:sp>
      <p:sp>
        <p:nvSpPr>
          <p:cNvPr id="115" name="Shape 113"/>
          <p:cNvSpPr/>
          <p:nvPr/>
        </p:nvSpPr>
        <p:spPr>
          <a:xfrm>
            <a:off x="5980176" y="2377440"/>
            <a:ext cx="36576" cy="36576"/>
          </a:xfrm>
          <a:prstGeom prst="ellipse">
            <a:avLst/>
          </a:prstGeom>
          <a:solidFill>
            <a:srgbClr val="0D9488">
              <a:alpha val="15000"/>
            </a:srgbClr>
          </a:solidFill>
          <a:ln/>
        </p:spPr>
      </p:sp>
      <p:sp>
        <p:nvSpPr>
          <p:cNvPr id="116" name="Shape 114"/>
          <p:cNvSpPr/>
          <p:nvPr/>
        </p:nvSpPr>
        <p:spPr>
          <a:xfrm>
            <a:off x="6419088" y="2377440"/>
            <a:ext cx="36576" cy="36576"/>
          </a:xfrm>
          <a:prstGeom prst="ellipse">
            <a:avLst/>
          </a:prstGeom>
          <a:solidFill>
            <a:srgbClr val="0D9488">
              <a:alpha val="15000"/>
            </a:srgbClr>
          </a:solidFill>
          <a:ln/>
        </p:spPr>
      </p:sp>
      <p:sp>
        <p:nvSpPr>
          <p:cNvPr id="117" name="Shape 115"/>
          <p:cNvSpPr/>
          <p:nvPr/>
        </p:nvSpPr>
        <p:spPr>
          <a:xfrm>
            <a:off x="6858000" y="2377440"/>
            <a:ext cx="36576" cy="36576"/>
          </a:xfrm>
          <a:prstGeom prst="ellipse">
            <a:avLst/>
          </a:prstGeom>
          <a:solidFill>
            <a:srgbClr val="0D9488">
              <a:alpha val="15000"/>
            </a:srgbClr>
          </a:solidFill>
          <a:ln/>
        </p:spPr>
      </p:sp>
      <p:sp>
        <p:nvSpPr>
          <p:cNvPr id="118" name="Shape 116"/>
          <p:cNvSpPr/>
          <p:nvPr/>
        </p:nvSpPr>
        <p:spPr>
          <a:xfrm>
            <a:off x="7296912" y="2377440"/>
            <a:ext cx="36576" cy="36576"/>
          </a:xfrm>
          <a:prstGeom prst="ellipse">
            <a:avLst/>
          </a:prstGeom>
          <a:solidFill>
            <a:srgbClr val="0D9488">
              <a:alpha val="15000"/>
            </a:srgbClr>
          </a:solidFill>
          <a:ln/>
        </p:spPr>
      </p:sp>
      <p:sp>
        <p:nvSpPr>
          <p:cNvPr id="119" name="Shape 117"/>
          <p:cNvSpPr/>
          <p:nvPr/>
        </p:nvSpPr>
        <p:spPr>
          <a:xfrm>
            <a:off x="7735824" y="2377440"/>
            <a:ext cx="36576" cy="36576"/>
          </a:xfrm>
          <a:prstGeom prst="ellipse">
            <a:avLst/>
          </a:prstGeom>
          <a:solidFill>
            <a:srgbClr val="0D9488">
              <a:alpha val="15000"/>
            </a:srgbClr>
          </a:solidFill>
          <a:ln/>
        </p:spPr>
      </p:sp>
      <p:sp>
        <p:nvSpPr>
          <p:cNvPr id="120" name="Shape 118"/>
          <p:cNvSpPr/>
          <p:nvPr/>
        </p:nvSpPr>
        <p:spPr>
          <a:xfrm>
            <a:off x="8174736" y="2377440"/>
            <a:ext cx="36576" cy="36576"/>
          </a:xfrm>
          <a:prstGeom prst="ellipse">
            <a:avLst/>
          </a:prstGeom>
          <a:solidFill>
            <a:srgbClr val="0D9488">
              <a:alpha val="15000"/>
            </a:srgbClr>
          </a:solidFill>
          <a:ln/>
        </p:spPr>
      </p:sp>
      <p:sp>
        <p:nvSpPr>
          <p:cNvPr id="121" name="Shape 119"/>
          <p:cNvSpPr/>
          <p:nvPr/>
        </p:nvSpPr>
        <p:spPr>
          <a:xfrm>
            <a:off x="8613648" y="2377440"/>
            <a:ext cx="36576" cy="36576"/>
          </a:xfrm>
          <a:prstGeom prst="ellipse">
            <a:avLst/>
          </a:prstGeom>
          <a:solidFill>
            <a:srgbClr val="0D9488">
              <a:alpha val="15000"/>
            </a:srgbClr>
          </a:solidFill>
          <a:ln/>
        </p:spPr>
      </p:sp>
      <p:sp>
        <p:nvSpPr>
          <p:cNvPr id="122" name="Shape 120"/>
          <p:cNvSpPr/>
          <p:nvPr/>
        </p:nvSpPr>
        <p:spPr>
          <a:xfrm>
            <a:off x="274320" y="2816352"/>
            <a:ext cx="36576" cy="36576"/>
          </a:xfrm>
          <a:prstGeom prst="ellipse">
            <a:avLst/>
          </a:prstGeom>
          <a:solidFill>
            <a:srgbClr val="0D9488">
              <a:alpha val="15000"/>
            </a:srgbClr>
          </a:solidFill>
          <a:ln/>
        </p:spPr>
      </p:sp>
      <p:sp>
        <p:nvSpPr>
          <p:cNvPr id="123" name="Shape 121"/>
          <p:cNvSpPr/>
          <p:nvPr/>
        </p:nvSpPr>
        <p:spPr>
          <a:xfrm>
            <a:off x="713232" y="2816352"/>
            <a:ext cx="36576" cy="36576"/>
          </a:xfrm>
          <a:prstGeom prst="ellipse">
            <a:avLst/>
          </a:prstGeom>
          <a:solidFill>
            <a:srgbClr val="0D9488">
              <a:alpha val="15000"/>
            </a:srgbClr>
          </a:solidFill>
          <a:ln/>
        </p:spPr>
      </p:sp>
      <p:sp>
        <p:nvSpPr>
          <p:cNvPr id="124" name="Shape 122"/>
          <p:cNvSpPr/>
          <p:nvPr/>
        </p:nvSpPr>
        <p:spPr>
          <a:xfrm>
            <a:off x="1152144" y="2816352"/>
            <a:ext cx="36576" cy="36576"/>
          </a:xfrm>
          <a:prstGeom prst="ellipse">
            <a:avLst/>
          </a:prstGeom>
          <a:solidFill>
            <a:srgbClr val="0D9488">
              <a:alpha val="15000"/>
            </a:srgbClr>
          </a:solidFill>
          <a:ln/>
        </p:spPr>
      </p:sp>
      <p:sp>
        <p:nvSpPr>
          <p:cNvPr id="125" name="Shape 123"/>
          <p:cNvSpPr/>
          <p:nvPr/>
        </p:nvSpPr>
        <p:spPr>
          <a:xfrm>
            <a:off x="1591056" y="2816352"/>
            <a:ext cx="36576" cy="36576"/>
          </a:xfrm>
          <a:prstGeom prst="ellipse">
            <a:avLst/>
          </a:prstGeom>
          <a:solidFill>
            <a:srgbClr val="0D9488">
              <a:alpha val="15000"/>
            </a:srgbClr>
          </a:solidFill>
          <a:ln/>
        </p:spPr>
      </p:sp>
      <p:sp>
        <p:nvSpPr>
          <p:cNvPr id="126" name="Shape 124"/>
          <p:cNvSpPr/>
          <p:nvPr/>
        </p:nvSpPr>
        <p:spPr>
          <a:xfrm>
            <a:off x="2029968" y="2816352"/>
            <a:ext cx="36576" cy="36576"/>
          </a:xfrm>
          <a:prstGeom prst="ellipse">
            <a:avLst/>
          </a:prstGeom>
          <a:solidFill>
            <a:srgbClr val="0D9488">
              <a:alpha val="15000"/>
            </a:srgbClr>
          </a:solidFill>
          <a:ln/>
        </p:spPr>
      </p:sp>
      <p:sp>
        <p:nvSpPr>
          <p:cNvPr id="127" name="Shape 125"/>
          <p:cNvSpPr/>
          <p:nvPr/>
        </p:nvSpPr>
        <p:spPr>
          <a:xfrm>
            <a:off x="2468880" y="2816352"/>
            <a:ext cx="36576" cy="36576"/>
          </a:xfrm>
          <a:prstGeom prst="ellipse">
            <a:avLst/>
          </a:prstGeom>
          <a:solidFill>
            <a:srgbClr val="0D9488">
              <a:alpha val="15000"/>
            </a:srgbClr>
          </a:solidFill>
          <a:ln/>
        </p:spPr>
      </p:sp>
      <p:sp>
        <p:nvSpPr>
          <p:cNvPr id="128" name="Shape 126"/>
          <p:cNvSpPr/>
          <p:nvPr/>
        </p:nvSpPr>
        <p:spPr>
          <a:xfrm>
            <a:off x="2907792" y="2816352"/>
            <a:ext cx="36576" cy="36576"/>
          </a:xfrm>
          <a:prstGeom prst="ellipse">
            <a:avLst/>
          </a:prstGeom>
          <a:solidFill>
            <a:srgbClr val="0D9488">
              <a:alpha val="15000"/>
            </a:srgbClr>
          </a:solidFill>
          <a:ln/>
        </p:spPr>
      </p:sp>
      <p:sp>
        <p:nvSpPr>
          <p:cNvPr id="129" name="Shape 127"/>
          <p:cNvSpPr/>
          <p:nvPr/>
        </p:nvSpPr>
        <p:spPr>
          <a:xfrm>
            <a:off x="3346704" y="2816352"/>
            <a:ext cx="36576" cy="36576"/>
          </a:xfrm>
          <a:prstGeom prst="ellipse">
            <a:avLst/>
          </a:prstGeom>
          <a:solidFill>
            <a:srgbClr val="0D9488">
              <a:alpha val="15000"/>
            </a:srgbClr>
          </a:solidFill>
          <a:ln/>
        </p:spPr>
      </p:sp>
      <p:sp>
        <p:nvSpPr>
          <p:cNvPr id="130" name="Shape 128"/>
          <p:cNvSpPr/>
          <p:nvPr/>
        </p:nvSpPr>
        <p:spPr>
          <a:xfrm>
            <a:off x="3785616" y="2816352"/>
            <a:ext cx="36576" cy="36576"/>
          </a:xfrm>
          <a:prstGeom prst="ellipse">
            <a:avLst/>
          </a:prstGeom>
          <a:solidFill>
            <a:srgbClr val="0D9488">
              <a:alpha val="15000"/>
            </a:srgbClr>
          </a:solidFill>
          <a:ln/>
        </p:spPr>
      </p:sp>
      <p:sp>
        <p:nvSpPr>
          <p:cNvPr id="131" name="Shape 129"/>
          <p:cNvSpPr/>
          <p:nvPr/>
        </p:nvSpPr>
        <p:spPr>
          <a:xfrm>
            <a:off x="4224528" y="2816352"/>
            <a:ext cx="36576" cy="36576"/>
          </a:xfrm>
          <a:prstGeom prst="ellipse">
            <a:avLst/>
          </a:prstGeom>
          <a:solidFill>
            <a:srgbClr val="0D9488">
              <a:alpha val="15000"/>
            </a:srgbClr>
          </a:solidFill>
          <a:ln/>
        </p:spPr>
      </p:sp>
      <p:sp>
        <p:nvSpPr>
          <p:cNvPr id="132" name="Shape 130"/>
          <p:cNvSpPr/>
          <p:nvPr/>
        </p:nvSpPr>
        <p:spPr>
          <a:xfrm>
            <a:off x="4663440" y="2816352"/>
            <a:ext cx="36576" cy="36576"/>
          </a:xfrm>
          <a:prstGeom prst="ellipse">
            <a:avLst/>
          </a:prstGeom>
          <a:solidFill>
            <a:srgbClr val="0D9488">
              <a:alpha val="15000"/>
            </a:srgbClr>
          </a:solidFill>
          <a:ln/>
        </p:spPr>
      </p:sp>
      <p:sp>
        <p:nvSpPr>
          <p:cNvPr id="133" name="Shape 131"/>
          <p:cNvSpPr/>
          <p:nvPr/>
        </p:nvSpPr>
        <p:spPr>
          <a:xfrm>
            <a:off x="5102352" y="2816352"/>
            <a:ext cx="36576" cy="36576"/>
          </a:xfrm>
          <a:prstGeom prst="ellipse">
            <a:avLst/>
          </a:prstGeom>
          <a:solidFill>
            <a:srgbClr val="0D9488">
              <a:alpha val="15000"/>
            </a:srgbClr>
          </a:solidFill>
          <a:ln/>
        </p:spPr>
      </p:sp>
      <p:sp>
        <p:nvSpPr>
          <p:cNvPr id="134" name="Shape 132"/>
          <p:cNvSpPr/>
          <p:nvPr/>
        </p:nvSpPr>
        <p:spPr>
          <a:xfrm>
            <a:off x="5541264" y="2816352"/>
            <a:ext cx="36576" cy="36576"/>
          </a:xfrm>
          <a:prstGeom prst="ellipse">
            <a:avLst/>
          </a:prstGeom>
          <a:solidFill>
            <a:srgbClr val="0D9488">
              <a:alpha val="15000"/>
            </a:srgbClr>
          </a:solidFill>
          <a:ln/>
        </p:spPr>
      </p:sp>
      <p:sp>
        <p:nvSpPr>
          <p:cNvPr id="135" name="Shape 133"/>
          <p:cNvSpPr/>
          <p:nvPr/>
        </p:nvSpPr>
        <p:spPr>
          <a:xfrm>
            <a:off x="5980176" y="2816352"/>
            <a:ext cx="36576" cy="36576"/>
          </a:xfrm>
          <a:prstGeom prst="ellipse">
            <a:avLst/>
          </a:prstGeom>
          <a:solidFill>
            <a:srgbClr val="0D9488">
              <a:alpha val="15000"/>
            </a:srgbClr>
          </a:solidFill>
          <a:ln/>
        </p:spPr>
      </p:sp>
      <p:sp>
        <p:nvSpPr>
          <p:cNvPr id="136" name="Shape 134"/>
          <p:cNvSpPr/>
          <p:nvPr/>
        </p:nvSpPr>
        <p:spPr>
          <a:xfrm>
            <a:off x="6419088" y="2816352"/>
            <a:ext cx="36576" cy="36576"/>
          </a:xfrm>
          <a:prstGeom prst="ellipse">
            <a:avLst/>
          </a:prstGeom>
          <a:solidFill>
            <a:srgbClr val="0D9488">
              <a:alpha val="15000"/>
            </a:srgbClr>
          </a:solidFill>
          <a:ln/>
        </p:spPr>
      </p:sp>
      <p:sp>
        <p:nvSpPr>
          <p:cNvPr id="137" name="Shape 135"/>
          <p:cNvSpPr/>
          <p:nvPr/>
        </p:nvSpPr>
        <p:spPr>
          <a:xfrm>
            <a:off x="6858000" y="2816352"/>
            <a:ext cx="36576" cy="36576"/>
          </a:xfrm>
          <a:prstGeom prst="ellipse">
            <a:avLst/>
          </a:prstGeom>
          <a:solidFill>
            <a:srgbClr val="0D9488">
              <a:alpha val="15000"/>
            </a:srgbClr>
          </a:solidFill>
          <a:ln/>
        </p:spPr>
      </p:sp>
      <p:sp>
        <p:nvSpPr>
          <p:cNvPr id="138" name="Shape 136"/>
          <p:cNvSpPr/>
          <p:nvPr/>
        </p:nvSpPr>
        <p:spPr>
          <a:xfrm>
            <a:off x="7296912" y="2816352"/>
            <a:ext cx="36576" cy="36576"/>
          </a:xfrm>
          <a:prstGeom prst="ellipse">
            <a:avLst/>
          </a:prstGeom>
          <a:solidFill>
            <a:srgbClr val="0D9488">
              <a:alpha val="15000"/>
            </a:srgbClr>
          </a:solidFill>
          <a:ln/>
        </p:spPr>
      </p:sp>
      <p:sp>
        <p:nvSpPr>
          <p:cNvPr id="139" name="Shape 137"/>
          <p:cNvSpPr/>
          <p:nvPr/>
        </p:nvSpPr>
        <p:spPr>
          <a:xfrm>
            <a:off x="7735824" y="2816352"/>
            <a:ext cx="36576" cy="36576"/>
          </a:xfrm>
          <a:prstGeom prst="ellipse">
            <a:avLst/>
          </a:prstGeom>
          <a:solidFill>
            <a:srgbClr val="0D9488">
              <a:alpha val="15000"/>
            </a:srgbClr>
          </a:solidFill>
          <a:ln/>
        </p:spPr>
      </p:sp>
      <p:sp>
        <p:nvSpPr>
          <p:cNvPr id="140" name="Shape 138"/>
          <p:cNvSpPr/>
          <p:nvPr/>
        </p:nvSpPr>
        <p:spPr>
          <a:xfrm>
            <a:off x="8174736" y="2816352"/>
            <a:ext cx="36576" cy="36576"/>
          </a:xfrm>
          <a:prstGeom prst="ellipse">
            <a:avLst/>
          </a:prstGeom>
          <a:solidFill>
            <a:srgbClr val="0D9488">
              <a:alpha val="15000"/>
            </a:srgbClr>
          </a:solidFill>
          <a:ln/>
        </p:spPr>
      </p:sp>
      <p:sp>
        <p:nvSpPr>
          <p:cNvPr id="141" name="Shape 139"/>
          <p:cNvSpPr/>
          <p:nvPr/>
        </p:nvSpPr>
        <p:spPr>
          <a:xfrm>
            <a:off x="8613648" y="2816352"/>
            <a:ext cx="36576" cy="36576"/>
          </a:xfrm>
          <a:prstGeom prst="ellipse">
            <a:avLst/>
          </a:prstGeom>
          <a:solidFill>
            <a:srgbClr val="0D9488">
              <a:alpha val="15000"/>
            </a:srgbClr>
          </a:solidFill>
          <a:ln/>
        </p:spPr>
      </p:sp>
      <p:sp>
        <p:nvSpPr>
          <p:cNvPr id="142" name="Shape 140"/>
          <p:cNvSpPr/>
          <p:nvPr/>
        </p:nvSpPr>
        <p:spPr>
          <a:xfrm>
            <a:off x="274320" y="3255264"/>
            <a:ext cx="36576" cy="36576"/>
          </a:xfrm>
          <a:prstGeom prst="ellipse">
            <a:avLst/>
          </a:prstGeom>
          <a:solidFill>
            <a:srgbClr val="0D9488">
              <a:alpha val="15000"/>
            </a:srgbClr>
          </a:solidFill>
          <a:ln/>
        </p:spPr>
      </p:sp>
      <p:sp>
        <p:nvSpPr>
          <p:cNvPr id="143" name="Shape 141"/>
          <p:cNvSpPr/>
          <p:nvPr/>
        </p:nvSpPr>
        <p:spPr>
          <a:xfrm>
            <a:off x="713232" y="3255264"/>
            <a:ext cx="36576" cy="36576"/>
          </a:xfrm>
          <a:prstGeom prst="ellipse">
            <a:avLst/>
          </a:prstGeom>
          <a:solidFill>
            <a:srgbClr val="0D9488">
              <a:alpha val="15000"/>
            </a:srgbClr>
          </a:solidFill>
          <a:ln/>
        </p:spPr>
      </p:sp>
      <p:sp>
        <p:nvSpPr>
          <p:cNvPr id="144" name="Shape 142"/>
          <p:cNvSpPr/>
          <p:nvPr/>
        </p:nvSpPr>
        <p:spPr>
          <a:xfrm>
            <a:off x="1152144" y="3255264"/>
            <a:ext cx="36576" cy="36576"/>
          </a:xfrm>
          <a:prstGeom prst="ellipse">
            <a:avLst/>
          </a:prstGeom>
          <a:solidFill>
            <a:srgbClr val="0D9488">
              <a:alpha val="15000"/>
            </a:srgbClr>
          </a:solidFill>
          <a:ln/>
        </p:spPr>
      </p:sp>
      <p:sp>
        <p:nvSpPr>
          <p:cNvPr id="145" name="Shape 143"/>
          <p:cNvSpPr/>
          <p:nvPr/>
        </p:nvSpPr>
        <p:spPr>
          <a:xfrm>
            <a:off x="1591056" y="3255264"/>
            <a:ext cx="36576" cy="36576"/>
          </a:xfrm>
          <a:prstGeom prst="ellipse">
            <a:avLst/>
          </a:prstGeom>
          <a:solidFill>
            <a:srgbClr val="0D9488">
              <a:alpha val="15000"/>
            </a:srgbClr>
          </a:solidFill>
          <a:ln/>
        </p:spPr>
      </p:sp>
      <p:sp>
        <p:nvSpPr>
          <p:cNvPr id="146" name="Shape 144"/>
          <p:cNvSpPr/>
          <p:nvPr/>
        </p:nvSpPr>
        <p:spPr>
          <a:xfrm>
            <a:off x="2029968" y="3255264"/>
            <a:ext cx="36576" cy="36576"/>
          </a:xfrm>
          <a:prstGeom prst="ellipse">
            <a:avLst/>
          </a:prstGeom>
          <a:solidFill>
            <a:srgbClr val="0D9488">
              <a:alpha val="15000"/>
            </a:srgbClr>
          </a:solidFill>
          <a:ln/>
        </p:spPr>
      </p:sp>
      <p:sp>
        <p:nvSpPr>
          <p:cNvPr id="147" name="Shape 145"/>
          <p:cNvSpPr/>
          <p:nvPr/>
        </p:nvSpPr>
        <p:spPr>
          <a:xfrm>
            <a:off x="2468880" y="3255264"/>
            <a:ext cx="36576" cy="36576"/>
          </a:xfrm>
          <a:prstGeom prst="ellipse">
            <a:avLst/>
          </a:prstGeom>
          <a:solidFill>
            <a:srgbClr val="0D9488">
              <a:alpha val="15000"/>
            </a:srgbClr>
          </a:solidFill>
          <a:ln/>
        </p:spPr>
      </p:sp>
      <p:sp>
        <p:nvSpPr>
          <p:cNvPr id="148" name="Shape 146"/>
          <p:cNvSpPr/>
          <p:nvPr/>
        </p:nvSpPr>
        <p:spPr>
          <a:xfrm>
            <a:off x="2907792" y="3255264"/>
            <a:ext cx="36576" cy="36576"/>
          </a:xfrm>
          <a:prstGeom prst="ellipse">
            <a:avLst/>
          </a:prstGeom>
          <a:solidFill>
            <a:srgbClr val="0D9488">
              <a:alpha val="15000"/>
            </a:srgbClr>
          </a:solidFill>
          <a:ln/>
        </p:spPr>
      </p:sp>
      <p:sp>
        <p:nvSpPr>
          <p:cNvPr id="149" name="Shape 147"/>
          <p:cNvSpPr/>
          <p:nvPr/>
        </p:nvSpPr>
        <p:spPr>
          <a:xfrm>
            <a:off x="3346704" y="3255264"/>
            <a:ext cx="36576" cy="36576"/>
          </a:xfrm>
          <a:prstGeom prst="ellipse">
            <a:avLst/>
          </a:prstGeom>
          <a:solidFill>
            <a:srgbClr val="0D9488">
              <a:alpha val="15000"/>
            </a:srgbClr>
          </a:solidFill>
          <a:ln/>
        </p:spPr>
      </p:sp>
      <p:sp>
        <p:nvSpPr>
          <p:cNvPr id="150" name="Shape 148"/>
          <p:cNvSpPr/>
          <p:nvPr/>
        </p:nvSpPr>
        <p:spPr>
          <a:xfrm>
            <a:off x="3785616" y="3255264"/>
            <a:ext cx="36576" cy="36576"/>
          </a:xfrm>
          <a:prstGeom prst="ellipse">
            <a:avLst/>
          </a:prstGeom>
          <a:solidFill>
            <a:srgbClr val="0D9488">
              <a:alpha val="15000"/>
            </a:srgbClr>
          </a:solidFill>
          <a:ln/>
        </p:spPr>
      </p:sp>
      <p:sp>
        <p:nvSpPr>
          <p:cNvPr id="151" name="Shape 149"/>
          <p:cNvSpPr/>
          <p:nvPr/>
        </p:nvSpPr>
        <p:spPr>
          <a:xfrm>
            <a:off x="4224528" y="3255264"/>
            <a:ext cx="36576" cy="36576"/>
          </a:xfrm>
          <a:prstGeom prst="ellipse">
            <a:avLst/>
          </a:prstGeom>
          <a:solidFill>
            <a:srgbClr val="0D9488">
              <a:alpha val="15000"/>
            </a:srgbClr>
          </a:solidFill>
          <a:ln/>
        </p:spPr>
      </p:sp>
      <p:sp>
        <p:nvSpPr>
          <p:cNvPr id="152" name="Shape 150"/>
          <p:cNvSpPr/>
          <p:nvPr/>
        </p:nvSpPr>
        <p:spPr>
          <a:xfrm>
            <a:off x="4663440" y="3255264"/>
            <a:ext cx="36576" cy="36576"/>
          </a:xfrm>
          <a:prstGeom prst="ellipse">
            <a:avLst/>
          </a:prstGeom>
          <a:solidFill>
            <a:srgbClr val="0D9488">
              <a:alpha val="15000"/>
            </a:srgbClr>
          </a:solidFill>
          <a:ln/>
        </p:spPr>
      </p:sp>
      <p:sp>
        <p:nvSpPr>
          <p:cNvPr id="153" name="Shape 151"/>
          <p:cNvSpPr/>
          <p:nvPr/>
        </p:nvSpPr>
        <p:spPr>
          <a:xfrm>
            <a:off x="5102352" y="3255264"/>
            <a:ext cx="36576" cy="36576"/>
          </a:xfrm>
          <a:prstGeom prst="ellipse">
            <a:avLst/>
          </a:prstGeom>
          <a:solidFill>
            <a:srgbClr val="0D9488">
              <a:alpha val="15000"/>
            </a:srgbClr>
          </a:solidFill>
          <a:ln/>
        </p:spPr>
      </p:sp>
      <p:sp>
        <p:nvSpPr>
          <p:cNvPr id="154" name="Shape 152"/>
          <p:cNvSpPr/>
          <p:nvPr/>
        </p:nvSpPr>
        <p:spPr>
          <a:xfrm>
            <a:off x="5541264" y="3255264"/>
            <a:ext cx="36576" cy="36576"/>
          </a:xfrm>
          <a:prstGeom prst="ellipse">
            <a:avLst/>
          </a:prstGeom>
          <a:solidFill>
            <a:srgbClr val="0D9488">
              <a:alpha val="15000"/>
            </a:srgbClr>
          </a:solidFill>
          <a:ln/>
        </p:spPr>
      </p:sp>
      <p:sp>
        <p:nvSpPr>
          <p:cNvPr id="155" name="Shape 153"/>
          <p:cNvSpPr/>
          <p:nvPr/>
        </p:nvSpPr>
        <p:spPr>
          <a:xfrm>
            <a:off x="5980176" y="3255264"/>
            <a:ext cx="36576" cy="36576"/>
          </a:xfrm>
          <a:prstGeom prst="ellipse">
            <a:avLst/>
          </a:prstGeom>
          <a:solidFill>
            <a:srgbClr val="0D9488">
              <a:alpha val="15000"/>
            </a:srgbClr>
          </a:solidFill>
          <a:ln/>
        </p:spPr>
      </p:sp>
      <p:sp>
        <p:nvSpPr>
          <p:cNvPr id="156" name="Shape 154"/>
          <p:cNvSpPr/>
          <p:nvPr/>
        </p:nvSpPr>
        <p:spPr>
          <a:xfrm>
            <a:off x="6419088" y="3255264"/>
            <a:ext cx="36576" cy="36576"/>
          </a:xfrm>
          <a:prstGeom prst="ellipse">
            <a:avLst/>
          </a:prstGeom>
          <a:solidFill>
            <a:srgbClr val="0D9488">
              <a:alpha val="15000"/>
            </a:srgbClr>
          </a:solidFill>
          <a:ln/>
        </p:spPr>
      </p:sp>
      <p:sp>
        <p:nvSpPr>
          <p:cNvPr id="157" name="Shape 155"/>
          <p:cNvSpPr/>
          <p:nvPr/>
        </p:nvSpPr>
        <p:spPr>
          <a:xfrm>
            <a:off x="6858000" y="3255264"/>
            <a:ext cx="36576" cy="36576"/>
          </a:xfrm>
          <a:prstGeom prst="ellipse">
            <a:avLst/>
          </a:prstGeom>
          <a:solidFill>
            <a:srgbClr val="0D9488">
              <a:alpha val="15000"/>
            </a:srgbClr>
          </a:solidFill>
          <a:ln/>
        </p:spPr>
      </p:sp>
      <p:sp>
        <p:nvSpPr>
          <p:cNvPr id="158" name="Shape 156"/>
          <p:cNvSpPr/>
          <p:nvPr/>
        </p:nvSpPr>
        <p:spPr>
          <a:xfrm>
            <a:off x="7296912" y="3255264"/>
            <a:ext cx="36576" cy="36576"/>
          </a:xfrm>
          <a:prstGeom prst="ellipse">
            <a:avLst/>
          </a:prstGeom>
          <a:solidFill>
            <a:srgbClr val="0D9488">
              <a:alpha val="15000"/>
            </a:srgbClr>
          </a:solidFill>
          <a:ln/>
        </p:spPr>
      </p:sp>
      <p:sp>
        <p:nvSpPr>
          <p:cNvPr id="159" name="Shape 157"/>
          <p:cNvSpPr/>
          <p:nvPr/>
        </p:nvSpPr>
        <p:spPr>
          <a:xfrm>
            <a:off x="7735824" y="3255264"/>
            <a:ext cx="36576" cy="36576"/>
          </a:xfrm>
          <a:prstGeom prst="ellipse">
            <a:avLst/>
          </a:prstGeom>
          <a:solidFill>
            <a:srgbClr val="0D9488">
              <a:alpha val="15000"/>
            </a:srgbClr>
          </a:solidFill>
          <a:ln/>
        </p:spPr>
      </p:sp>
      <p:sp>
        <p:nvSpPr>
          <p:cNvPr id="160" name="Shape 158"/>
          <p:cNvSpPr/>
          <p:nvPr/>
        </p:nvSpPr>
        <p:spPr>
          <a:xfrm>
            <a:off x="8174736" y="3255264"/>
            <a:ext cx="36576" cy="36576"/>
          </a:xfrm>
          <a:prstGeom prst="ellipse">
            <a:avLst/>
          </a:prstGeom>
          <a:solidFill>
            <a:srgbClr val="0D9488">
              <a:alpha val="15000"/>
            </a:srgbClr>
          </a:solidFill>
          <a:ln/>
        </p:spPr>
      </p:sp>
      <p:sp>
        <p:nvSpPr>
          <p:cNvPr id="161" name="Shape 159"/>
          <p:cNvSpPr/>
          <p:nvPr/>
        </p:nvSpPr>
        <p:spPr>
          <a:xfrm>
            <a:off x="8613648" y="3255264"/>
            <a:ext cx="36576" cy="36576"/>
          </a:xfrm>
          <a:prstGeom prst="ellipse">
            <a:avLst/>
          </a:prstGeom>
          <a:solidFill>
            <a:srgbClr val="0D9488">
              <a:alpha val="15000"/>
            </a:srgbClr>
          </a:solidFill>
          <a:ln/>
        </p:spPr>
      </p:sp>
      <p:sp>
        <p:nvSpPr>
          <p:cNvPr id="162" name="Shape 160"/>
          <p:cNvSpPr/>
          <p:nvPr/>
        </p:nvSpPr>
        <p:spPr>
          <a:xfrm>
            <a:off x="274320" y="3694176"/>
            <a:ext cx="36576" cy="36576"/>
          </a:xfrm>
          <a:prstGeom prst="ellipse">
            <a:avLst/>
          </a:prstGeom>
          <a:solidFill>
            <a:srgbClr val="0D9488">
              <a:alpha val="15000"/>
            </a:srgbClr>
          </a:solidFill>
          <a:ln/>
        </p:spPr>
      </p:sp>
      <p:sp>
        <p:nvSpPr>
          <p:cNvPr id="163" name="Shape 161"/>
          <p:cNvSpPr/>
          <p:nvPr/>
        </p:nvSpPr>
        <p:spPr>
          <a:xfrm>
            <a:off x="713232" y="3694176"/>
            <a:ext cx="36576" cy="36576"/>
          </a:xfrm>
          <a:prstGeom prst="ellipse">
            <a:avLst/>
          </a:prstGeom>
          <a:solidFill>
            <a:srgbClr val="0D9488">
              <a:alpha val="15000"/>
            </a:srgbClr>
          </a:solidFill>
          <a:ln/>
        </p:spPr>
      </p:sp>
      <p:sp>
        <p:nvSpPr>
          <p:cNvPr id="164" name="Shape 162"/>
          <p:cNvSpPr/>
          <p:nvPr/>
        </p:nvSpPr>
        <p:spPr>
          <a:xfrm>
            <a:off x="1152144" y="3694176"/>
            <a:ext cx="36576" cy="36576"/>
          </a:xfrm>
          <a:prstGeom prst="ellipse">
            <a:avLst/>
          </a:prstGeom>
          <a:solidFill>
            <a:srgbClr val="0D9488">
              <a:alpha val="15000"/>
            </a:srgbClr>
          </a:solidFill>
          <a:ln/>
        </p:spPr>
      </p:sp>
      <p:sp>
        <p:nvSpPr>
          <p:cNvPr id="165" name="Shape 163"/>
          <p:cNvSpPr/>
          <p:nvPr/>
        </p:nvSpPr>
        <p:spPr>
          <a:xfrm>
            <a:off x="1591056" y="3694176"/>
            <a:ext cx="36576" cy="36576"/>
          </a:xfrm>
          <a:prstGeom prst="ellipse">
            <a:avLst/>
          </a:prstGeom>
          <a:solidFill>
            <a:srgbClr val="0D9488">
              <a:alpha val="15000"/>
            </a:srgbClr>
          </a:solidFill>
          <a:ln/>
        </p:spPr>
      </p:sp>
      <p:sp>
        <p:nvSpPr>
          <p:cNvPr id="166" name="Shape 164"/>
          <p:cNvSpPr/>
          <p:nvPr/>
        </p:nvSpPr>
        <p:spPr>
          <a:xfrm>
            <a:off x="2029968" y="3694176"/>
            <a:ext cx="36576" cy="36576"/>
          </a:xfrm>
          <a:prstGeom prst="ellipse">
            <a:avLst/>
          </a:prstGeom>
          <a:solidFill>
            <a:srgbClr val="0D9488">
              <a:alpha val="15000"/>
            </a:srgbClr>
          </a:solidFill>
          <a:ln/>
        </p:spPr>
      </p:sp>
      <p:sp>
        <p:nvSpPr>
          <p:cNvPr id="167" name="Shape 165"/>
          <p:cNvSpPr/>
          <p:nvPr/>
        </p:nvSpPr>
        <p:spPr>
          <a:xfrm>
            <a:off x="2468880" y="3694176"/>
            <a:ext cx="36576" cy="36576"/>
          </a:xfrm>
          <a:prstGeom prst="ellipse">
            <a:avLst/>
          </a:prstGeom>
          <a:solidFill>
            <a:srgbClr val="0D9488">
              <a:alpha val="15000"/>
            </a:srgbClr>
          </a:solidFill>
          <a:ln/>
        </p:spPr>
      </p:sp>
      <p:sp>
        <p:nvSpPr>
          <p:cNvPr id="168" name="Shape 166"/>
          <p:cNvSpPr/>
          <p:nvPr/>
        </p:nvSpPr>
        <p:spPr>
          <a:xfrm>
            <a:off x="2907792" y="3694176"/>
            <a:ext cx="36576" cy="36576"/>
          </a:xfrm>
          <a:prstGeom prst="ellipse">
            <a:avLst/>
          </a:prstGeom>
          <a:solidFill>
            <a:srgbClr val="0D9488">
              <a:alpha val="15000"/>
            </a:srgbClr>
          </a:solidFill>
          <a:ln/>
        </p:spPr>
      </p:sp>
      <p:sp>
        <p:nvSpPr>
          <p:cNvPr id="169" name="Shape 167"/>
          <p:cNvSpPr/>
          <p:nvPr/>
        </p:nvSpPr>
        <p:spPr>
          <a:xfrm>
            <a:off x="3346704" y="3694176"/>
            <a:ext cx="36576" cy="36576"/>
          </a:xfrm>
          <a:prstGeom prst="ellipse">
            <a:avLst/>
          </a:prstGeom>
          <a:solidFill>
            <a:srgbClr val="0D9488">
              <a:alpha val="15000"/>
            </a:srgbClr>
          </a:solidFill>
          <a:ln/>
        </p:spPr>
      </p:sp>
      <p:sp>
        <p:nvSpPr>
          <p:cNvPr id="170" name="Shape 168"/>
          <p:cNvSpPr/>
          <p:nvPr/>
        </p:nvSpPr>
        <p:spPr>
          <a:xfrm>
            <a:off x="3785616" y="3694176"/>
            <a:ext cx="36576" cy="36576"/>
          </a:xfrm>
          <a:prstGeom prst="ellipse">
            <a:avLst/>
          </a:prstGeom>
          <a:solidFill>
            <a:srgbClr val="0D9488">
              <a:alpha val="15000"/>
            </a:srgbClr>
          </a:solidFill>
          <a:ln/>
        </p:spPr>
      </p:sp>
      <p:sp>
        <p:nvSpPr>
          <p:cNvPr id="171" name="Shape 169"/>
          <p:cNvSpPr/>
          <p:nvPr/>
        </p:nvSpPr>
        <p:spPr>
          <a:xfrm>
            <a:off x="4224528" y="3694176"/>
            <a:ext cx="36576" cy="36576"/>
          </a:xfrm>
          <a:prstGeom prst="ellipse">
            <a:avLst/>
          </a:prstGeom>
          <a:solidFill>
            <a:srgbClr val="0D9488">
              <a:alpha val="15000"/>
            </a:srgbClr>
          </a:solidFill>
          <a:ln/>
        </p:spPr>
      </p:sp>
      <p:sp>
        <p:nvSpPr>
          <p:cNvPr id="172" name="Shape 170"/>
          <p:cNvSpPr/>
          <p:nvPr/>
        </p:nvSpPr>
        <p:spPr>
          <a:xfrm>
            <a:off x="4663440" y="3694176"/>
            <a:ext cx="36576" cy="36576"/>
          </a:xfrm>
          <a:prstGeom prst="ellipse">
            <a:avLst/>
          </a:prstGeom>
          <a:solidFill>
            <a:srgbClr val="0D9488">
              <a:alpha val="15000"/>
            </a:srgbClr>
          </a:solidFill>
          <a:ln/>
        </p:spPr>
      </p:sp>
      <p:sp>
        <p:nvSpPr>
          <p:cNvPr id="173" name="Shape 171"/>
          <p:cNvSpPr/>
          <p:nvPr/>
        </p:nvSpPr>
        <p:spPr>
          <a:xfrm>
            <a:off x="5102352" y="3694176"/>
            <a:ext cx="36576" cy="36576"/>
          </a:xfrm>
          <a:prstGeom prst="ellipse">
            <a:avLst/>
          </a:prstGeom>
          <a:solidFill>
            <a:srgbClr val="0D9488">
              <a:alpha val="15000"/>
            </a:srgbClr>
          </a:solidFill>
          <a:ln/>
        </p:spPr>
      </p:sp>
      <p:sp>
        <p:nvSpPr>
          <p:cNvPr id="174" name="Shape 172"/>
          <p:cNvSpPr/>
          <p:nvPr/>
        </p:nvSpPr>
        <p:spPr>
          <a:xfrm>
            <a:off x="5541264" y="3694176"/>
            <a:ext cx="36576" cy="36576"/>
          </a:xfrm>
          <a:prstGeom prst="ellipse">
            <a:avLst/>
          </a:prstGeom>
          <a:solidFill>
            <a:srgbClr val="0D9488">
              <a:alpha val="15000"/>
            </a:srgbClr>
          </a:solidFill>
          <a:ln/>
        </p:spPr>
      </p:sp>
      <p:sp>
        <p:nvSpPr>
          <p:cNvPr id="175" name="Shape 173"/>
          <p:cNvSpPr/>
          <p:nvPr/>
        </p:nvSpPr>
        <p:spPr>
          <a:xfrm>
            <a:off x="5980176" y="3694176"/>
            <a:ext cx="36576" cy="36576"/>
          </a:xfrm>
          <a:prstGeom prst="ellipse">
            <a:avLst/>
          </a:prstGeom>
          <a:solidFill>
            <a:srgbClr val="0D9488">
              <a:alpha val="15000"/>
            </a:srgbClr>
          </a:solidFill>
          <a:ln/>
        </p:spPr>
      </p:sp>
      <p:sp>
        <p:nvSpPr>
          <p:cNvPr id="176" name="Shape 174"/>
          <p:cNvSpPr/>
          <p:nvPr/>
        </p:nvSpPr>
        <p:spPr>
          <a:xfrm>
            <a:off x="6419088" y="3694176"/>
            <a:ext cx="36576" cy="36576"/>
          </a:xfrm>
          <a:prstGeom prst="ellipse">
            <a:avLst/>
          </a:prstGeom>
          <a:solidFill>
            <a:srgbClr val="0D9488">
              <a:alpha val="15000"/>
            </a:srgbClr>
          </a:solidFill>
          <a:ln/>
        </p:spPr>
      </p:sp>
      <p:sp>
        <p:nvSpPr>
          <p:cNvPr id="177" name="Shape 175"/>
          <p:cNvSpPr/>
          <p:nvPr/>
        </p:nvSpPr>
        <p:spPr>
          <a:xfrm>
            <a:off x="6858000" y="3694176"/>
            <a:ext cx="36576" cy="36576"/>
          </a:xfrm>
          <a:prstGeom prst="ellipse">
            <a:avLst/>
          </a:prstGeom>
          <a:solidFill>
            <a:srgbClr val="0D9488">
              <a:alpha val="15000"/>
            </a:srgbClr>
          </a:solidFill>
          <a:ln/>
        </p:spPr>
      </p:sp>
      <p:sp>
        <p:nvSpPr>
          <p:cNvPr id="178" name="Shape 176"/>
          <p:cNvSpPr/>
          <p:nvPr/>
        </p:nvSpPr>
        <p:spPr>
          <a:xfrm>
            <a:off x="7296912" y="3694176"/>
            <a:ext cx="36576" cy="36576"/>
          </a:xfrm>
          <a:prstGeom prst="ellipse">
            <a:avLst/>
          </a:prstGeom>
          <a:solidFill>
            <a:srgbClr val="0D9488">
              <a:alpha val="15000"/>
            </a:srgbClr>
          </a:solidFill>
          <a:ln/>
        </p:spPr>
      </p:sp>
      <p:sp>
        <p:nvSpPr>
          <p:cNvPr id="179" name="Shape 177"/>
          <p:cNvSpPr/>
          <p:nvPr/>
        </p:nvSpPr>
        <p:spPr>
          <a:xfrm>
            <a:off x="7735824" y="3694176"/>
            <a:ext cx="36576" cy="36576"/>
          </a:xfrm>
          <a:prstGeom prst="ellipse">
            <a:avLst/>
          </a:prstGeom>
          <a:solidFill>
            <a:srgbClr val="0D9488">
              <a:alpha val="15000"/>
            </a:srgbClr>
          </a:solidFill>
          <a:ln/>
        </p:spPr>
      </p:sp>
      <p:sp>
        <p:nvSpPr>
          <p:cNvPr id="180" name="Shape 178"/>
          <p:cNvSpPr/>
          <p:nvPr/>
        </p:nvSpPr>
        <p:spPr>
          <a:xfrm>
            <a:off x="8174736" y="3694176"/>
            <a:ext cx="36576" cy="36576"/>
          </a:xfrm>
          <a:prstGeom prst="ellipse">
            <a:avLst/>
          </a:prstGeom>
          <a:solidFill>
            <a:srgbClr val="0D9488">
              <a:alpha val="15000"/>
            </a:srgbClr>
          </a:solidFill>
          <a:ln/>
        </p:spPr>
      </p:sp>
      <p:sp>
        <p:nvSpPr>
          <p:cNvPr id="181" name="Shape 179"/>
          <p:cNvSpPr/>
          <p:nvPr/>
        </p:nvSpPr>
        <p:spPr>
          <a:xfrm>
            <a:off x="8613648" y="3694176"/>
            <a:ext cx="36576" cy="36576"/>
          </a:xfrm>
          <a:prstGeom prst="ellipse">
            <a:avLst/>
          </a:prstGeom>
          <a:solidFill>
            <a:srgbClr val="0D9488">
              <a:alpha val="15000"/>
            </a:srgbClr>
          </a:solidFill>
          <a:ln/>
        </p:spPr>
      </p:sp>
      <p:sp>
        <p:nvSpPr>
          <p:cNvPr id="182" name="Shape 180"/>
          <p:cNvSpPr/>
          <p:nvPr/>
        </p:nvSpPr>
        <p:spPr>
          <a:xfrm>
            <a:off x="274320" y="4133088"/>
            <a:ext cx="36576" cy="36576"/>
          </a:xfrm>
          <a:prstGeom prst="ellipse">
            <a:avLst/>
          </a:prstGeom>
          <a:solidFill>
            <a:srgbClr val="0D9488">
              <a:alpha val="15000"/>
            </a:srgbClr>
          </a:solidFill>
          <a:ln/>
        </p:spPr>
      </p:sp>
      <p:sp>
        <p:nvSpPr>
          <p:cNvPr id="183" name="Shape 181"/>
          <p:cNvSpPr/>
          <p:nvPr/>
        </p:nvSpPr>
        <p:spPr>
          <a:xfrm>
            <a:off x="713232" y="4133088"/>
            <a:ext cx="36576" cy="36576"/>
          </a:xfrm>
          <a:prstGeom prst="ellipse">
            <a:avLst/>
          </a:prstGeom>
          <a:solidFill>
            <a:srgbClr val="0D9488">
              <a:alpha val="15000"/>
            </a:srgbClr>
          </a:solidFill>
          <a:ln/>
        </p:spPr>
      </p:sp>
      <p:sp>
        <p:nvSpPr>
          <p:cNvPr id="184" name="Shape 182"/>
          <p:cNvSpPr/>
          <p:nvPr/>
        </p:nvSpPr>
        <p:spPr>
          <a:xfrm>
            <a:off x="1152144" y="4133088"/>
            <a:ext cx="36576" cy="36576"/>
          </a:xfrm>
          <a:prstGeom prst="ellipse">
            <a:avLst/>
          </a:prstGeom>
          <a:solidFill>
            <a:srgbClr val="0D9488">
              <a:alpha val="15000"/>
            </a:srgbClr>
          </a:solidFill>
          <a:ln/>
        </p:spPr>
      </p:sp>
      <p:sp>
        <p:nvSpPr>
          <p:cNvPr id="185" name="Shape 183"/>
          <p:cNvSpPr/>
          <p:nvPr/>
        </p:nvSpPr>
        <p:spPr>
          <a:xfrm>
            <a:off x="1591056" y="4133088"/>
            <a:ext cx="36576" cy="36576"/>
          </a:xfrm>
          <a:prstGeom prst="ellipse">
            <a:avLst/>
          </a:prstGeom>
          <a:solidFill>
            <a:srgbClr val="0D9488">
              <a:alpha val="15000"/>
            </a:srgbClr>
          </a:solidFill>
          <a:ln/>
        </p:spPr>
      </p:sp>
      <p:sp>
        <p:nvSpPr>
          <p:cNvPr id="186" name="Shape 184"/>
          <p:cNvSpPr/>
          <p:nvPr/>
        </p:nvSpPr>
        <p:spPr>
          <a:xfrm>
            <a:off x="2029968" y="4133088"/>
            <a:ext cx="36576" cy="36576"/>
          </a:xfrm>
          <a:prstGeom prst="ellipse">
            <a:avLst/>
          </a:prstGeom>
          <a:solidFill>
            <a:srgbClr val="0D9488">
              <a:alpha val="15000"/>
            </a:srgbClr>
          </a:solidFill>
          <a:ln/>
        </p:spPr>
      </p:sp>
      <p:sp>
        <p:nvSpPr>
          <p:cNvPr id="187" name="Shape 185"/>
          <p:cNvSpPr/>
          <p:nvPr/>
        </p:nvSpPr>
        <p:spPr>
          <a:xfrm>
            <a:off x="2468880" y="4133088"/>
            <a:ext cx="36576" cy="36576"/>
          </a:xfrm>
          <a:prstGeom prst="ellipse">
            <a:avLst/>
          </a:prstGeom>
          <a:solidFill>
            <a:srgbClr val="0D9488">
              <a:alpha val="15000"/>
            </a:srgbClr>
          </a:solidFill>
          <a:ln/>
        </p:spPr>
      </p:sp>
      <p:sp>
        <p:nvSpPr>
          <p:cNvPr id="188" name="Shape 186"/>
          <p:cNvSpPr/>
          <p:nvPr/>
        </p:nvSpPr>
        <p:spPr>
          <a:xfrm>
            <a:off x="2907792" y="4133088"/>
            <a:ext cx="36576" cy="36576"/>
          </a:xfrm>
          <a:prstGeom prst="ellipse">
            <a:avLst/>
          </a:prstGeom>
          <a:solidFill>
            <a:srgbClr val="0D9488">
              <a:alpha val="15000"/>
            </a:srgbClr>
          </a:solidFill>
          <a:ln/>
        </p:spPr>
      </p:sp>
      <p:sp>
        <p:nvSpPr>
          <p:cNvPr id="189" name="Shape 187"/>
          <p:cNvSpPr/>
          <p:nvPr/>
        </p:nvSpPr>
        <p:spPr>
          <a:xfrm>
            <a:off x="3346704" y="4133088"/>
            <a:ext cx="36576" cy="36576"/>
          </a:xfrm>
          <a:prstGeom prst="ellipse">
            <a:avLst/>
          </a:prstGeom>
          <a:solidFill>
            <a:srgbClr val="0D9488">
              <a:alpha val="15000"/>
            </a:srgbClr>
          </a:solidFill>
          <a:ln/>
        </p:spPr>
      </p:sp>
      <p:sp>
        <p:nvSpPr>
          <p:cNvPr id="190" name="Shape 188"/>
          <p:cNvSpPr/>
          <p:nvPr/>
        </p:nvSpPr>
        <p:spPr>
          <a:xfrm>
            <a:off x="3785616" y="4133088"/>
            <a:ext cx="36576" cy="36576"/>
          </a:xfrm>
          <a:prstGeom prst="ellipse">
            <a:avLst/>
          </a:prstGeom>
          <a:solidFill>
            <a:srgbClr val="0D9488">
              <a:alpha val="15000"/>
            </a:srgbClr>
          </a:solidFill>
          <a:ln/>
        </p:spPr>
      </p:sp>
      <p:sp>
        <p:nvSpPr>
          <p:cNvPr id="191" name="Shape 189"/>
          <p:cNvSpPr/>
          <p:nvPr/>
        </p:nvSpPr>
        <p:spPr>
          <a:xfrm>
            <a:off x="4224528" y="4133088"/>
            <a:ext cx="36576" cy="36576"/>
          </a:xfrm>
          <a:prstGeom prst="ellipse">
            <a:avLst/>
          </a:prstGeom>
          <a:solidFill>
            <a:srgbClr val="0D9488">
              <a:alpha val="15000"/>
            </a:srgbClr>
          </a:solidFill>
          <a:ln/>
        </p:spPr>
      </p:sp>
      <p:sp>
        <p:nvSpPr>
          <p:cNvPr id="192" name="Shape 190"/>
          <p:cNvSpPr/>
          <p:nvPr/>
        </p:nvSpPr>
        <p:spPr>
          <a:xfrm>
            <a:off x="4663440" y="4133088"/>
            <a:ext cx="36576" cy="36576"/>
          </a:xfrm>
          <a:prstGeom prst="ellipse">
            <a:avLst/>
          </a:prstGeom>
          <a:solidFill>
            <a:srgbClr val="0D9488">
              <a:alpha val="15000"/>
            </a:srgbClr>
          </a:solidFill>
          <a:ln/>
        </p:spPr>
      </p:sp>
      <p:sp>
        <p:nvSpPr>
          <p:cNvPr id="193" name="Shape 191"/>
          <p:cNvSpPr/>
          <p:nvPr/>
        </p:nvSpPr>
        <p:spPr>
          <a:xfrm>
            <a:off x="5102352" y="4133088"/>
            <a:ext cx="36576" cy="36576"/>
          </a:xfrm>
          <a:prstGeom prst="ellipse">
            <a:avLst/>
          </a:prstGeom>
          <a:solidFill>
            <a:srgbClr val="0D9488">
              <a:alpha val="15000"/>
            </a:srgbClr>
          </a:solidFill>
          <a:ln/>
        </p:spPr>
      </p:sp>
      <p:sp>
        <p:nvSpPr>
          <p:cNvPr id="194" name="Shape 192"/>
          <p:cNvSpPr/>
          <p:nvPr/>
        </p:nvSpPr>
        <p:spPr>
          <a:xfrm>
            <a:off x="5541264" y="4133088"/>
            <a:ext cx="36576" cy="36576"/>
          </a:xfrm>
          <a:prstGeom prst="ellipse">
            <a:avLst/>
          </a:prstGeom>
          <a:solidFill>
            <a:srgbClr val="0D9488">
              <a:alpha val="15000"/>
            </a:srgbClr>
          </a:solidFill>
          <a:ln/>
        </p:spPr>
      </p:sp>
      <p:sp>
        <p:nvSpPr>
          <p:cNvPr id="195" name="Shape 193"/>
          <p:cNvSpPr/>
          <p:nvPr/>
        </p:nvSpPr>
        <p:spPr>
          <a:xfrm>
            <a:off x="5980176" y="4133088"/>
            <a:ext cx="36576" cy="36576"/>
          </a:xfrm>
          <a:prstGeom prst="ellipse">
            <a:avLst/>
          </a:prstGeom>
          <a:solidFill>
            <a:srgbClr val="0D9488">
              <a:alpha val="15000"/>
            </a:srgbClr>
          </a:solidFill>
          <a:ln/>
        </p:spPr>
      </p:sp>
      <p:sp>
        <p:nvSpPr>
          <p:cNvPr id="196" name="Shape 194"/>
          <p:cNvSpPr/>
          <p:nvPr/>
        </p:nvSpPr>
        <p:spPr>
          <a:xfrm>
            <a:off x="6419088" y="4133088"/>
            <a:ext cx="36576" cy="36576"/>
          </a:xfrm>
          <a:prstGeom prst="ellipse">
            <a:avLst/>
          </a:prstGeom>
          <a:solidFill>
            <a:srgbClr val="0D9488">
              <a:alpha val="15000"/>
            </a:srgbClr>
          </a:solidFill>
          <a:ln/>
        </p:spPr>
      </p:sp>
      <p:sp>
        <p:nvSpPr>
          <p:cNvPr id="197" name="Shape 195"/>
          <p:cNvSpPr/>
          <p:nvPr/>
        </p:nvSpPr>
        <p:spPr>
          <a:xfrm>
            <a:off x="6858000" y="4133088"/>
            <a:ext cx="36576" cy="36576"/>
          </a:xfrm>
          <a:prstGeom prst="ellipse">
            <a:avLst/>
          </a:prstGeom>
          <a:solidFill>
            <a:srgbClr val="0D9488">
              <a:alpha val="15000"/>
            </a:srgbClr>
          </a:solidFill>
          <a:ln/>
        </p:spPr>
      </p:sp>
      <p:sp>
        <p:nvSpPr>
          <p:cNvPr id="198" name="Shape 196"/>
          <p:cNvSpPr/>
          <p:nvPr/>
        </p:nvSpPr>
        <p:spPr>
          <a:xfrm>
            <a:off x="7296912" y="4133088"/>
            <a:ext cx="36576" cy="36576"/>
          </a:xfrm>
          <a:prstGeom prst="ellipse">
            <a:avLst/>
          </a:prstGeom>
          <a:solidFill>
            <a:srgbClr val="0D9488">
              <a:alpha val="15000"/>
            </a:srgbClr>
          </a:solidFill>
          <a:ln/>
        </p:spPr>
      </p:sp>
      <p:sp>
        <p:nvSpPr>
          <p:cNvPr id="199" name="Shape 197"/>
          <p:cNvSpPr/>
          <p:nvPr/>
        </p:nvSpPr>
        <p:spPr>
          <a:xfrm>
            <a:off x="7735824" y="4133088"/>
            <a:ext cx="36576" cy="36576"/>
          </a:xfrm>
          <a:prstGeom prst="ellipse">
            <a:avLst/>
          </a:prstGeom>
          <a:solidFill>
            <a:srgbClr val="0D9488">
              <a:alpha val="15000"/>
            </a:srgbClr>
          </a:solidFill>
          <a:ln/>
        </p:spPr>
      </p:sp>
      <p:sp>
        <p:nvSpPr>
          <p:cNvPr id="200" name="Shape 198"/>
          <p:cNvSpPr/>
          <p:nvPr/>
        </p:nvSpPr>
        <p:spPr>
          <a:xfrm>
            <a:off x="8174736" y="4133088"/>
            <a:ext cx="36576" cy="36576"/>
          </a:xfrm>
          <a:prstGeom prst="ellipse">
            <a:avLst/>
          </a:prstGeom>
          <a:solidFill>
            <a:srgbClr val="0D9488">
              <a:alpha val="15000"/>
            </a:srgbClr>
          </a:solidFill>
          <a:ln/>
        </p:spPr>
      </p:sp>
      <p:sp>
        <p:nvSpPr>
          <p:cNvPr id="201" name="Shape 199"/>
          <p:cNvSpPr/>
          <p:nvPr/>
        </p:nvSpPr>
        <p:spPr>
          <a:xfrm>
            <a:off x="8613648" y="4133088"/>
            <a:ext cx="36576" cy="36576"/>
          </a:xfrm>
          <a:prstGeom prst="ellipse">
            <a:avLst/>
          </a:prstGeom>
          <a:solidFill>
            <a:srgbClr val="0D9488">
              <a:alpha val="15000"/>
            </a:srgbClr>
          </a:solidFill>
          <a:ln/>
        </p:spPr>
      </p:sp>
      <p:sp>
        <p:nvSpPr>
          <p:cNvPr id="202" name="Shape 200"/>
          <p:cNvSpPr/>
          <p:nvPr/>
        </p:nvSpPr>
        <p:spPr>
          <a:xfrm>
            <a:off x="274320" y="4572000"/>
            <a:ext cx="36576" cy="36576"/>
          </a:xfrm>
          <a:prstGeom prst="ellipse">
            <a:avLst/>
          </a:prstGeom>
          <a:solidFill>
            <a:srgbClr val="0D9488">
              <a:alpha val="15000"/>
            </a:srgbClr>
          </a:solidFill>
          <a:ln/>
        </p:spPr>
      </p:sp>
      <p:sp>
        <p:nvSpPr>
          <p:cNvPr id="203" name="Shape 201"/>
          <p:cNvSpPr/>
          <p:nvPr/>
        </p:nvSpPr>
        <p:spPr>
          <a:xfrm>
            <a:off x="713232" y="4572000"/>
            <a:ext cx="36576" cy="36576"/>
          </a:xfrm>
          <a:prstGeom prst="ellipse">
            <a:avLst/>
          </a:prstGeom>
          <a:solidFill>
            <a:srgbClr val="0D9488">
              <a:alpha val="15000"/>
            </a:srgbClr>
          </a:solidFill>
          <a:ln/>
        </p:spPr>
      </p:sp>
      <p:sp>
        <p:nvSpPr>
          <p:cNvPr id="204" name="Shape 202"/>
          <p:cNvSpPr/>
          <p:nvPr/>
        </p:nvSpPr>
        <p:spPr>
          <a:xfrm>
            <a:off x="1152144" y="4572000"/>
            <a:ext cx="36576" cy="36576"/>
          </a:xfrm>
          <a:prstGeom prst="ellipse">
            <a:avLst/>
          </a:prstGeom>
          <a:solidFill>
            <a:srgbClr val="0D9488">
              <a:alpha val="15000"/>
            </a:srgbClr>
          </a:solidFill>
          <a:ln/>
        </p:spPr>
      </p:sp>
      <p:sp>
        <p:nvSpPr>
          <p:cNvPr id="205" name="Shape 203"/>
          <p:cNvSpPr/>
          <p:nvPr/>
        </p:nvSpPr>
        <p:spPr>
          <a:xfrm>
            <a:off x="1591056" y="4572000"/>
            <a:ext cx="36576" cy="36576"/>
          </a:xfrm>
          <a:prstGeom prst="ellipse">
            <a:avLst/>
          </a:prstGeom>
          <a:solidFill>
            <a:srgbClr val="0D9488">
              <a:alpha val="15000"/>
            </a:srgbClr>
          </a:solidFill>
          <a:ln/>
        </p:spPr>
      </p:sp>
      <p:sp>
        <p:nvSpPr>
          <p:cNvPr id="206" name="Shape 204"/>
          <p:cNvSpPr/>
          <p:nvPr/>
        </p:nvSpPr>
        <p:spPr>
          <a:xfrm>
            <a:off x="2029968" y="4572000"/>
            <a:ext cx="36576" cy="36576"/>
          </a:xfrm>
          <a:prstGeom prst="ellipse">
            <a:avLst/>
          </a:prstGeom>
          <a:solidFill>
            <a:srgbClr val="0D9488">
              <a:alpha val="15000"/>
            </a:srgbClr>
          </a:solidFill>
          <a:ln/>
        </p:spPr>
      </p:sp>
      <p:sp>
        <p:nvSpPr>
          <p:cNvPr id="207" name="Shape 205"/>
          <p:cNvSpPr/>
          <p:nvPr/>
        </p:nvSpPr>
        <p:spPr>
          <a:xfrm>
            <a:off x="2468880" y="4572000"/>
            <a:ext cx="36576" cy="36576"/>
          </a:xfrm>
          <a:prstGeom prst="ellipse">
            <a:avLst/>
          </a:prstGeom>
          <a:solidFill>
            <a:srgbClr val="0D9488">
              <a:alpha val="15000"/>
            </a:srgbClr>
          </a:solidFill>
          <a:ln/>
        </p:spPr>
      </p:sp>
      <p:sp>
        <p:nvSpPr>
          <p:cNvPr id="208" name="Shape 206"/>
          <p:cNvSpPr/>
          <p:nvPr/>
        </p:nvSpPr>
        <p:spPr>
          <a:xfrm>
            <a:off x="2907792" y="4572000"/>
            <a:ext cx="36576" cy="36576"/>
          </a:xfrm>
          <a:prstGeom prst="ellipse">
            <a:avLst/>
          </a:prstGeom>
          <a:solidFill>
            <a:srgbClr val="0D9488">
              <a:alpha val="15000"/>
            </a:srgbClr>
          </a:solidFill>
          <a:ln/>
        </p:spPr>
      </p:sp>
      <p:sp>
        <p:nvSpPr>
          <p:cNvPr id="209" name="Shape 207"/>
          <p:cNvSpPr/>
          <p:nvPr/>
        </p:nvSpPr>
        <p:spPr>
          <a:xfrm>
            <a:off x="3346704" y="4572000"/>
            <a:ext cx="36576" cy="36576"/>
          </a:xfrm>
          <a:prstGeom prst="ellipse">
            <a:avLst/>
          </a:prstGeom>
          <a:solidFill>
            <a:srgbClr val="0D9488">
              <a:alpha val="15000"/>
            </a:srgbClr>
          </a:solidFill>
          <a:ln/>
        </p:spPr>
      </p:sp>
      <p:sp>
        <p:nvSpPr>
          <p:cNvPr id="210" name="Shape 208"/>
          <p:cNvSpPr/>
          <p:nvPr/>
        </p:nvSpPr>
        <p:spPr>
          <a:xfrm>
            <a:off x="3785616" y="4572000"/>
            <a:ext cx="36576" cy="36576"/>
          </a:xfrm>
          <a:prstGeom prst="ellipse">
            <a:avLst/>
          </a:prstGeom>
          <a:solidFill>
            <a:srgbClr val="0D9488">
              <a:alpha val="15000"/>
            </a:srgbClr>
          </a:solidFill>
          <a:ln/>
        </p:spPr>
      </p:sp>
      <p:sp>
        <p:nvSpPr>
          <p:cNvPr id="211" name="Shape 209"/>
          <p:cNvSpPr/>
          <p:nvPr/>
        </p:nvSpPr>
        <p:spPr>
          <a:xfrm>
            <a:off x="4224528" y="4572000"/>
            <a:ext cx="36576" cy="36576"/>
          </a:xfrm>
          <a:prstGeom prst="ellipse">
            <a:avLst/>
          </a:prstGeom>
          <a:solidFill>
            <a:srgbClr val="0D9488">
              <a:alpha val="15000"/>
            </a:srgbClr>
          </a:solidFill>
          <a:ln/>
        </p:spPr>
      </p:sp>
      <p:sp>
        <p:nvSpPr>
          <p:cNvPr id="212" name="Shape 210"/>
          <p:cNvSpPr/>
          <p:nvPr/>
        </p:nvSpPr>
        <p:spPr>
          <a:xfrm>
            <a:off x="4663440" y="4572000"/>
            <a:ext cx="36576" cy="36576"/>
          </a:xfrm>
          <a:prstGeom prst="ellipse">
            <a:avLst/>
          </a:prstGeom>
          <a:solidFill>
            <a:srgbClr val="0D9488">
              <a:alpha val="15000"/>
            </a:srgbClr>
          </a:solidFill>
          <a:ln/>
        </p:spPr>
      </p:sp>
      <p:sp>
        <p:nvSpPr>
          <p:cNvPr id="213" name="Shape 211"/>
          <p:cNvSpPr/>
          <p:nvPr/>
        </p:nvSpPr>
        <p:spPr>
          <a:xfrm>
            <a:off x="5102352" y="4572000"/>
            <a:ext cx="36576" cy="36576"/>
          </a:xfrm>
          <a:prstGeom prst="ellipse">
            <a:avLst/>
          </a:prstGeom>
          <a:solidFill>
            <a:srgbClr val="0D9488">
              <a:alpha val="15000"/>
            </a:srgbClr>
          </a:solidFill>
          <a:ln/>
        </p:spPr>
      </p:sp>
      <p:sp>
        <p:nvSpPr>
          <p:cNvPr id="214" name="Shape 212"/>
          <p:cNvSpPr/>
          <p:nvPr/>
        </p:nvSpPr>
        <p:spPr>
          <a:xfrm>
            <a:off x="5541264" y="4572000"/>
            <a:ext cx="36576" cy="36576"/>
          </a:xfrm>
          <a:prstGeom prst="ellipse">
            <a:avLst/>
          </a:prstGeom>
          <a:solidFill>
            <a:srgbClr val="0D9488">
              <a:alpha val="15000"/>
            </a:srgbClr>
          </a:solidFill>
          <a:ln/>
        </p:spPr>
      </p:sp>
      <p:sp>
        <p:nvSpPr>
          <p:cNvPr id="215" name="Shape 213"/>
          <p:cNvSpPr/>
          <p:nvPr/>
        </p:nvSpPr>
        <p:spPr>
          <a:xfrm>
            <a:off x="5980176" y="4572000"/>
            <a:ext cx="36576" cy="36576"/>
          </a:xfrm>
          <a:prstGeom prst="ellipse">
            <a:avLst/>
          </a:prstGeom>
          <a:solidFill>
            <a:srgbClr val="0D9488">
              <a:alpha val="15000"/>
            </a:srgbClr>
          </a:solidFill>
          <a:ln/>
        </p:spPr>
      </p:sp>
      <p:sp>
        <p:nvSpPr>
          <p:cNvPr id="216" name="Shape 214"/>
          <p:cNvSpPr/>
          <p:nvPr/>
        </p:nvSpPr>
        <p:spPr>
          <a:xfrm>
            <a:off x="6419088" y="4572000"/>
            <a:ext cx="36576" cy="36576"/>
          </a:xfrm>
          <a:prstGeom prst="ellipse">
            <a:avLst/>
          </a:prstGeom>
          <a:solidFill>
            <a:srgbClr val="0D9488">
              <a:alpha val="15000"/>
            </a:srgbClr>
          </a:solidFill>
          <a:ln/>
        </p:spPr>
      </p:sp>
      <p:sp>
        <p:nvSpPr>
          <p:cNvPr id="217" name="Shape 215"/>
          <p:cNvSpPr/>
          <p:nvPr/>
        </p:nvSpPr>
        <p:spPr>
          <a:xfrm>
            <a:off x="6858000" y="4572000"/>
            <a:ext cx="36576" cy="36576"/>
          </a:xfrm>
          <a:prstGeom prst="ellipse">
            <a:avLst/>
          </a:prstGeom>
          <a:solidFill>
            <a:srgbClr val="0D9488">
              <a:alpha val="15000"/>
            </a:srgbClr>
          </a:solidFill>
          <a:ln/>
        </p:spPr>
      </p:sp>
      <p:sp>
        <p:nvSpPr>
          <p:cNvPr id="218" name="Shape 216"/>
          <p:cNvSpPr/>
          <p:nvPr/>
        </p:nvSpPr>
        <p:spPr>
          <a:xfrm>
            <a:off x="7296912" y="4572000"/>
            <a:ext cx="36576" cy="36576"/>
          </a:xfrm>
          <a:prstGeom prst="ellipse">
            <a:avLst/>
          </a:prstGeom>
          <a:solidFill>
            <a:srgbClr val="0D9488">
              <a:alpha val="15000"/>
            </a:srgbClr>
          </a:solidFill>
          <a:ln/>
        </p:spPr>
      </p:sp>
      <p:sp>
        <p:nvSpPr>
          <p:cNvPr id="219" name="Shape 217"/>
          <p:cNvSpPr/>
          <p:nvPr/>
        </p:nvSpPr>
        <p:spPr>
          <a:xfrm>
            <a:off x="7735824" y="4572000"/>
            <a:ext cx="36576" cy="36576"/>
          </a:xfrm>
          <a:prstGeom prst="ellipse">
            <a:avLst/>
          </a:prstGeom>
          <a:solidFill>
            <a:srgbClr val="0D9488">
              <a:alpha val="15000"/>
            </a:srgbClr>
          </a:solidFill>
          <a:ln/>
        </p:spPr>
      </p:sp>
      <p:sp>
        <p:nvSpPr>
          <p:cNvPr id="220" name="Shape 218"/>
          <p:cNvSpPr/>
          <p:nvPr/>
        </p:nvSpPr>
        <p:spPr>
          <a:xfrm>
            <a:off x="8174736" y="4572000"/>
            <a:ext cx="36576" cy="36576"/>
          </a:xfrm>
          <a:prstGeom prst="ellipse">
            <a:avLst/>
          </a:prstGeom>
          <a:solidFill>
            <a:srgbClr val="0D9488">
              <a:alpha val="15000"/>
            </a:srgbClr>
          </a:solidFill>
          <a:ln/>
        </p:spPr>
      </p:sp>
      <p:sp>
        <p:nvSpPr>
          <p:cNvPr id="221" name="Shape 219"/>
          <p:cNvSpPr/>
          <p:nvPr/>
        </p:nvSpPr>
        <p:spPr>
          <a:xfrm>
            <a:off x="8613648" y="4572000"/>
            <a:ext cx="36576" cy="36576"/>
          </a:xfrm>
          <a:prstGeom prst="ellipse">
            <a:avLst/>
          </a:prstGeom>
          <a:solidFill>
            <a:srgbClr val="0D9488">
              <a:alpha val="15000"/>
            </a:srgbClr>
          </a:solidFill>
          <a:ln/>
        </p:spPr>
      </p:sp>
      <p:sp>
        <p:nvSpPr>
          <p:cNvPr id="222" name="Shape 220"/>
          <p:cNvSpPr/>
          <p:nvPr/>
        </p:nvSpPr>
        <p:spPr>
          <a:xfrm>
            <a:off x="274320" y="5010912"/>
            <a:ext cx="36576" cy="36576"/>
          </a:xfrm>
          <a:prstGeom prst="ellipse">
            <a:avLst/>
          </a:prstGeom>
          <a:solidFill>
            <a:srgbClr val="0D9488">
              <a:alpha val="15000"/>
            </a:srgbClr>
          </a:solidFill>
          <a:ln/>
        </p:spPr>
      </p:sp>
      <p:sp>
        <p:nvSpPr>
          <p:cNvPr id="223" name="Shape 221"/>
          <p:cNvSpPr/>
          <p:nvPr/>
        </p:nvSpPr>
        <p:spPr>
          <a:xfrm>
            <a:off x="713232" y="5010912"/>
            <a:ext cx="36576" cy="36576"/>
          </a:xfrm>
          <a:prstGeom prst="ellipse">
            <a:avLst/>
          </a:prstGeom>
          <a:solidFill>
            <a:srgbClr val="0D9488">
              <a:alpha val="15000"/>
            </a:srgbClr>
          </a:solidFill>
          <a:ln/>
        </p:spPr>
      </p:sp>
      <p:sp>
        <p:nvSpPr>
          <p:cNvPr id="224" name="Shape 222"/>
          <p:cNvSpPr/>
          <p:nvPr/>
        </p:nvSpPr>
        <p:spPr>
          <a:xfrm>
            <a:off x="1152144" y="5010912"/>
            <a:ext cx="36576" cy="36576"/>
          </a:xfrm>
          <a:prstGeom prst="ellipse">
            <a:avLst/>
          </a:prstGeom>
          <a:solidFill>
            <a:srgbClr val="0D9488">
              <a:alpha val="15000"/>
            </a:srgbClr>
          </a:solidFill>
          <a:ln/>
        </p:spPr>
      </p:sp>
      <p:sp>
        <p:nvSpPr>
          <p:cNvPr id="225" name="Shape 223"/>
          <p:cNvSpPr/>
          <p:nvPr/>
        </p:nvSpPr>
        <p:spPr>
          <a:xfrm>
            <a:off x="1591056" y="5010912"/>
            <a:ext cx="36576" cy="36576"/>
          </a:xfrm>
          <a:prstGeom prst="ellipse">
            <a:avLst/>
          </a:prstGeom>
          <a:solidFill>
            <a:srgbClr val="0D9488">
              <a:alpha val="15000"/>
            </a:srgbClr>
          </a:solidFill>
          <a:ln/>
        </p:spPr>
      </p:sp>
      <p:sp>
        <p:nvSpPr>
          <p:cNvPr id="226" name="Shape 224"/>
          <p:cNvSpPr/>
          <p:nvPr/>
        </p:nvSpPr>
        <p:spPr>
          <a:xfrm>
            <a:off x="2029968" y="5010912"/>
            <a:ext cx="36576" cy="36576"/>
          </a:xfrm>
          <a:prstGeom prst="ellipse">
            <a:avLst/>
          </a:prstGeom>
          <a:solidFill>
            <a:srgbClr val="0D9488">
              <a:alpha val="15000"/>
            </a:srgbClr>
          </a:solidFill>
          <a:ln/>
        </p:spPr>
      </p:sp>
      <p:sp>
        <p:nvSpPr>
          <p:cNvPr id="227" name="Shape 225"/>
          <p:cNvSpPr/>
          <p:nvPr/>
        </p:nvSpPr>
        <p:spPr>
          <a:xfrm>
            <a:off x="2468880" y="5010912"/>
            <a:ext cx="36576" cy="36576"/>
          </a:xfrm>
          <a:prstGeom prst="ellipse">
            <a:avLst/>
          </a:prstGeom>
          <a:solidFill>
            <a:srgbClr val="0D9488">
              <a:alpha val="15000"/>
            </a:srgbClr>
          </a:solidFill>
          <a:ln/>
        </p:spPr>
      </p:sp>
      <p:sp>
        <p:nvSpPr>
          <p:cNvPr id="228" name="Shape 226"/>
          <p:cNvSpPr/>
          <p:nvPr/>
        </p:nvSpPr>
        <p:spPr>
          <a:xfrm>
            <a:off x="2907792" y="5010912"/>
            <a:ext cx="36576" cy="36576"/>
          </a:xfrm>
          <a:prstGeom prst="ellipse">
            <a:avLst/>
          </a:prstGeom>
          <a:solidFill>
            <a:srgbClr val="0D9488">
              <a:alpha val="15000"/>
            </a:srgbClr>
          </a:solidFill>
          <a:ln/>
        </p:spPr>
      </p:sp>
      <p:sp>
        <p:nvSpPr>
          <p:cNvPr id="229" name="Shape 227"/>
          <p:cNvSpPr/>
          <p:nvPr/>
        </p:nvSpPr>
        <p:spPr>
          <a:xfrm>
            <a:off x="3346704" y="5010912"/>
            <a:ext cx="36576" cy="36576"/>
          </a:xfrm>
          <a:prstGeom prst="ellipse">
            <a:avLst/>
          </a:prstGeom>
          <a:solidFill>
            <a:srgbClr val="0D9488">
              <a:alpha val="15000"/>
            </a:srgbClr>
          </a:solidFill>
          <a:ln/>
        </p:spPr>
      </p:sp>
      <p:sp>
        <p:nvSpPr>
          <p:cNvPr id="230" name="Shape 228"/>
          <p:cNvSpPr/>
          <p:nvPr/>
        </p:nvSpPr>
        <p:spPr>
          <a:xfrm>
            <a:off x="3785616" y="5010912"/>
            <a:ext cx="36576" cy="36576"/>
          </a:xfrm>
          <a:prstGeom prst="ellipse">
            <a:avLst/>
          </a:prstGeom>
          <a:solidFill>
            <a:srgbClr val="0D9488">
              <a:alpha val="15000"/>
            </a:srgbClr>
          </a:solidFill>
          <a:ln/>
        </p:spPr>
      </p:sp>
      <p:sp>
        <p:nvSpPr>
          <p:cNvPr id="231" name="Shape 229"/>
          <p:cNvSpPr/>
          <p:nvPr/>
        </p:nvSpPr>
        <p:spPr>
          <a:xfrm>
            <a:off x="4224528" y="5010912"/>
            <a:ext cx="36576" cy="36576"/>
          </a:xfrm>
          <a:prstGeom prst="ellipse">
            <a:avLst/>
          </a:prstGeom>
          <a:solidFill>
            <a:srgbClr val="0D9488">
              <a:alpha val="15000"/>
            </a:srgbClr>
          </a:solidFill>
          <a:ln/>
        </p:spPr>
      </p:sp>
      <p:sp>
        <p:nvSpPr>
          <p:cNvPr id="232" name="Shape 230"/>
          <p:cNvSpPr/>
          <p:nvPr/>
        </p:nvSpPr>
        <p:spPr>
          <a:xfrm>
            <a:off x="4663440" y="5010912"/>
            <a:ext cx="36576" cy="36576"/>
          </a:xfrm>
          <a:prstGeom prst="ellipse">
            <a:avLst/>
          </a:prstGeom>
          <a:solidFill>
            <a:srgbClr val="0D9488">
              <a:alpha val="15000"/>
            </a:srgbClr>
          </a:solidFill>
          <a:ln/>
        </p:spPr>
      </p:sp>
      <p:sp>
        <p:nvSpPr>
          <p:cNvPr id="233" name="Shape 231"/>
          <p:cNvSpPr/>
          <p:nvPr/>
        </p:nvSpPr>
        <p:spPr>
          <a:xfrm>
            <a:off x="5102352" y="5010912"/>
            <a:ext cx="36576" cy="36576"/>
          </a:xfrm>
          <a:prstGeom prst="ellipse">
            <a:avLst/>
          </a:prstGeom>
          <a:solidFill>
            <a:srgbClr val="0D9488">
              <a:alpha val="15000"/>
            </a:srgbClr>
          </a:solidFill>
          <a:ln/>
        </p:spPr>
      </p:sp>
      <p:sp>
        <p:nvSpPr>
          <p:cNvPr id="234" name="Shape 232"/>
          <p:cNvSpPr/>
          <p:nvPr/>
        </p:nvSpPr>
        <p:spPr>
          <a:xfrm>
            <a:off x="5541264" y="5010912"/>
            <a:ext cx="36576" cy="36576"/>
          </a:xfrm>
          <a:prstGeom prst="ellipse">
            <a:avLst/>
          </a:prstGeom>
          <a:solidFill>
            <a:srgbClr val="0D9488">
              <a:alpha val="15000"/>
            </a:srgbClr>
          </a:solidFill>
          <a:ln/>
        </p:spPr>
      </p:sp>
      <p:sp>
        <p:nvSpPr>
          <p:cNvPr id="235" name="Shape 233"/>
          <p:cNvSpPr/>
          <p:nvPr/>
        </p:nvSpPr>
        <p:spPr>
          <a:xfrm>
            <a:off x="5980176" y="5010912"/>
            <a:ext cx="36576" cy="36576"/>
          </a:xfrm>
          <a:prstGeom prst="ellipse">
            <a:avLst/>
          </a:prstGeom>
          <a:solidFill>
            <a:srgbClr val="0D9488">
              <a:alpha val="15000"/>
            </a:srgbClr>
          </a:solidFill>
          <a:ln/>
        </p:spPr>
      </p:sp>
      <p:sp>
        <p:nvSpPr>
          <p:cNvPr id="236" name="Shape 234"/>
          <p:cNvSpPr/>
          <p:nvPr/>
        </p:nvSpPr>
        <p:spPr>
          <a:xfrm>
            <a:off x="6419088" y="5010912"/>
            <a:ext cx="36576" cy="36576"/>
          </a:xfrm>
          <a:prstGeom prst="ellipse">
            <a:avLst/>
          </a:prstGeom>
          <a:solidFill>
            <a:srgbClr val="0D9488">
              <a:alpha val="15000"/>
            </a:srgbClr>
          </a:solidFill>
          <a:ln/>
        </p:spPr>
      </p:sp>
      <p:sp>
        <p:nvSpPr>
          <p:cNvPr id="237" name="Shape 235"/>
          <p:cNvSpPr/>
          <p:nvPr/>
        </p:nvSpPr>
        <p:spPr>
          <a:xfrm>
            <a:off x="6858000" y="5010912"/>
            <a:ext cx="36576" cy="36576"/>
          </a:xfrm>
          <a:prstGeom prst="ellipse">
            <a:avLst/>
          </a:prstGeom>
          <a:solidFill>
            <a:srgbClr val="0D9488">
              <a:alpha val="15000"/>
            </a:srgbClr>
          </a:solidFill>
          <a:ln/>
        </p:spPr>
      </p:sp>
      <p:sp>
        <p:nvSpPr>
          <p:cNvPr id="238" name="Shape 236"/>
          <p:cNvSpPr/>
          <p:nvPr/>
        </p:nvSpPr>
        <p:spPr>
          <a:xfrm>
            <a:off x="7296912" y="5010912"/>
            <a:ext cx="36576" cy="36576"/>
          </a:xfrm>
          <a:prstGeom prst="ellipse">
            <a:avLst/>
          </a:prstGeom>
          <a:solidFill>
            <a:srgbClr val="0D9488">
              <a:alpha val="15000"/>
            </a:srgbClr>
          </a:solidFill>
          <a:ln/>
        </p:spPr>
      </p:sp>
      <p:sp>
        <p:nvSpPr>
          <p:cNvPr id="239" name="Shape 237"/>
          <p:cNvSpPr/>
          <p:nvPr/>
        </p:nvSpPr>
        <p:spPr>
          <a:xfrm>
            <a:off x="7735824" y="5010912"/>
            <a:ext cx="36576" cy="36576"/>
          </a:xfrm>
          <a:prstGeom prst="ellipse">
            <a:avLst/>
          </a:prstGeom>
          <a:solidFill>
            <a:srgbClr val="0D9488">
              <a:alpha val="15000"/>
            </a:srgbClr>
          </a:solidFill>
          <a:ln/>
        </p:spPr>
      </p:sp>
      <p:sp>
        <p:nvSpPr>
          <p:cNvPr id="240" name="Shape 238"/>
          <p:cNvSpPr/>
          <p:nvPr/>
        </p:nvSpPr>
        <p:spPr>
          <a:xfrm>
            <a:off x="8174736" y="5010912"/>
            <a:ext cx="36576" cy="36576"/>
          </a:xfrm>
          <a:prstGeom prst="ellipse">
            <a:avLst/>
          </a:prstGeom>
          <a:solidFill>
            <a:srgbClr val="0D9488">
              <a:alpha val="15000"/>
            </a:srgbClr>
          </a:solidFill>
          <a:ln/>
        </p:spPr>
      </p:sp>
      <p:sp>
        <p:nvSpPr>
          <p:cNvPr id="241" name="Shape 239"/>
          <p:cNvSpPr/>
          <p:nvPr/>
        </p:nvSpPr>
        <p:spPr>
          <a:xfrm>
            <a:off x="8613648" y="5010912"/>
            <a:ext cx="36576" cy="36576"/>
          </a:xfrm>
          <a:prstGeom prst="ellipse">
            <a:avLst/>
          </a:prstGeom>
          <a:solidFill>
            <a:srgbClr val="0D9488">
              <a:alpha val="15000"/>
            </a:srgbClr>
          </a:solidFill>
          <a:ln/>
        </p:spPr>
      </p:sp>
      <p:sp>
        <p:nvSpPr>
          <p:cNvPr id="242" name="Shape 240"/>
          <p:cNvSpPr/>
          <p:nvPr/>
        </p:nvSpPr>
        <p:spPr>
          <a:xfrm>
            <a:off x="0" y="0"/>
            <a:ext cx="54864" cy="5143500"/>
          </a:xfrm>
          <a:prstGeom prst="rect">
            <a:avLst/>
          </a:prstGeom>
          <a:solidFill>
            <a:srgbClr val="0D9488"/>
          </a:solidFill>
          <a:ln/>
        </p:spPr>
      </p:sp>
      <p:pic>
        <p:nvPicPr>
          <p:cNvPr id="243" name="Image 0" descr="preencoded.png">    </p:cNvPr>
          <p:cNvPicPr>
            <a:picLocks noChangeAspect="1"/>
          </p:cNvPicPr>
          <p:nvPr/>
        </p:nvPicPr>
        <p:blipFill>
          <a:blip r:embed="rId1"/>
          <a:stretch>
            <a:fillRect/>
          </a:stretch>
        </p:blipFill>
        <p:spPr>
          <a:xfrm>
            <a:off x="731520" y="1097280"/>
            <a:ext cx="640080" cy="640080"/>
          </a:xfrm>
          <a:prstGeom prst="rect">
            <a:avLst/>
          </a:prstGeom>
        </p:spPr>
      </p:pic>
      <p:sp>
        <p:nvSpPr>
          <p:cNvPr id="244" name="Text 241"/>
          <p:cNvSpPr/>
          <p:nvPr/>
        </p:nvSpPr>
        <p:spPr>
          <a:xfrm>
            <a:off x="1463040" y="1005840"/>
            <a:ext cx="6400800" cy="822960"/>
          </a:xfrm>
          <a:prstGeom prst="rect">
            <a:avLst/>
          </a:prstGeom>
          <a:noFill/>
          <a:ln/>
        </p:spPr>
        <p:txBody>
          <a:bodyPr wrap="square" lIns="0" tIns="0" rIns="0" bIns="0" rtlCol="0" anchor="ctr"/>
          <a:lstStyle/>
          <a:p>
            <a:pPr indent="0" marL="0">
              <a:buNone/>
            </a:pPr>
            <a:r>
              <a:rPr lang="en-US" sz="4400" b="1" dirty="0">
                <a:solidFill>
                  <a:srgbClr val="FFFFFF"/>
                </a:solidFill>
                <a:latin typeface="Trebuchet MS" pitchFamily="34" charset="0"/>
                <a:ea typeface="Trebuchet MS" pitchFamily="34" charset="-122"/>
                <a:cs typeface="Trebuchet MS" pitchFamily="34" charset="-120"/>
              </a:rPr>
              <a:t>EnergyWise UK</a:t>
            </a:r>
            <a:endParaRPr lang="en-US" sz="4400" dirty="0"/>
          </a:p>
        </p:txBody>
      </p:sp>
      <p:sp>
        <p:nvSpPr>
          <p:cNvPr id="245" name="Shape 242"/>
          <p:cNvSpPr/>
          <p:nvPr/>
        </p:nvSpPr>
        <p:spPr>
          <a:xfrm>
            <a:off x="1463040" y="1874520"/>
            <a:ext cx="2286000" cy="36576"/>
          </a:xfrm>
          <a:prstGeom prst="rect">
            <a:avLst/>
          </a:prstGeom>
          <a:solidFill>
            <a:srgbClr val="0D9488"/>
          </a:solidFill>
          <a:ln/>
        </p:spPr>
      </p:sp>
      <p:sp>
        <p:nvSpPr>
          <p:cNvPr id="246" name="Text 243"/>
          <p:cNvSpPr/>
          <p:nvPr/>
        </p:nvSpPr>
        <p:spPr>
          <a:xfrm>
            <a:off x="1463040" y="2103120"/>
            <a:ext cx="6400800" cy="548640"/>
          </a:xfrm>
          <a:prstGeom prst="rect">
            <a:avLst/>
          </a:prstGeom>
          <a:noFill/>
          <a:ln/>
        </p:spPr>
        <p:txBody>
          <a:bodyPr wrap="square" lIns="0" tIns="0" rIns="0" bIns="0" rtlCol="0" anchor="ctr"/>
          <a:lstStyle/>
          <a:p>
            <a:pPr indent="0" marL="0">
              <a:buNone/>
            </a:pPr>
            <a:r>
              <a:rPr lang="en-US" sz="2000" dirty="0">
                <a:solidFill>
                  <a:srgbClr val="CBD5E1"/>
                </a:solidFill>
                <a:latin typeface="Calibri" pitchFamily="34" charset="0"/>
                <a:ea typeface="Calibri" pitchFamily="34" charset="-122"/>
                <a:cs typeface="Calibri" pitchFamily="34" charset="-120"/>
              </a:rPr>
              <a:t>AI-powered energy intelligence for every UK household</a:t>
            </a:r>
            <a:endParaRPr lang="en-US" sz="2000" dirty="0"/>
          </a:p>
        </p:txBody>
      </p:sp>
      <p:sp>
        <p:nvSpPr>
          <p:cNvPr id="247" name="Text 244"/>
          <p:cNvSpPr/>
          <p:nvPr/>
        </p:nvSpPr>
        <p:spPr>
          <a:xfrm>
            <a:off x="1463040" y="3108960"/>
            <a:ext cx="4572000" cy="36576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Venture Spark Programme 2026</a:t>
            </a:r>
            <a:endParaRPr lang="en-US" sz="1400" dirty="0"/>
          </a:p>
        </p:txBody>
      </p:sp>
      <p:sp>
        <p:nvSpPr>
          <p:cNvPr id="248" name="Text 245"/>
          <p:cNvSpPr/>
          <p:nvPr/>
        </p:nvSpPr>
        <p:spPr>
          <a:xfrm>
            <a:off x="1463040" y="3474720"/>
            <a:ext cx="457200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Presented by Ayan Dhar</a:t>
            </a:r>
            <a:endParaRPr lang="en-US" sz="1300" dirty="0"/>
          </a:p>
        </p:txBody>
      </p:sp>
      <p:sp>
        <p:nvSpPr>
          <p:cNvPr id="249" name="Shape 246"/>
          <p:cNvSpPr/>
          <p:nvPr/>
        </p:nvSpPr>
        <p:spPr>
          <a:xfrm>
            <a:off x="0" y="4869180"/>
            <a:ext cx="9144000" cy="274320"/>
          </a:xfrm>
          <a:prstGeom prst="rect">
            <a:avLst/>
          </a:prstGeom>
          <a:solidFill>
            <a:srgbClr val="0D9488">
              <a:alpha val="20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pic>
        <p:nvPicPr>
          <p:cNvPr id="3" name="Image 0" descr="preencoded.png">    </p:cNvPr>
          <p:cNvPicPr>
            <a:picLocks noChangeAspect="1"/>
          </p:cNvPicPr>
          <p:nvPr/>
        </p:nvPicPr>
        <p:blipFill>
          <a:blip r:embed="rId1"/>
          <a:stretch>
            <a:fillRect/>
          </a:stretch>
        </p:blipFill>
        <p:spPr>
          <a:xfrm>
            <a:off x="457200" y="320040"/>
            <a:ext cx="365760" cy="365760"/>
          </a:xfrm>
          <a:prstGeom prst="rect">
            <a:avLst/>
          </a:prstGeom>
        </p:spPr>
      </p:pic>
      <p:sp>
        <p:nvSpPr>
          <p:cNvPr id="4" name="Text 1"/>
          <p:cNvSpPr/>
          <p:nvPr/>
        </p:nvSpPr>
        <p:spPr>
          <a:xfrm>
            <a:off x="914400" y="274320"/>
            <a:ext cx="4572000" cy="50292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The Problem</a:t>
            </a:r>
            <a:endParaRPr lang="en-US" sz="3000" dirty="0"/>
          </a:p>
        </p:txBody>
      </p:sp>
      <p:sp>
        <p:nvSpPr>
          <p:cNvPr id="5" name="Shape 2"/>
          <p:cNvSpPr/>
          <p:nvPr/>
        </p:nvSpPr>
        <p:spPr>
          <a:xfrm>
            <a:off x="457200" y="1051560"/>
            <a:ext cx="2560320" cy="146304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6" name="Shape 3"/>
          <p:cNvSpPr/>
          <p:nvPr/>
        </p:nvSpPr>
        <p:spPr>
          <a:xfrm>
            <a:off x="457200" y="1051560"/>
            <a:ext cx="2560320" cy="54864"/>
          </a:xfrm>
          <a:prstGeom prst="rect">
            <a:avLst/>
          </a:prstGeom>
          <a:solidFill>
            <a:srgbClr val="0D9488"/>
          </a:solidFill>
          <a:ln/>
        </p:spPr>
      </p:sp>
      <p:sp>
        <p:nvSpPr>
          <p:cNvPr id="7" name="Text 4"/>
          <p:cNvSpPr/>
          <p:nvPr/>
        </p:nvSpPr>
        <p:spPr>
          <a:xfrm>
            <a:off x="457200" y="1234440"/>
            <a:ext cx="2560320" cy="594360"/>
          </a:xfrm>
          <a:prstGeom prst="rect">
            <a:avLst/>
          </a:prstGeom>
          <a:noFill/>
          <a:ln/>
        </p:spPr>
        <p:txBody>
          <a:bodyPr wrap="square" lIns="0" tIns="0" rIns="0" bIns="0" rtlCol="0" anchor="ctr"/>
          <a:lstStyle/>
          <a:p>
            <a:pPr algn="ctr" indent="0" marL="0">
              <a:buNone/>
            </a:pPr>
            <a:r>
              <a:rPr lang="en-US" sz="3600" b="1" dirty="0">
                <a:solidFill>
                  <a:srgbClr val="0D9488"/>
                </a:solidFill>
                <a:latin typeface="Trebuchet MS" pitchFamily="34" charset="0"/>
                <a:ea typeface="Trebuchet MS" pitchFamily="34" charset="-122"/>
                <a:cs typeface="Trebuchet MS" pitchFamily="34" charset="-120"/>
              </a:rPr>
              <a:t>80%</a:t>
            </a:r>
            <a:endParaRPr lang="en-US" sz="3600" dirty="0"/>
          </a:p>
        </p:txBody>
      </p:sp>
      <p:sp>
        <p:nvSpPr>
          <p:cNvPr id="8" name="Text 5"/>
          <p:cNvSpPr/>
          <p:nvPr/>
        </p:nvSpPr>
        <p:spPr>
          <a:xfrm>
            <a:off x="640080" y="1874520"/>
            <a:ext cx="2194560" cy="54864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of UK households overpay</a:t>
            </a:r>
            <a:endParaRPr lang="en-US" sz="1200" dirty="0"/>
          </a:p>
          <a:p>
            <a:pPr algn="ctr" indent="0" marL="0">
              <a:buNone/>
            </a:pPr>
            <a:r>
              <a:rPr lang="en-US" sz="1200" dirty="0">
                <a:solidFill>
                  <a:srgbClr val="64748B"/>
                </a:solidFill>
                <a:latin typeface="Calibri" pitchFamily="34" charset="0"/>
                <a:ea typeface="Calibri" pitchFamily="34" charset="-122"/>
                <a:cs typeface="Calibri" pitchFamily="34" charset="-120"/>
              </a:rPr>
              <a:t>on energy bills</a:t>
            </a:r>
            <a:endParaRPr lang="en-US" sz="1200" dirty="0"/>
          </a:p>
        </p:txBody>
      </p:sp>
      <p:sp>
        <p:nvSpPr>
          <p:cNvPr id="9" name="Shape 6"/>
          <p:cNvSpPr/>
          <p:nvPr/>
        </p:nvSpPr>
        <p:spPr>
          <a:xfrm>
            <a:off x="3291840" y="1051560"/>
            <a:ext cx="2560320" cy="146304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0" name="Shape 7"/>
          <p:cNvSpPr/>
          <p:nvPr/>
        </p:nvSpPr>
        <p:spPr>
          <a:xfrm>
            <a:off x="3291840" y="1051560"/>
            <a:ext cx="2560320" cy="54864"/>
          </a:xfrm>
          <a:prstGeom prst="rect">
            <a:avLst/>
          </a:prstGeom>
          <a:solidFill>
            <a:srgbClr val="F59E0B"/>
          </a:solidFill>
          <a:ln/>
        </p:spPr>
      </p:sp>
      <p:sp>
        <p:nvSpPr>
          <p:cNvPr id="11" name="Text 8"/>
          <p:cNvSpPr/>
          <p:nvPr/>
        </p:nvSpPr>
        <p:spPr>
          <a:xfrm>
            <a:off x="3291840" y="1234440"/>
            <a:ext cx="2560320" cy="594360"/>
          </a:xfrm>
          <a:prstGeom prst="rect">
            <a:avLst/>
          </a:prstGeom>
          <a:noFill/>
          <a:ln/>
        </p:spPr>
        <p:txBody>
          <a:bodyPr wrap="square" lIns="0" tIns="0" rIns="0" bIns="0" rtlCol="0" anchor="ctr"/>
          <a:lstStyle/>
          <a:p>
            <a:pPr algn="ctr" indent="0" marL="0">
              <a:buNone/>
            </a:pPr>
            <a:r>
              <a:rPr lang="en-US" sz="3600" b="1" dirty="0">
                <a:solidFill>
                  <a:srgbClr val="F59E0B"/>
                </a:solidFill>
                <a:latin typeface="Trebuchet MS" pitchFamily="34" charset="0"/>
                <a:ea typeface="Trebuchet MS" pitchFamily="34" charset="-122"/>
                <a:cs typeface="Trebuchet MS" pitchFamily="34" charset="-120"/>
              </a:rPr>
              <a:t>£300+</a:t>
            </a:r>
            <a:endParaRPr lang="en-US" sz="3600" dirty="0"/>
          </a:p>
        </p:txBody>
      </p:sp>
      <p:sp>
        <p:nvSpPr>
          <p:cNvPr id="12" name="Text 9"/>
          <p:cNvSpPr/>
          <p:nvPr/>
        </p:nvSpPr>
        <p:spPr>
          <a:xfrm>
            <a:off x="3474720" y="1874520"/>
            <a:ext cx="2194560" cy="54864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average annual overspend</a:t>
            </a:r>
            <a:endParaRPr lang="en-US" sz="1200" dirty="0"/>
          </a:p>
          <a:p>
            <a:pPr algn="ctr" indent="0" marL="0">
              <a:buNone/>
            </a:pPr>
            <a:r>
              <a:rPr lang="en-US" sz="1200" dirty="0">
                <a:solidFill>
                  <a:srgbClr val="64748B"/>
                </a:solidFill>
                <a:latin typeface="Calibri" pitchFamily="34" charset="0"/>
                <a:ea typeface="Calibri" pitchFamily="34" charset="-122"/>
                <a:cs typeface="Calibri" pitchFamily="34" charset="-120"/>
              </a:rPr>
              <a:t>per household</a:t>
            </a:r>
            <a:endParaRPr lang="en-US" sz="1200" dirty="0"/>
          </a:p>
        </p:txBody>
      </p:sp>
      <p:sp>
        <p:nvSpPr>
          <p:cNvPr id="13" name="Shape 10"/>
          <p:cNvSpPr/>
          <p:nvPr/>
        </p:nvSpPr>
        <p:spPr>
          <a:xfrm>
            <a:off x="6126480" y="1051560"/>
            <a:ext cx="2560320" cy="146304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4" name="Shape 11"/>
          <p:cNvSpPr/>
          <p:nvPr/>
        </p:nvSpPr>
        <p:spPr>
          <a:xfrm>
            <a:off x="6126480" y="1051560"/>
            <a:ext cx="2560320" cy="54864"/>
          </a:xfrm>
          <a:prstGeom prst="rect">
            <a:avLst/>
          </a:prstGeom>
          <a:solidFill>
            <a:srgbClr val="0D9488"/>
          </a:solidFill>
          <a:ln/>
        </p:spPr>
      </p:sp>
      <p:sp>
        <p:nvSpPr>
          <p:cNvPr id="15" name="Text 12"/>
          <p:cNvSpPr/>
          <p:nvPr/>
        </p:nvSpPr>
        <p:spPr>
          <a:xfrm>
            <a:off x="6126480" y="1234440"/>
            <a:ext cx="2560320" cy="594360"/>
          </a:xfrm>
          <a:prstGeom prst="rect">
            <a:avLst/>
          </a:prstGeom>
          <a:noFill/>
          <a:ln/>
        </p:spPr>
        <p:txBody>
          <a:bodyPr wrap="square" lIns="0" tIns="0" rIns="0" bIns="0" rtlCol="0" anchor="ctr"/>
          <a:lstStyle/>
          <a:p>
            <a:pPr algn="ctr" indent="0" marL="0">
              <a:buNone/>
            </a:pPr>
            <a:r>
              <a:rPr lang="en-US" sz="3600" b="1" dirty="0">
                <a:solidFill>
                  <a:srgbClr val="0D9488"/>
                </a:solidFill>
                <a:latin typeface="Trebuchet MS" pitchFamily="34" charset="0"/>
                <a:ea typeface="Trebuchet MS" pitchFamily="34" charset="-122"/>
                <a:cs typeface="Trebuchet MS" pitchFamily="34" charset="-120"/>
              </a:rPr>
              <a:t>29M</a:t>
            </a:r>
            <a:endParaRPr lang="en-US" sz="3600" dirty="0"/>
          </a:p>
        </p:txBody>
      </p:sp>
      <p:sp>
        <p:nvSpPr>
          <p:cNvPr id="16" name="Text 13"/>
          <p:cNvSpPr/>
          <p:nvPr/>
        </p:nvSpPr>
        <p:spPr>
          <a:xfrm>
            <a:off x="6309360" y="1874520"/>
            <a:ext cx="2194560" cy="54864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UK households lack</a:t>
            </a:r>
            <a:endParaRPr lang="en-US" sz="1200" dirty="0"/>
          </a:p>
          <a:p>
            <a:pPr algn="ctr" indent="0" marL="0">
              <a:buNone/>
            </a:pPr>
            <a:r>
              <a:rPr lang="en-US" sz="1200" dirty="0">
                <a:solidFill>
                  <a:srgbClr val="64748B"/>
                </a:solidFill>
                <a:latin typeface="Calibri" pitchFamily="34" charset="0"/>
                <a:ea typeface="Calibri" pitchFamily="34" charset="-122"/>
                <a:cs typeface="Calibri" pitchFamily="34" charset="-120"/>
              </a:rPr>
              <a:t>energy visibility</a:t>
            </a:r>
            <a:endParaRPr lang="en-US" sz="1200" dirty="0"/>
          </a:p>
        </p:txBody>
      </p:sp>
      <p:sp>
        <p:nvSpPr>
          <p:cNvPr id="17" name="Shape 14"/>
          <p:cNvSpPr/>
          <p:nvPr/>
        </p:nvSpPr>
        <p:spPr>
          <a:xfrm>
            <a:off x="457200" y="2834640"/>
            <a:ext cx="8229600" cy="9144"/>
          </a:xfrm>
          <a:prstGeom prst="rect">
            <a:avLst/>
          </a:prstGeom>
          <a:solidFill>
            <a:srgbClr val="E2E8F0"/>
          </a:solidFill>
          <a:ln/>
        </p:spPr>
      </p:sp>
      <p:sp>
        <p:nvSpPr>
          <p:cNvPr id="18" name="Text 15"/>
          <p:cNvSpPr/>
          <p:nvPr/>
        </p:nvSpPr>
        <p:spPr>
          <a:xfrm>
            <a:off x="457200" y="3017520"/>
            <a:ext cx="8229600" cy="1280160"/>
          </a:xfrm>
          <a:prstGeom prst="rect">
            <a:avLst/>
          </a:prstGeom>
          <a:noFill/>
          <a:ln/>
        </p:spPr>
        <p:txBody>
          <a:bodyPr wrap="square" lIns="0" tIns="0" rIns="0" bIns="0" rtlCol="0" anchor="ctr"/>
          <a:lstStyle/>
          <a:p>
            <a:pPr indent="0" marL="0">
              <a:lnSpc>
                <a:spcPct val="130000"/>
              </a:lnSpc>
              <a:buNone/>
            </a:pPr>
            <a:r>
              <a:rPr lang="en-US" sz="1300" b="1" dirty="0">
                <a:solidFill>
                  <a:srgbClr val="1E293B"/>
                </a:solidFill>
                <a:latin typeface="Calibri" pitchFamily="34" charset="0"/>
                <a:ea typeface="Calibri" pitchFamily="34" charset="-122"/>
                <a:cs typeface="Calibri" pitchFamily="34" charset="-120"/>
              </a:rPr>
              <a:t>UK energy bills have risen 54% since 2021. </a:t>
            </a:r>
            <a:pPr indent="0" marL="0">
              <a:lnSpc>
                <a:spcPct val="130000"/>
              </a:lnSpc>
              <a:buNone/>
            </a:pPr>
            <a:r>
              <a:rPr lang="en-US" sz="1300" dirty="0">
                <a:solidFill>
                  <a:srgbClr val="1E293B"/>
                </a:solidFill>
                <a:latin typeface="Calibri" pitchFamily="34" charset="0"/>
                <a:ea typeface="Calibri" pitchFamily="34" charset="-122"/>
                <a:cs typeface="Calibri" pitchFamily="34" charset="-120"/>
              </a:rPr>
              <a:t>Yet consumers still receive paper bills with no actionable insight. Most have no idea if they are on the cheapest tariff, how their usage compares, or what their carbon footprint looks like. The problem is not energy cost alone — it is the total absence of accessible, personalised energy intelligence.</a:t>
            </a:r>
            <a:endParaRPr lang="en-US" sz="1300" dirty="0"/>
          </a:p>
        </p:txBody>
      </p:sp>
      <p:sp>
        <p:nvSpPr>
          <p:cNvPr id="19" name="Text 16"/>
          <p:cNvSpPr/>
          <p:nvPr/>
        </p:nvSpPr>
        <p:spPr>
          <a:xfrm>
            <a:off x="457200" y="4389120"/>
            <a:ext cx="8229600" cy="41148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"I have no idea if I'm on a good deal — my bill is just numbers." — UK Consumer Survey, 2025</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pic>
        <p:nvPicPr>
          <p:cNvPr id="3" name="Image 0" descr="preencoded.png">    </p:cNvPr>
          <p:cNvPicPr>
            <a:picLocks noChangeAspect="1"/>
          </p:cNvPicPr>
          <p:nvPr/>
        </p:nvPicPr>
        <p:blipFill>
          <a:blip r:embed="rId1"/>
          <a:stretch>
            <a:fillRect/>
          </a:stretch>
        </p:blipFill>
        <p:spPr>
          <a:xfrm>
            <a:off x="457200" y="320040"/>
            <a:ext cx="365760" cy="365760"/>
          </a:xfrm>
          <a:prstGeom prst="rect">
            <a:avLst/>
          </a:prstGeom>
        </p:spPr>
      </p:pic>
      <p:sp>
        <p:nvSpPr>
          <p:cNvPr id="4" name="Text 1"/>
          <p:cNvSpPr/>
          <p:nvPr/>
        </p:nvSpPr>
        <p:spPr>
          <a:xfrm>
            <a:off x="914400" y="274320"/>
            <a:ext cx="4572000" cy="50292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The Solution</a:t>
            </a:r>
            <a:endParaRPr lang="en-US" sz="3000" dirty="0"/>
          </a:p>
        </p:txBody>
      </p:sp>
      <p:sp>
        <p:nvSpPr>
          <p:cNvPr id="5" name="Text 2"/>
          <p:cNvSpPr/>
          <p:nvPr/>
        </p:nvSpPr>
        <p:spPr>
          <a:xfrm>
            <a:off x="457200" y="1005840"/>
            <a:ext cx="8229600" cy="640080"/>
          </a:xfrm>
          <a:prstGeom prst="rect">
            <a:avLst/>
          </a:prstGeom>
          <a:noFill/>
          <a:ln/>
        </p:spPr>
        <p:txBody>
          <a:bodyPr wrap="square" lIns="0" tIns="0" rIns="0" bIns="0" rtlCol="0" anchor="ctr"/>
          <a:lstStyle/>
          <a:p>
            <a:pPr indent="0" marL="0">
              <a:lnSpc>
                <a:spcPct val="130000"/>
              </a:lnSpc>
              <a:buNone/>
            </a:pPr>
            <a:r>
              <a:rPr lang="en-US" sz="1400" dirty="0">
                <a:solidFill>
                  <a:srgbClr val="1E293B"/>
                </a:solidFill>
                <a:latin typeface="Calibri" pitchFamily="34" charset="0"/>
                <a:ea typeface="Calibri" pitchFamily="34" charset="-122"/>
                <a:cs typeface="Calibri" pitchFamily="34" charset="-120"/>
              </a:rPr>
              <a:t>EnergyWise is an AI-powered energy dashboard that scans your bills, compares tariffs, tracks carbon footprint, and delivers personalised savings advice — all in one place.</a:t>
            </a:r>
            <a:endParaRPr lang="en-US" sz="1400" dirty="0"/>
          </a:p>
        </p:txBody>
      </p:sp>
      <p:sp>
        <p:nvSpPr>
          <p:cNvPr id="6" name="Shape 3"/>
          <p:cNvSpPr/>
          <p:nvPr/>
        </p:nvSpPr>
        <p:spPr>
          <a:xfrm>
            <a:off x="457200" y="1874520"/>
            <a:ext cx="3931920" cy="11887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7" name="Shape 4"/>
          <p:cNvSpPr/>
          <p:nvPr/>
        </p:nvSpPr>
        <p:spPr>
          <a:xfrm>
            <a:off x="457200" y="1874520"/>
            <a:ext cx="54864" cy="1188720"/>
          </a:xfrm>
          <a:prstGeom prst="rect">
            <a:avLst/>
          </a:prstGeom>
          <a:solidFill>
            <a:srgbClr val="0D9488"/>
          </a:solidFill>
          <a:ln/>
        </p:spPr>
      </p:sp>
      <p:pic>
        <p:nvPicPr>
          <p:cNvPr id="8" name="Image 1" descr="preencoded.png">    </p:cNvPr>
          <p:cNvPicPr>
            <a:picLocks noChangeAspect="1"/>
          </p:cNvPicPr>
          <p:nvPr/>
        </p:nvPicPr>
        <p:blipFill>
          <a:blip r:embed="rId2"/>
          <a:stretch>
            <a:fillRect/>
          </a:stretch>
        </p:blipFill>
        <p:spPr>
          <a:xfrm>
            <a:off x="685800" y="2057400"/>
            <a:ext cx="320040" cy="320040"/>
          </a:xfrm>
          <a:prstGeom prst="rect">
            <a:avLst/>
          </a:prstGeom>
        </p:spPr>
      </p:pic>
      <p:sp>
        <p:nvSpPr>
          <p:cNvPr id="9" name="Text 5"/>
          <p:cNvSpPr/>
          <p:nvPr/>
        </p:nvSpPr>
        <p:spPr>
          <a:xfrm>
            <a:off x="1143000" y="2011680"/>
            <a:ext cx="2926080" cy="320040"/>
          </a:xfrm>
          <a:prstGeom prst="rect">
            <a:avLst/>
          </a:prstGeom>
          <a:noFill/>
          <a:ln/>
        </p:spPr>
        <p:txBody>
          <a:bodyPr wrap="square" lIns="0" tIns="0" rIns="0" bIns="0"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AI Bill Scanner</a:t>
            </a:r>
            <a:endParaRPr lang="en-US" sz="1400" dirty="0"/>
          </a:p>
        </p:txBody>
      </p:sp>
      <p:sp>
        <p:nvSpPr>
          <p:cNvPr id="10" name="Text 6"/>
          <p:cNvSpPr/>
          <p:nvPr/>
        </p:nvSpPr>
        <p:spPr>
          <a:xfrm>
            <a:off x="1143000" y="2331720"/>
            <a:ext cx="3017520" cy="594360"/>
          </a:xfrm>
          <a:prstGeom prst="rect">
            <a:avLst/>
          </a:prstGeom>
          <a:noFill/>
          <a:ln/>
        </p:spPr>
        <p:txBody>
          <a:bodyPr wrap="square" lIns="0" tIns="0" rIns="0" bIns="0" rtlCol="0" anchor="ctr"/>
          <a:lstStyle/>
          <a:p>
            <a:pPr indent="0" marL="0">
              <a:lnSpc>
                <a:spcPct val="125000"/>
              </a:lnSpc>
              <a:buNone/>
            </a:pPr>
            <a:r>
              <a:rPr lang="en-US" sz="1100" dirty="0">
                <a:solidFill>
                  <a:srgbClr val="64748B"/>
                </a:solidFill>
                <a:latin typeface="Calibri" pitchFamily="34" charset="0"/>
                <a:ea typeface="Calibri" pitchFamily="34" charset="-122"/>
                <a:cs typeface="Calibri" pitchFamily="34" charset="-120"/>
              </a:rPr>
              <a:t>Upload a bill photo and Gemini AI extracts provider, tariff, usage &amp; cost data instantly.</a:t>
            </a:r>
            <a:endParaRPr lang="en-US" sz="1100" dirty="0"/>
          </a:p>
        </p:txBody>
      </p:sp>
      <p:sp>
        <p:nvSpPr>
          <p:cNvPr id="11" name="Shape 7"/>
          <p:cNvSpPr/>
          <p:nvPr/>
        </p:nvSpPr>
        <p:spPr>
          <a:xfrm>
            <a:off x="4663440" y="1874520"/>
            <a:ext cx="3931920" cy="11887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2" name="Shape 8"/>
          <p:cNvSpPr/>
          <p:nvPr/>
        </p:nvSpPr>
        <p:spPr>
          <a:xfrm>
            <a:off x="4663440" y="1874520"/>
            <a:ext cx="54864" cy="1188720"/>
          </a:xfrm>
          <a:prstGeom prst="rect">
            <a:avLst/>
          </a:prstGeom>
          <a:solidFill>
            <a:srgbClr val="0D9488"/>
          </a:solidFill>
          <a:ln/>
        </p:spPr>
      </p:sp>
      <p:pic>
        <p:nvPicPr>
          <p:cNvPr id="13" name="Image 2" descr="preencoded.png">    </p:cNvPr>
          <p:cNvPicPr>
            <a:picLocks noChangeAspect="1"/>
          </p:cNvPicPr>
          <p:nvPr/>
        </p:nvPicPr>
        <p:blipFill>
          <a:blip r:embed="rId3"/>
          <a:stretch>
            <a:fillRect/>
          </a:stretch>
        </p:blipFill>
        <p:spPr>
          <a:xfrm>
            <a:off x="4892040" y="2057400"/>
            <a:ext cx="320040" cy="320040"/>
          </a:xfrm>
          <a:prstGeom prst="rect">
            <a:avLst/>
          </a:prstGeom>
        </p:spPr>
      </p:pic>
      <p:sp>
        <p:nvSpPr>
          <p:cNvPr id="14" name="Text 9"/>
          <p:cNvSpPr/>
          <p:nvPr/>
        </p:nvSpPr>
        <p:spPr>
          <a:xfrm>
            <a:off x="5349240" y="2011680"/>
            <a:ext cx="2926080" cy="320040"/>
          </a:xfrm>
          <a:prstGeom prst="rect">
            <a:avLst/>
          </a:prstGeom>
          <a:noFill/>
          <a:ln/>
        </p:spPr>
        <p:txBody>
          <a:bodyPr wrap="square" lIns="0" tIns="0" rIns="0" bIns="0"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Usage Analytics</a:t>
            </a:r>
            <a:endParaRPr lang="en-US" sz="1400" dirty="0"/>
          </a:p>
        </p:txBody>
      </p:sp>
      <p:sp>
        <p:nvSpPr>
          <p:cNvPr id="15" name="Text 10"/>
          <p:cNvSpPr/>
          <p:nvPr/>
        </p:nvSpPr>
        <p:spPr>
          <a:xfrm>
            <a:off x="5349240" y="2331720"/>
            <a:ext cx="3017520" cy="594360"/>
          </a:xfrm>
          <a:prstGeom prst="rect">
            <a:avLst/>
          </a:prstGeom>
          <a:noFill/>
          <a:ln/>
        </p:spPr>
        <p:txBody>
          <a:bodyPr wrap="square" lIns="0" tIns="0" rIns="0" bIns="0" rtlCol="0" anchor="ctr"/>
          <a:lstStyle/>
          <a:p>
            <a:pPr indent="0" marL="0">
              <a:lnSpc>
                <a:spcPct val="125000"/>
              </a:lnSpc>
              <a:buNone/>
            </a:pPr>
            <a:r>
              <a:rPr lang="en-US" sz="1100" dirty="0">
                <a:solidFill>
                  <a:srgbClr val="64748B"/>
                </a:solidFill>
                <a:latin typeface="Calibri" pitchFamily="34" charset="0"/>
                <a:ea typeface="Calibri" pitchFamily="34" charset="-122"/>
                <a:cs typeface="Calibri" pitchFamily="34" charset="-120"/>
              </a:rPr>
              <a:t>Interactive charts track electricity and gas consumption trends over time.</a:t>
            </a:r>
            <a:endParaRPr lang="en-US" sz="1100" dirty="0"/>
          </a:p>
        </p:txBody>
      </p:sp>
      <p:sp>
        <p:nvSpPr>
          <p:cNvPr id="16" name="Shape 11"/>
          <p:cNvSpPr/>
          <p:nvPr/>
        </p:nvSpPr>
        <p:spPr>
          <a:xfrm>
            <a:off x="457200" y="3291840"/>
            <a:ext cx="3931920" cy="11887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7" name="Shape 12"/>
          <p:cNvSpPr/>
          <p:nvPr/>
        </p:nvSpPr>
        <p:spPr>
          <a:xfrm>
            <a:off x="457200" y="3291840"/>
            <a:ext cx="54864" cy="1188720"/>
          </a:xfrm>
          <a:prstGeom prst="rect">
            <a:avLst/>
          </a:prstGeom>
          <a:solidFill>
            <a:srgbClr val="0D9488"/>
          </a:solidFill>
          <a:ln/>
        </p:spPr>
      </p:sp>
      <p:pic>
        <p:nvPicPr>
          <p:cNvPr id="18" name="Image 3" descr="preencoded.png">    </p:cNvPr>
          <p:cNvPicPr>
            <a:picLocks noChangeAspect="1"/>
          </p:cNvPicPr>
          <p:nvPr/>
        </p:nvPicPr>
        <p:blipFill>
          <a:blip r:embed="rId4"/>
          <a:stretch>
            <a:fillRect/>
          </a:stretch>
        </p:blipFill>
        <p:spPr>
          <a:xfrm>
            <a:off x="685800" y="3474720"/>
            <a:ext cx="320040" cy="320040"/>
          </a:xfrm>
          <a:prstGeom prst="rect">
            <a:avLst/>
          </a:prstGeom>
        </p:spPr>
      </p:pic>
      <p:sp>
        <p:nvSpPr>
          <p:cNvPr id="19" name="Text 13"/>
          <p:cNvSpPr/>
          <p:nvPr/>
        </p:nvSpPr>
        <p:spPr>
          <a:xfrm>
            <a:off x="1143000" y="3429000"/>
            <a:ext cx="2926080" cy="320040"/>
          </a:xfrm>
          <a:prstGeom prst="rect">
            <a:avLst/>
          </a:prstGeom>
          <a:noFill/>
          <a:ln/>
        </p:spPr>
        <p:txBody>
          <a:bodyPr wrap="square" lIns="0" tIns="0" rIns="0" bIns="0"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EPC &amp; Carbon</a:t>
            </a:r>
            <a:endParaRPr lang="en-US" sz="1400" dirty="0"/>
          </a:p>
        </p:txBody>
      </p:sp>
      <p:sp>
        <p:nvSpPr>
          <p:cNvPr id="20" name="Text 14"/>
          <p:cNvSpPr/>
          <p:nvPr/>
        </p:nvSpPr>
        <p:spPr>
          <a:xfrm>
            <a:off x="1143000" y="3749040"/>
            <a:ext cx="3017520" cy="594360"/>
          </a:xfrm>
          <a:prstGeom prst="rect">
            <a:avLst/>
          </a:prstGeom>
          <a:noFill/>
          <a:ln/>
        </p:spPr>
        <p:txBody>
          <a:bodyPr wrap="square" lIns="0" tIns="0" rIns="0" bIns="0" rtlCol="0" anchor="ctr"/>
          <a:lstStyle/>
          <a:p>
            <a:pPr indent="0" marL="0">
              <a:lnSpc>
                <a:spcPct val="125000"/>
              </a:lnSpc>
              <a:buNone/>
            </a:pPr>
            <a:r>
              <a:rPr lang="en-US" sz="1100" dirty="0">
                <a:solidFill>
                  <a:srgbClr val="64748B"/>
                </a:solidFill>
                <a:latin typeface="Calibri" pitchFamily="34" charset="0"/>
                <a:ea typeface="Calibri" pitchFamily="34" charset="-122"/>
                <a:cs typeface="Calibri" pitchFamily="34" charset="-120"/>
              </a:rPr>
              <a:t>Postcode-based EPC rating lookup and real-time CO₂ emissions tracking.</a:t>
            </a:r>
            <a:endParaRPr lang="en-US" sz="1100" dirty="0"/>
          </a:p>
        </p:txBody>
      </p:sp>
      <p:sp>
        <p:nvSpPr>
          <p:cNvPr id="21" name="Shape 15"/>
          <p:cNvSpPr/>
          <p:nvPr/>
        </p:nvSpPr>
        <p:spPr>
          <a:xfrm>
            <a:off x="4663440" y="3291840"/>
            <a:ext cx="3931920" cy="118872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22" name="Shape 16"/>
          <p:cNvSpPr/>
          <p:nvPr/>
        </p:nvSpPr>
        <p:spPr>
          <a:xfrm>
            <a:off x="4663440" y="3291840"/>
            <a:ext cx="54864" cy="1188720"/>
          </a:xfrm>
          <a:prstGeom prst="rect">
            <a:avLst/>
          </a:prstGeom>
          <a:solidFill>
            <a:srgbClr val="0D9488"/>
          </a:solidFill>
          <a:ln/>
        </p:spPr>
      </p:sp>
      <p:pic>
        <p:nvPicPr>
          <p:cNvPr id="23" name="Image 4" descr="preencoded.png">    </p:cNvPr>
          <p:cNvPicPr>
            <a:picLocks noChangeAspect="1"/>
          </p:cNvPicPr>
          <p:nvPr/>
        </p:nvPicPr>
        <p:blipFill>
          <a:blip r:embed="rId5"/>
          <a:stretch>
            <a:fillRect/>
          </a:stretch>
        </p:blipFill>
        <p:spPr>
          <a:xfrm>
            <a:off x="4892040" y="3474720"/>
            <a:ext cx="320040" cy="320040"/>
          </a:xfrm>
          <a:prstGeom prst="rect">
            <a:avLst/>
          </a:prstGeom>
        </p:spPr>
      </p:pic>
      <p:sp>
        <p:nvSpPr>
          <p:cNvPr id="24" name="Text 17"/>
          <p:cNvSpPr/>
          <p:nvPr/>
        </p:nvSpPr>
        <p:spPr>
          <a:xfrm>
            <a:off x="5349240" y="3429000"/>
            <a:ext cx="2926080" cy="320040"/>
          </a:xfrm>
          <a:prstGeom prst="rect">
            <a:avLst/>
          </a:prstGeom>
          <a:noFill/>
          <a:ln/>
        </p:spPr>
        <p:txBody>
          <a:bodyPr wrap="square" lIns="0" tIns="0" rIns="0" bIns="0"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Tariff Comparison</a:t>
            </a:r>
            <a:endParaRPr lang="en-US" sz="1400" dirty="0"/>
          </a:p>
        </p:txBody>
      </p:sp>
      <p:sp>
        <p:nvSpPr>
          <p:cNvPr id="25" name="Text 18"/>
          <p:cNvSpPr/>
          <p:nvPr/>
        </p:nvSpPr>
        <p:spPr>
          <a:xfrm>
            <a:off x="5349240" y="3749040"/>
            <a:ext cx="3017520" cy="594360"/>
          </a:xfrm>
          <a:prstGeom prst="rect">
            <a:avLst/>
          </a:prstGeom>
          <a:noFill/>
          <a:ln/>
        </p:spPr>
        <p:txBody>
          <a:bodyPr wrap="square" lIns="0" tIns="0" rIns="0" bIns="0" rtlCol="0" anchor="ctr"/>
          <a:lstStyle/>
          <a:p>
            <a:pPr indent="0" marL="0">
              <a:lnSpc>
                <a:spcPct val="125000"/>
              </a:lnSpc>
              <a:buNone/>
            </a:pPr>
            <a:r>
              <a:rPr lang="en-US" sz="1100" dirty="0">
                <a:solidFill>
                  <a:srgbClr val="64748B"/>
                </a:solidFill>
                <a:latin typeface="Calibri" pitchFamily="34" charset="0"/>
                <a:ea typeface="Calibri" pitchFamily="34" charset="-122"/>
                <a:cs typeface="Calibri" pitchFamily="34" charset="-120"/>
              </a:rPr>
              <a:t>Side-by-side comparison of current vs available tariffs to find savings.</a:t>
            </a:r>
            <a:endParaRPr lang="en-US" sz="1100" dirty="0"/>
          </a:p>
        </p:txBody>
      </p:sp>
      <p:sp>
        <p:nvSpPr>
          <p:cNvPr id="26" name="Text 19"/>
          <p:cNvSpPr/>
          <p:nvPr/>
        </p:nvSpPr>
        <p:spPr>
          <a:xfrm>
            <a:off x="457200" y="4663440"/>
            <a:ext cx="8229600" cy="320040"/>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Live Demo: venture-spark-uk.lovable.app</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pic>
        <p:nvPicPr>
          <p:cNvPr id="3" name="Image 0" descr="preencoded.png">    </p:cNvPr>
          <p:cNvPicPr>
            <a:picLocks noChangeAspect="1"/>
          </p:cNvPicPr>
          <p:nvPr/>
        </p:nvPicPr>
        <p:blipFill>
          <a:blip r:embed="rId1"/>
          <a:stretch>
            <a:fillRect/>
          </a:stretch>
        </p:blipFill>
        <p:spPr>
          <a:xfrm>
            <a:off x="457200" y="320040"/>
            <a:ext cx="365760" cy="365760"/>
          </a:xfrm>
          <a:prstGeom prst="rect">
            <a:avLst/>
          </a:prstGeom>
        </p:spPr>
      </p:pic>
      <p:sp>
        <p:nvSpPr>
          <p:cNvPr id="4" name="Text 1"/>
          <p:cNvSpPr/>
          <p:nvPr/>
        </p:nvSpPr>
        <p:spPr>
          <a:xfrm>
            <a:off x="914400" y="274320"/>
            <a:ext cx="4572000" cy="50292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Market Potential</a:t>
            </a:r>
            <a:endParaRPr lang="en-US" sz="3000" dirty="0"/>
          </a:p>
        </p:txBody>
      </p:sp>
      <p:sp>
        <p:nvSpPr>
          <p:cNvPr id="5" name="Shape 2"/>
          <p:cNvSpPr/>
          <p:nvPr/>
        </p:nvSpPr>
        <p:spPr>
          <a:xfrm>
            <a:off x="914400" y="1051560"/>
            <a:ext cx="7315200" cy="1005840"/>
          </a:xfrm>
          <a:prstGeom prst="rect">
            <a:avLst/>
          </a:prstGeom>
          <a:solidFill>
            <a:srgbClr val="0D9488">
              <a:alpha val="25000"/>
            </a:srgbClr>
          </a:solidFill>
          <a:ln/>
        </p:spPr>
      </p:sp>
      <p:sp>
        <p:nvSpPr>
          <p:cNvPr id="6" name="Text 3"/>
          <p:cNvSpPr/>
          <p:nvPr/>
        </p:nvSpPr>
        <p:spPr>
          <a:xfrm>
            <a:off x="1097280" y="1143000"/>
            <a:ext cx="914400"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TAM</a:t>
            </a:r>
            <a:endParaRPr lang="en-US" sz="1100" dirty="0"/>
          </a:p>
        </p:txBody>
      </p:sp>
      <p:sp>
        <p:nvSpPr>
          <p:cNvPr id="7" name="Text 4"/>
          <p:cNvSpPr/>
          <p:nvPr/>
        </p:nvSpPr>
        <p:spPr>
          <a:xfrm>
            <a:off x="1097280" y="1417320"/>
            <a:ext cx="1828800" cy="45720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£8.7B</a:t>
            </a:r>
            <a:endParaRPr lang="en-US" sz="2800" dirty="0"/>
          </a:p>
        </p:txBody>
      </p:sp>
      <p:sp>
        <p:nvSpPr>
          <p:cNvPr id="8" name="Text 5"/>
          <p:cNvSpPr/>
          <p:nvPr/>
        </p:nvSpPr>
        <p:spPr>
          <a:xfrm>
            <a:off x="3200400" y="1325880"/>
            <a:ext cx="457200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UK household energy management market</a:t>
            </a:r>
            <a:endParaRPr lang="en-US" sz="1200" dirty="0"/>
          </a:p>
        </p:txBody>
      </p:sp>
      <p:sp>
        <p:nvSpPr>
          <p:cNvPr id="9" name="Shape 6"/>
          <p:cNvSpPr/>
          <p:nvPr/>
        </p:nvSpPr>
        <p:spPr>
          <a:xfrm>
            <a:off x="2057400" y="2286000"/>
            <a:ext cx="5029200" cy="1005840"/>
          </a:xfrm>
          <a:prstGeom prst="rect">
            <a:avLst/>
          </a:prstGeom>
          <a:solidFill>
            <a:srgbClr val="0D9488">
              <a:alpha val="45000"/>
            </a:srgbClr>
          </a:solidFill>
          <a:ln/>
        </p:spPr>
      </p:sp>
      <p:sp>
        <p:nvSpPr>
          <p:cNvPr id="10" name="Text 7"/>
          <p:cNvSpPr/>
          <p:nvPr/>
        </p:nvSpPr>
        <p:spPr>
          <a:xfrm>
            <a:off x="2240280" y="2377440"/>
            <a:ext cx="914400"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SAM</a:t>
            </a:r>
            <a:endParaRPr lang="en-US" sz="1100" dirty="0"/>
          </a:p>
        </p:txBody>
      </p:sp>
      <p:sp>
        <p:nvSpPr>
          <p:cNvPr id="11" name="Text 8"/>
          <p:cNvSpPr/>
          <p:nvPr/>
        </p:nvSpPr>
        <p:spPr>
          <a:xfrm>
            <a:off x="2240280" y="2651760"/>
            <a:ext cx="1828800" cy="45720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£1.2B</a:t>
            </a:r>
            <a:endParaRPr lang="en-US" sz="2800" dirty="0"/>
          </a:p>
        </p:txBody>
      </p:sp>
      <p:sp>
        <p:nvSpPr>
          <p:cNvPr id="12" name="Text 9"/>
          <p:cNvSpPr/>
          <p:nvPr/>
        </p:nvSpPr>
        <p:spPr>
          <a:xfrm>
            <a:off x="4343400" y="2560320"/>
            <a:ext cx="228600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Digitally-engaged UK households seeking energy tools</a:t>
            </a:r>
            <a:endParaRPr lang="en-US" sz="1200" dirty="0"/>
          </a:p>
        </p:txBody>
      </p:sp>
      <p:sp>
        <p:nvSpPr>
          <p:cNvPr id="13" name="Shape 10"/>
          <p:cNvSpPr/>
          <p:nvPr/>
        </p:nvSpPr>
        <p:spPr>
          <a:xfrm>
            <a:off x="3200400" y="3520440"/>
            <a:ext cx="2743200" cy="1005840"/>
          </a:xfrm>
          <a:prstGeom prst="rect">
            <a:avLst/>
          </a:prstGeom>
          <a:solidFill>
            <a:srgbClr val="0D9488">
              <a:alpha val="80000"/>
            </a:srgbClr>
          </a:solidFill>
          <a:ln/>
        </p:spPr>
      </p:sp>
      <p:sp>
        <p:nvSpPr>
          <p:cNvPr id="14" name="Text 11"/>
          <p:cNvSpPr/>
          <p:nvPr/>
        </p:nvSpPr>
        <p:spPr>
          <a:xfrm>
            <a:off x="3383280" y="3611880"/>
            <a:ext cx="914400"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SOM</a:t>
            </a:r>
            <a:endParaRPr lang="en-US" sz="1100" dirty="0"/>
          </a:p>
        </p:txBody>
      </p:sp>
      <p:sp>
        <p:nvSpPr>
          <p:cNvPr id="15" name="Text 12"/>
          <p:cNvSpPr/>
          <p:nvPr/>
        </p:nvSpPr>
        <p:spPr>
          <a:xfrm>
            <a:off x="3383280" y="3886200"/>
            <a:ext cx="1828800" cy="45720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£24M</a:t>
            </a:r>
            <a:endParaRPr lang="en-US" sz="2800" dirty="0"/>
          </a:p>
        </p:txBody>
      </p:sp>
      <p:sp>
        <p:nvSpPr>
          <p:cNvPr id="16" name="Text 13"/>
          <p:cNvSpPr/>
          <p:nvPr/>
        </p:nvSpPr>
        <p:spPr>
          <a:xfrm>
            <a:off x="5486400" y="3794760"/>
            <a:ext cx="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Year 3 target: 80K subscribers at £25/mo</a:t>
            </a:r>
            <a:endParaRPr lang="en-US" sz="1200" dirty="0"/>
          </a:p>
        </p:txBody>
      </p:sp>
      <p:sp>
        <p:nvSpPr>
          <p:cNvPr id="17" name="Text 14"/>
          <p:cNvSpPr/>
          <p:nvPr/>
        </p:nvSpPr>
        <p:spPr>
          <a:xfrm>
            <a:off x="457200" y="4663440"/>
            <a:ext cx="8229600" cy="320040"/>
          </a:xfrm>
          <a:prstGeom prst="rect">
            <a:avLst/>
          </a:prstGeom>
          <a:noFill/>
          <a:ln/>
        </p:spPr>
        <p:txBody>
          <a:bodyPr wrap="square" lIns="0" tIns="0" rIns="0" bIns="0" rtlCol="0" anchor="ctr"/>
          <a:lstStyle/>
          <a:p>
            <a:pPr indent="0" marL="0">
              <a:buNone/>
            </a:pPr>
            <a:r>
              <a:rPr lang="en-US" sz="1000" i="1" dirty="0">
                <a:solidFill>
                  <a:srgbClr val="94A3B8"/>
                </a:solidFill>
                <a:latin typeface="Calibri" pitchFamily="34" charset="0"/>
                <a:ea typeface="Calibri" pitchFamily="34" charset="-122"/>
                <a:cs typeface="Calibri" pitchFamily="34" charset="-120"/>
              </a:rPr>
              <a:t>Sources: Ofgem, Energy UK, Statista 2025. SOM based on 0.3% penetration of digitally active households.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D9488"/>
          </a:solidFill>
          <a:ln/>
        </p:spPr>
      </p:sp>
      <p:pic>
        <p:nvPicPr>
          <p:cNvPr id="3" name="Image 0" descr="preencoded.png">    </p:cNvPr>
          <p:cNvPicPr>
            <a:picLocks noChangeAspect="1"/>
          </p:cNvPicPr>
          <p:nvPr/>
        </p:nvPicPr>
        <p:blipFill>
          <a:blip r:embed="rId1"/>
          <a:stretch>
            <a:fillRect/>
          </a:stretch>
        </p:blipFill>
        <p:spPr>
          <a:xfrm>
            <a:off x="457200" y="320040"/>
            <a:ext cx="365760" cy="365760"/>
          </a:xfrm>
          <a:prstGeom prst="rect">
            <a:avLst/>
          </a:prstGeom>
        </p:spPr>
      </p:pic>
      <p:sp>
        <p:nvSpPr>
          <p:cNvPr id="4" name="Text 1"/>
          <p:cNvSpPr/>
          <p:nvPr/>
        </p:nvSpPr>
        <p:spPr>
          <a:xfrm>
            <a:off x="914400" y="274320"/>
            <a:ext cx="5486400" cy="502920"/>
          </a:xfrm>
          <a:prstGeom prst="rect">
            <a:avLst/>
          </a:prstGeom>
          <a:noFill/>
          <a:ln/>
        </p:spPr>
        <p:txBody>
          <a:bodyPr wrap="square" lIns="0" tIns="0" rIns="0" bIns="0"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Unique Value Proposition</a:t>
            </a:r>
            <a:endParaRPr lang="en-US" sz="3000" dirty="0"/>
          </a:p>
        </p:txBody>
      </p:sp>
      <p:sp>
        <p:nvSpPr>
          <p:cNvPr id="5" name="Text 2"/>
          <p:cNvSpPr/>
          <p:nvPr/>
        </p:nvSpPr>
        <p:spPr>
          <a:xfrm>
            <a:off x="457200" y="1051560"/>
            <a:ext cx="8229600" cy="640080"/>
          </a:xfrm>
          <a:prstGeom prst="rect">
            <a:avLst/>
          </a:prstGeom>
          <a:noFill/>
          <a:ln/>
        </p:spPr>
        <p:txBody>
          <a:bodyPr wrap="square" lIns="0" tIns="0" rIns="0" bIns="0" rtlCol="0" anchor="ctr"/>
          <a:lstStyle/>
          <a:p>
            <a:pPr indent="0" marL="0">
              <a:lnSpc>
                <a:spcPct val="130000"/>
              </a:lnSpc>
              <a:buNone/>
            </a:pPr>
            <a:r>
              <a:rPr lang="en-US" sz="1500" i="1" dirty="0">
                <a:solidFill>
                  <a:srgbClr val="CBD5E1"/>
                </a:solidFill>
                <a:latin typeface="Calibri" pitchFamily="34" charset="0"/>
                <a:ea typeface="Calibri" pitchFamily="34" charset="-122"/>
                <a:cs typeface="Calibri" pitchFamily="34" charset="-120"/>
              </a:rPr>
              <a:t>"Unlike price-comparison sites that give you a one-off quote, EnergyWise gives you an ongoing, AI-powered energy command centre."</a:t>
            </a:r>
            <a:endParaRPr lang="en-US" sz="1500" dirty="0"/>
          </a:p>
        </p:txBody>
      </p:sp>
      <p:sp>
        <p:nvSpPr>
          <p:cNvPr id="6" name="Shape 3"/>
          <p:cNvSpPr/>
          <p:nvPr/>
        </p:nvSpPr>
        <p:spPr>
          <a:xfrm>
            <a:off x="457200" y="1965960"/>
            <a:ext cx="8229600" cy="777240"/>
          </a:xfrm>
          <a:prstGeom prst="rect">
            <a:avLst/>
          </a:prstGeom>
          <a:solidFill>
            <a:srgbClr val="FFFFFF">
              <a:alpha val="8000"/>
            </a:srgbClr>
          </a:solidFill>
          <a:ln/>
        </p:spPr>
      </p:sp>
      <p:sp>
        <p:nvSpPr>
          <p:cNvPr id="7" name="Text 4"/>
          <p:cNvSpPr/>
          <p:nvPr/>
        </p:nvSpPr>
        <p:spPr>
          <a:xfrm>
            <a:off x="640080" y="2103120"/>
            <a:ext cx="548640" cy="457200"/>
          </a:xfrm>
          <a:prstGeom prst="rect">
            <a:avLst/>
          </a:prstGeom>
          <a:noFill/>
          <a:ln/>
        </p:spPr>
        <p:txBody>
          <a:bodyPr wrap="square" lIns="0" tIns="0" rIns="0" bIns="0" rtlCol="0" anchor="ctr"/>
          <a:lstStyle/>
          <a:p>
            <a:pPr indent="0" marL="0">
              <a:buNone/>
            </a:pPr>
            <a:r>
              <a:rPr lang="en-US" sz="2400" b="1" dirty="0">
                <a:solidFill>
                  <a:srgbClr val="0D9488"/>
                </a:solidFill>
                <a:latin typeface="Trebuchet MS" pitchFamily="34" charset="0"/>
                <a:ea typeface="Trebuchet MS" pitchFamily="34" charset="-122"/>
                <a:cs typeface="Trebuchet MS" pitchFamily="34" charset="-120"/>
              </a:rPr>
              <a:t>01</a:t>
            </a:r>
            <a:endParaRPr lang="en-US" sz="2400" dirty="0"/>
          </a:p>
        </p:txBody>
      </p:sp>
      <p:sp>
        <p:nvSpPr>
          <p:cNvPr id="8" name="Text 5"/>
          <p:cNvSpPr/>
          <p:nvPr/>
        </p:nvSpPr>
        <p:spPr>
          <a:xfrm>
            <a:off x="1280160" y="2039112"/>
            <a:ext cx="2743200" cy="320040"/>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AI-First Intelligence</a:t>
            </a:r>
            <a:endParaRPr lang="en-US" sz="1500" dirty="0"/>
          </a:p>
        </p:txBody>
      </p:sp>
      <p:sp>
        <p:nvSpPr>
          <p:cNvPr id="9" name="Text 6"/>
          <p:cNvSpPr/>
          <p:nvPr/>
        </p:nvSpPr>
        <p:spPr>
          <a:xfrm>
            <a:off x="1280160" y="2350008"/>
            <a:ext cx="7132320" cy="32004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Gemini-powered bill scanning extracts data from photos — no manual entry, no OCR errors.</a:t>
            </a:r>
            <a:endParaRPr lang="en-US" sz="1200" dirty="0"/>
          </a:p>
        </p:txBody>
      </p:sp>
      <p:sp>
        <p:nvSpPr>
          <p:cNvPr id="10" name="Shape 7"/>
          <p:cNvSpPr/>
          <p:nvPr/>
        </p:nvSpPr>
        <p:spPr>
          <a:xfrm>
            <a:off x="457200" y="2926080"/>
            <a:ext cx="8229600" cy="777240"/>
          </a:xfrm>
          <a:prstGeom prst="rect">
            <a:avLst/>
          </a:prstGeom>
          <a:solidFill>
            <a:srgbClr val="FFFFFF">
              <a:alpha val="8000"/>
            </a:srgbClr>
          </a:solidFill>
          <a:ln/>
        </p:spPr>
      </p:sp>
      <p:sp>
        <p:nvSpPr>
          <p:cNvPr id="11" name="Text 8"/>
          <p:cNvSpPr/>
          <p:nvPr/>
        </p:nvSpPr>
        <p:spPr>
          <a:xfrm>
            <a:off x="640080" y="3063240"/>
            <a:ext cx="548640" cy="457200"/>
          </a:xfrm>
          <a:prstGeom prst="rect">
            <a:avLst/>
          </a:prstGeom>
          <a:noFill/>
          <a:ln/>
        </p:spPr>
        <p:txBody>
          <a:bodyPr wrap="square" lIns="0" tIns="0" rIns="0" bIns="0" rtlCol="0" anchor="ctr"/>
          <a:lstStyle/>
          <a:p>
            <a:pPr indent="0" marL="0">
              <a:buNone/>
            </a:pPr>
            <a:r>
              <a:rPr lang="en-US" sz="2400" b="1" dirty="0">
                <a:solidFill>
                  <a:srgbClr val="0D9488"/>
                </a:solidFill>
                <a:latin typeface="Trebuchet MS" pitchFamily="34" charset="0"/>
                <a:ea typeface="Trebuchet MS" pitchFamily="34" charset="-122"/>
                <a:cs typeface="Trebuchet MS" pitchFamily="34" charset="-120"/>
              </a:rPr>
              <a:t>02</a:t>
            </a:r>
            <a:endParaRPr lang="en-US" sz="2400" dirty="0"/>
          </a:p>
        </p:txBody>
      </p:sp>
      <p:sp>
        <p:nvSpPr>
          <p:cNvPr id="12" name="Text 9"/>
          <p:cNvSpPr/>
          <p:nvPr/>
        </p:nvSpPr>
        <p:spPr>
          <a:xfrm>
            <a:off x="1280160" y="2999232"/>
            <a:ext cx="2743200" cy="320040"/>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Holistic Dashboard</a:t>
            </a:r>
            <a:endParaRPr lang="en-US" sz="1500" dirty="0"/>
          </a:p>
        </p:txBody>
      </p:sp>
      <p:sp>
        <p:nvSpPr>
          <p:cNvPr id="13" name="Text 10"/>
          <p:cNvSpPr/>
          <p:nvPr/>
        </p:nvSpPr>
        <p:spPr>
          <a:xfrm>
            <a:off x="1280160" y="3310128"/>
            <a:ext cx="7132320" cy="32004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Usage tracking, tariff comparison, EPC ratings, carbon footprint, and budget tools in one platform.</a:t>
            </a:r>
            <a:endParaRPr lang="en-US" sz="1200" dirty="0"/>
          </a:p>
        </p:txBody>
      </p:sp>
      <p:sp>
        <p:nvSpPr>
          <p:cNvPr id="14" name="Shape 11"/>
          <p:cNvSpPr/>
          <p:nvPr/>
        </p:nvSpPr>
        <p:spPr>
          <a:xfrm>
            <a:off x="457200" y="3886200"/>
            <a:ext cx="8229600" cy="777240"/>
          </a:xfrm>
          <a:prstGeom prst="rect">
            <a:avLst/>
          </a:prstGeom>
          <a:solidFill>
            <a:srgbClr val="FFFFFF">
              <a:alpha val="8000"/>
            </a:srgbClr>
          </a:solidFill>
          <a:ln/>
        </p:spPr>
      </p:sp>
      <p:sp>
        <p:nvSpPr>
          <p:cNvPr id="15" name="Text 12"/>
          <p:cNvSpPr/>
          <p:nvPr/>
        </p:nvSpPr>
        <p:spPr>
          <a:xfrm>
            <a:off x="640080" y="4023360"/>
            <a:ext cx="548640" cy="457200"/>
          </a:xfrm>
          <a:prstGeom prst="rect">
            <a:avLst/>
          </a:prstGeom>
          <a:noFill/>
          <a:ln/>
        </p:spPr>
        <p:txBody>
          <a:bodyPr wrap="square" lIns="0" tIns="0" rIns="0" bIns="0" rtlCol="0" anchor="ctr"/>
          <a:lstStyle/>
          <a:p>
            <a:pPr indent="0" marL="0">
              <a:buNone/>
            </a:pPr>
            <a:r>
              <a:rPr lang="en-US" sz="2400" b="1" dirty="0">
                <a:solidFill>
                  <a:srgbClr val="0D9488"/>
                </a:solidFill>
                <a:latin typeface="Trebuchet MS" pitchFamily="34" charset="0"/>
                <a:ea typeface="Trebuchet MS" pitchFamily="34" charset="-122"/>
                <a:cs typeface="Trebuchet MS" pitchFamily="34" charset="-120"/>
              </a:rPr>
              <a:t>03</a:t>
            </a:r>
            <a:endParaRPr lang="en-US" sz="2400" dirty="0"/>
          </a:p>
        </p:txBody>
      </p:sp>
      <p:sp>
        <p:nvSpPr>
          <p:cNvPr id="16" name="Text 13"/>
          <p:cNvSpPr/>
          <p:nvPr/>
        </p:nvSpPr>
        <p:spPr>
          <a:xfrm>
            <a:off x="1280160" y="3959352"/>
            <a:ext cx="2743200" cy="320040"/>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Personalised &amp; Persistent</a:t>
            </a:r>
            <a:endParaRPr lang="en-US" sz="1500" dirty="0"/>
          </a:p>
        </p:txBody>
      </p:sp>
      <p:sp>
        <p:nvSpPr>
          <p:cNvPr id="17" name="Text 14"/>
          <p:cNvSpPr/>
          <p:nvPr/>
        </p:nvSpPr>
        <p:spPr>
          <a:xfrm>
            <a:off x="1280160" y="4270248"/>
            <a:ext cx="7132320" cy="32004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Learns your household profile over time. Every bill builds a richer picture of your energy story.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pic>
        <p:nvPicPr>
          <p:cNvPr id="3" name="Image 0" descr="preencoded.png">    </p:cNvPr>
          <p:cNvPicPr>
            <a:picLocks noChangeAspect="1"/>
          </p:cNvPicPr>
          <p:nvPr/>
        </p:nvPicPr>
        <p:blipFill>
          <a:blip r:embed="rId1"/>
          <a:stretch>
            <a:fillRect/>
          </a:stretch>
        </p:blipFill>
        <p:spPr>
          <a:xfrm>
            <a:off x="457200" y="320040"/>
            <a:ext cx="365760" cy="365760"/>
          </a:xfrm>
          <a:prstGeom prst="rect">
            <a:avLst/>
          </a:prstGeom>
        </p:spPr>
      </p:pic>
      <p:sp>
        <p:nvSpPr>
          <p:cNvPr id="4" name="Text 1"/>
          <p:cNvSpPr/>
          <p:nvPr/>
        </p:nvSpPr>
        <p:spPr>
          <a:xfrm>
            <a:off x="914400" y="274320"/>
            <a:ext cx="4572000" cy="50292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Business Model</a:t>
            </a:r>
            <a:endParaRPr lang="en-US" sz="3000" dirty="0"/>
          </a:p>
        </p:txBody>
      </p:sp>
      <p:sp>
        <p:nvSpPr>
          <p:cNvPr id="5" name="Shape 2"/>
          <p:cNvSpPr/>
          <p:nvPr/>
        </p:nvSpPr>
        <p:spPr>
          <a:xfrm>
            <a:off x="457200" y="1005840"/>
            <a:ext cx="2651760" cy="292608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6" name="Shape 3"/>
          <p:cNvSpPr/>
          <p:nvPr/>
        </p:nvSpPr>
        <p:spPr>
          <a:xfrm>
            <a:off x="457200" y="1005840"/>
            <a:ext cx="2651760" cy="54864"/>
          </a:xfrm>
          <a:prstGeom prst="rect">
            <a:avLst/>
          </a:prstGeom>
          <a:solidFill>
            <a:srgbClr val="64748B"/>
          </a:solidFill>
          <a:ln/>
        </p:spPr>
      </p:sp>
      <p:sp>
        <p:nvSpPr>
          <p:cNvPr id="7" name="Text 4"/>
          <p:cNvSpPr/>
          <p:nvPr/>
        </p:nvSpPr>
        <p:spPr>
          <a:xfrm>
            <a:off x="457200" y="1188720"/>
            <a:ext cx="2651760" cy="365760"/>
          </a:xfrm>
          <a:prstGeom prst="rect">
            <a:avLst/>
          </a:prstGeom>
          <a:noFill/>
          <a:ln/>
        </p:spPr>
        <p:txBody>
          <a:bodyPr wrap="square" lIns="0" tIns="0" rIns="0" bIns="0" rtlCol="0" anchor="ctr"/>
          <a:lstStyle/>
          <a:p>
            <a:pPr algn="ctr" indent="0" marL="0">
              <a:buNone/>
            </a:pPr>
            <a:r>
              <a:rPr lang="en-US" sz="1600" b="1" dirty="0">
                <a:solidFill>
                  <a:srgbClr val="1E293B"/>
                </a:solidFill>
                <a:latin typeface="Trebuchet MS" pitchFamily="34" charset="0"/>
                <a:ea typeface="Trebuchet MS" pitchFamily="34" charset="-122"/>
                <a:cs typeface="Trebuchet MS" pitchFamily="34" charset="-120"/>
              </a:rPr>
              <a:t>Free Tier</a:t>
            </a:r>
            <a:endParaRPr lang="en-US" sz="1600" dirty="0"/>
          </a:p>
        </p:txBody>
      </p:sp>
      <p:sp>
        <p:nvSpPr>
          <p:cNvPr id="8" name="Text 5"/>
          <p:cNvSpPr/>
          <p:nvPr/>
        </p:nvSpPr>
        <p:spPr>
          <a:xfrm>
            <a:off x="457200" y="1600200"/>
            <a:ext cx="2651760" cy="457200"/>
          </a:xfrm>
          <a:prstGeom prst="rect">
            <a:avLst/>
          </a:prstGeom>
          <a:noFill/>
          <a:ln/>
        </p:spPr>
        <p:txBody>
          <a:bodyPr wrap="square" lIns="0" tIns="0" rIns="0" bIns="0" rtlCol="0" anchor="ctr"/>
          <a:lstStyle/>
          <a:p>
            <a:pPr algn="ctr" indent="0" marL="0">
              <a:buNone/>
            </a:pPr>
            <a:r>
              <a:rPr lang="en-US" sz="2800" b="1" dirty="0">
                <a:solidFill>
                  <a:srgbClr val="64748B"/>
                </a:solidFill>
                <a:latin typeface="Trebuchet MS" pitchFamily="34" charset="0"/>
                <a:ea typeface="Trebuchet MS" pitchFamily="34" charset="-122"/>
                <a:cs typeface="Trebuchet MS" pitchFamily="34" charset="-120"/>
              </a:rPr>
              <a:t>£0/mo</a:t>
            </a:r>
            <a:endParaRPr lang="en-US" sz="2800" dirty="0"/>
          </a:p>
        </p:txBody>
      </p:sp>
      <p:sp>
        <p:nvSpPr>
          <p:cNvPr id="9" name="Shape 6"/>
          <p:cNvSpPr/>
          <p:nvPr/>
        </p:nvSpPr>
        <p:spPr>
          <a:xfrm>
            <a:off x="822960" y="2148840"/>
            <a:ext cx="1920240" cy="9144"/>
          </a:xfrm>
          <a:prstGeom prst="rect">
            <a:avLst/>
          </a:prstGeom>
          <a:solidFill>
            <a:srgbClr val="E2E8F0"/>
          </a:solidFill>
          <a:ln/>
        </p:spPr>
      </p:sp>
      <p:sp>
        <p:nvSpPr>
          <p:cNvPr id="10" name="Text 7"/>
          <p:cNvSpPr/>
          <p:nvPr/>
        </p:nvSpPr>
        <p:spPr>
          <a:xfrm>
            <a:off x="731520" y="2286000"/>
            <a:ext cx="2194560" cy="320040"/>
          </a:xfrm>
          <a:prstGeom prst="rect">
            <a:avLst/>
          </a:prstGeom>
          <a:noFill/>
          <a:ln/>
        </p:spPr>
        <p:txBody>
          <a:bodyPr wrap="square" lIns="0" tIns="0" rIns="0" bIns="0" rtlCol="0" anchor="ctr"/>
          <a:lstStyle/>
          <a:p>
            <a:pPr marL="342900" indent="-342900">
              <a:buSzPct val="100000"/>
              <a:buChar char="•"/>
            </a:pPr>
            <a:r>
              <a:rPr lang="en-US" sz="1100" dirty="0">
                <a:solidFill>
                  <a:srgbClr val="64748B"/>
                </a:solidFill>
                <a:latin typeface="Calibri" pitchFamily="34" charset="0"/>
                <a:ea typeface="Calibri" pitchFamily="34" charset="-122"/>
                <a:cs typeface="Calibri" pitchFamily="34" charset="-120"/>
              </a:rPr>
              <a:t>  Manual bill entry</a:t>
            </a:r>
            <a:endParaRPr lang="en-US" sz="1100" dirty="0"/>
          </a:p>
        </p:txBody>
      </p:sp>
      <p:sp>
        <p:nvSpPr>
          <p:cNvPr id="11" name="Text 8"/>
          <p:cNvSpPr/>
          <p:nvPr/>
        </p:nvSpPr>
        <p:spPr>
          <a:xfrm>
            <a:off x="731520" y="2651760"/>
            <a:ext cx="2194560" cy="320040"/>
          </a:xfrm>
          <a:prstGeom prst="rect">
            <a:avLst/>
          </a:prstGeom>
          <a:noFill/>
          <a:ln/>
        </p:spPr>
        <p:txBody>
          <a:bodyPr wrap="square" lIns="0" tIns="0" rIns="0" bIns="0" rtlCol="0" anchor="ctr"/>
          <a:lstStyle/>
          <a:p>
            <a:pPr marL="342900" indent="-342900">
              <a:buSzPct val="100000"/>
              <a:buChar char="•"/>
            </a:pPr>
            <a:r>
              <a:rPr lang="en-US" sz="1100" dirty="0">
                <a:solidFill>
                  <a:srgbClr val="64748B"/>
                </a:solidFill>
                <a:latin typeface="Calibri" pitchFamily="34" charset="0"/>
                <a:ea typeface="Calibri" pitchFamily="34" charset="-122"/>
                <a:cs typeface="Calibri" pitchFamily="34" charset="-120"/>
              </a:rPr>
              <a:t>  Basic dashboard</a:t>
            </a:r>
            <a:endParaRPr lang="en-US" sz="1100" dirty="0"/>
          </a:p>
        </p:txBody>
      </p:sp>
      <p:sp>
        <p:nvSpPr>
          <p:cNvPr id="12" name="Text 9"/>
          <p:cNvSpPr/>
          <p:nvPr/>
        </p:nvSpPr>
        <p:spPr>
          <a:xfrm>
            <a:off x="731520" y="3017520"/>
            <a:ext cx="2194560" cy="320040"/>
          </a:xfrm>
          <a:prstGeom prst="rect">
            <a:avLst/>
          </a:prstGeom>
          <a:noFill/>
          <a:ln/>
        </p:spPr>
        <p:txBody>
          <a:bodyPr wrap="square" lIns="0" tIns="0" rIns="0" bIns="0" rtlCol="0" anchor="ctr"/>
          <a:lstStyle/>
          <a:p>
            <a:pPr marL="342900" indent="-342900">
              <a:buSzPct val="100000"/>
              <a:buChar char="•"/>
            </a:pPr>
            <a:r>
              <a:rPr lang="en-US" sz="1100" dirty="0">
                <a:solidFill>
                  <a:srgbClr val="64748B"/>
                </a:solidFill>
                <a:latin typeface="Calibri" pitchFamily="34" charset="0"/>
                <a:ea typeface="Calibri" pitchFamily="34" charset="-122"/>
                <a:cs typeface="Calibri" pitchFamily="34" charset="-120"/>
              </a:rPr>
              <a:t>  Savings tips</a:t>
            </a:r>
            <a:endParaRPr lang="en-US" sz="1100" dirty="0"/>
          </a:p>
        </p:txBody>
      </p:sp>
      <p:sp>
        <p:nvSpPr>
          <p:cNvPr id="13" name="Shape 10"/>
          <p:cNvSpPr/>
          <p:nvPr/>
        </p:nvSpPr>
        <p:spPr>
          <a:xfrm>
            <a:off x="3337560" y="1005840"/>
            <a:ext cx="2651760" cy="292608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4" name="Shape 11"/>
          <p:cNvSpPr/>
          <p:nvPr/>
        </p:nvSpPr>
        <p:spPr>
          <a:xfrm>
            <a:off x="3337560" y="1005840"/>
            <a:ext cx="2651760" cy="54864"/>
          </a:xfrm>
          <a:prstGeom prst="rect">
            <a:avLst/>
          </a:prstGeom>
          <a:solidFill>
            <a:srgbClr val="0D9488"/>
          </a:solidFill>
          <a:ln/>
        </p:spPr>
      </p:sp>
      <p:sp>
        <p:nvSpPr>
          <p:cNvPr id="15" name="Text 12"/>
          <p:cNvSpPr/>
          <p:nvPr/>
        </p:nvSpPr>
        <p:spPr>
          <a:xfrm>
            <a:off x="3337560" y="1188720"/>
            <a:ext cx="2651760" cy="365760"/>
          </a:xfrm>
          <a:prstGeom prst="rect">
            <a:avLst/>
          </a:prstGeom>
          <a:noFill/>
          <a:ln/>
        </p:spPr>
        <p:txBody>
          <a:bodyPr wrap="square" lIns="0" tIns="0" rIns="0" bIns="0" rtlCol="0" anchor="ctr"/>
          <a:lstStyle/>
          <a:p>
            <a:pPr algn="ctr" indent="0" marL="0">
              <a:buNone/>
            </a:pPr>
            <a:r>
              <a:rPr lang="en-US" sz="1600" b="1" dirty="0">
                <a:solidFill>
                  <a:srgbClr val="1E293B"/>
                </a:solidFill>
                <a:latin typeface="Trebuchet MS" pitchFamily="34" charset="0"/>
                <a:ea typeface="Trebuchet MS" pitchFamily="34" charset="-122"/>
                <a:cs typeface="Trebuchet MS" pitchFamily="34" charset="-120"/>
              </a:rPr>
              <a:t>Smart</a:t>
            </a:r>
            <a:endParaRPr lang="en-US" sz="1600" dirty="0"/>
          </a:p>
        </p:txBody>
      </p:sp>
      <p:sp>
        <p:nvSpPr>
          <p:cNvPr id="16" name="Text 13"/>
          <p:cNvSpPr/>
          <p:nvPr/>
        </p:nvSpPr>
        <p:spPr>
          <a:xfrm>
            <a:off x="3337560" y="1600200"/>
            <a:ext cx="2651760" cy="457200"/>
          </a:xfrm>
          <a:prstGeom prst="rect">
            <a:avLst/>
          </a:prstGeom>
          <a:noFill/>
          <a:ln/>
        </p:spPr>
        <p:txBody>
          <a:bodyPr wrap="square" lIns="0" tIns="0" rIns="0" bIns="0" rtlCol="0" anchor="ctr"/>
          <a:lstStyle/>
          <a:p>
            <a:pPr algn="ctr" indent="0" marL="0">
              <a:buNone/>
            </a:pPr>
            <a:r>
              <a:rPr lang="en-US" sz="2800" b="1" dirty="0">
                <a:solidFill>
                  <a:srgbClr val="0D9488"/>
                </a:solidFill>
                <a:latin typeface="Trebuchet MS" pitchFamily="34" charset="0"/>
                <a:ea typeface="Trebuchet MS" pitchFamily="34" charset="-122"/>
                <a:cs typeface="Trebuchet MS" pitchFamily="34" charset="-120"/>
              </a:rPr>
              <a:t>£9.99/mo</a:t>
            </a:r>
            <a:endParaRPr lang="en-US" sz="2800" dirty="0"/>
          </a:p>
        </p:txBody>
      </p:sp>
      <p:sp>
        <p:nvSpPr>
          <p:cNvPr id="17" name="Shape 14"/>
          <p:cNvSpPr/>
          <p:nvPr/>
        </p:nvSpPr>
        <p:spPr>
          <a:xfrm>
            <a:off x="3703320" y="2148840"/>
            <a:ext cx="1920240" cy="9144"/>
          </a:xfrm>
          <a:prstGeom prst="rect">
            <a:avLst/>
          </a:prstGeom>
          <a:solidFill>
            <a:srgbClr val="E2E8F0"/>
          </a:solidFill>
          <a:ln/>
        </p:spPr>
      </p:sp>
      <p:sp>
        <p:nvSpPr>
          <p:cNvPr id="18" name="Text 15"/>
          <p:cNvSpPr/>
          <p:nvPr/>
        </p:nvSpPr>
        <p:spPr>
          <a:xfrm>
            <a:off x="3611880" y="2286000"/>
            <a:ext cx="2194560" cy="320040"/>
          </a:xfrm>
          <a:prstGeom prst="rect">
            <a:avLst/>
          </a:prstGeom>
          <a:noFill/>
          <a:ln/>
        </p:spPr>
        <p:txBody>
          <a:bodyPr wrap="square" lIns="0" tIns="0" rIns="0" bIns="0" rtlCol="0" anchor="ctr"/>
          <a:lstStyle/>
          <a:p>
            <a:pPr marL="342900" indent="-342900">
              <a:buSzPct val="100000"/>
              <a:buChar char="•"/>
            </a:pPr>
            <a:r>
              <a:rPr lang="en-US" sz="1100" dirty="0">
                <a:solidFill>
                  <a:srgbClr val="64748B"/>
                </a:solidFill>
                <a:latin typeface="Calibri" pitchFamily="34" charset="0"/>
                <a:ea typeface="Calibri" pitchFamily="34" charset="-122"/>
                <a:cs typeface="Calibri" pitchFamily="34" charset="-120"/>
              </a:rPr>
              <a:t>  AI bill scanning</a:t>
            </a:r>
            <a:endParaRPr lang="en-US" sz="1100" dirty="0"/>
          </a:p>
        </p:txBody>
      </p:sp>
      <p:sp>
        <p:nvSpPr>
          <p:cNvPr id="19" name="Text 16"/>
          <p:cNvSpPr/>
          <p:nvPr/>
        </p:nvSpPr>
        <p:spPr>
          <a:xfrm>
            <a:off x="3611880" y="2651760"/>
            <a:ext cx="2194560" cy="320040"/>
          </a:xfrm>
          <a:prstGeom prst="rect">
            <a:avLst/>
          </a:prstGeom>
          <a:noFill/>
          <a:ln/>
        </p:spPr>
        <p:txBody>
          <a:bodyPr wrap="square" lIns="0" tIns="0" rIns="0" bIns="0" rtlCol="0" anchor="ctr"/>
          <a:lstStyle/>
          <a:p>
            <a:pPr marL="342900" indent="-342900">
              <a:buSzPct val="100000"/>
              <a:buChar char="•"/>
            </a:pPr>
            <a:r>
              <a:rPr lang="en-US" sz="1100" dirty="0">
                <a:solidFill>
                  <a:srgbClr val="64748B"/>
                </a:solidFill>
                <a:latin typeface="Calibri" pitchFamily="34" charset="0"/>
                <a:ea typeface="Calibri" pitchFamily="34" charset="-122"/>
                <a:cs typeface="Calibri" pitchFamily="34" charset="-120"/>
              </a:rPr>
              <a:t>  Tariff comparison</a:t>
            </a:r>
            <a:endParaRPr lang="en-US" sz="1100" dirty="0"/>
          </a:p>
        </p:txBody>
      </p:sp>
      <p:sp>
        <p:nvSpPr>
          <p:cNvPr id="20" name="Text 17"/>
          <p:cNvSpPr/>
          <p:nvPr/>
        </p:nvSpPr>
        <p:spPr>
          <a:xfrm>
            <a:off x="3611880" y="3017520"/>
            <a:ext cx="2194560" cy="320040"/>
          </a:xfrm>
          <a:prstGeom prst="rect">
            <a:avLst/>
          </a:prstGeom>
          <a:noFill/>
          <a:ln/>
        </p:spPr>
        <p:txBody>
          <a:bodyPr wrap="square" lIns="0" tIns="0" rIns="0" bIns="0" rtlCol="0" anchor="ctr"/>
          <a:lstStyle/>
          <a:p>
            <a:pPr marL="342900" indent="-342900">
              <a:buSzPct val="100000"/>
              <a:buChar char="•"/>
            </a:pPr>
            <a:r>
              <a:rPr lang="en-US" sz="1100" dirty="0">
                <a:solidFill>
                  <a:srgbClr val="64748B"/>
                </a:solidFill>
                <a:latin typeface="Calibri" pitchFamily="34" charset="0"/>
                <a:ea typeface="Calibri" pitchFamily="34" charset="-122"/>
                <a:cs typeface="Calibri" pitchFamily="34" charset="-120"/>
              </a:rPr>
              <a:t>  Carbon tracking</a:t>
            </a:r>
            <a:endParaRPr lang="en-US" sz="1100" dirty="0"/>
          </a:p>
        </p:txBody>
      </p:sp>
      <p:sp>
        <p:nvSpPr>
          <p:cNvPr id="21" name="Shape 18"/>
          <p:cNvSpPr/>
          <p:nvPr/>
        </p:nvSpPr>
        <p:spPr>
          <a:xfrm>
            <a:off x="6217920" y="1005840"/>
            <a:ext cx="2651760" cy="292608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22" name="Shape 19"/>
          <p:cNvSpPr/>
          <p:nvPr/>
        </p:nvSpPr>
        <p:spPr>
          <a:xfrm>
            <a:off x="6217920" y="1005840"/>
            <a:ext cx="2651760" cy="54864"/>
          </a:xfrm>
          <a:prstGeom prst="rect">
            <a:avLst/>
          </a:prstGeom>
          <a:solidFill>
            <a:srgbClr val="F59E0B"/>
          </a:solidFill>
          <a:ln/>
        </p:spPr>
      </p:sp>
      <p:sp>
        <p:nvSpPr>
          <p:cNvPr id="23" name="Text 20"/>
          <p:cNvSpPr/>
          <p:nvPr/>
        </p:nvSpPr>
        <p:spPr>
          <a:xfrm>
            <a:off x="6217920" y="1188720"/>
            <a:ext cx="2651760" cy="365760"/>
          </a:xfrm>
          <a:prstGeom prst="rect">
            <a:avLst/>
          </a:prstGeom>
          <a:noFill/>
          <a:ln/>
        </p:spPr>
        <p:txBody>
          <a:bodyPr wrap="square" lIns="0" tIns="0" rIns="0" bIns="0" rtlCol="0" anchor="ctr"/>
          <a:lstStyle/>
          <a:p>
            <a:pPr algn="ctr" indent="0" marL="0">
              <a:buNone/>
            </a:pPr>
            <a:r>
              <a:rPr lang="en-US" sz="1600" b="1" dirty="0">
                <a:solidFill>
                  <a:srgbClr val="1E293B"/>
                </a:solidFill>
                <a:latin typeface="Trebuchet MS" pitchFamily="34" charset="0"/>
                <a:ea typeface="Trebuchet MS" pitchFamily="34" charset="-122"/>
                <a:cs typeface="Trebuchet MS" pitchFamily="34" charset="-120"/>
              </a:rPr>
              <a:t>Pro</a:t>
            </a:r>
            <a:endParaRPr lang="en-US" sz="1600" dirty="0"/>
          </a:p>
        </p:txBody>
      </p:sp>
      <p:sp>
        <p:nvSpPr>
          <p:cNvPr id="24" name="Text 21"/>
          <p:cNvSpPr/>
          <p:nvPr/>
        </p:nvSpPr>
        <p:spPr>
          <a:xfrm>
            <a:off x="6217920" y="1600200"/>
            <a:ext cx="2651760" cy="457200"/>
          </a:xfrm>
          <a:prstGeom prst="rect">
            <a:avLst/>
          </a:prstGeom>
          <a:noFill/>
          <a:ln/>
        </p:spPr>
        <p:txBody>
          <a:bodyPr wrap="square" lIns="0" tIns="0" rIns="0" bIns="0" rtlCol="0" anchor="ctr"/>
          <a:lstStyle/>
          <a:p>
            <a:pPr algn="ctr" indent="0" marL="0">
              <a:buNone/>
            </a:pPr>
            <a:r>
              <a:rPr lang="en-US" sz="2800" b="1" dirty="0">
                <a:solidFill>
                  <a:srgbClr val="F59E0B"/>
                </a:solidFill>
                <a:latin typeface="Trebuchet MS" pitchFamily="34" charset="0"/>
                <a:ea typeface="Trebuchet MS" pitchFamily="34" charset="-122"/>
                <a:cs typeface="Trebuchet MS" pitchFamily="34" charset="-120"/>
              </a:rPr>
              <a:t>£24.99/mo</a:t>
            </a:r>
            <a:endParaRPr lang="en-US" sz="2800" dirty="0"/>
          </a:p>
        </p:txBody>
      </p:sp>
      <p:sp>
        <p:nvSpPr>
          <p:cNvPr id="25" name="Shape 22"/>
          <p:cNvSpPr/>
          <p:nvPr/>
        </p:nvSpPr>
        <p:spPr>
          <a:xfrm>
            <a:off x="6583680" y="2148840"/>
            <a:ext cx="1920240" cy="9144"/>
          </a:xfrm>
          <a:prstGeom prst="rect">
            <a:avLst/>
          </a:prstGeom>
          <a:solidFill>
            <a:srgbClr val="E2E8F0"/>
          </a:solidFill>
          <a:ln/>
        </p:spPr>
      </p:sp>
      <p:sp>
        <p:nvSpPr>
          <p:cNvPr id="26" name="Text 23"/>
          <p:cNvSpPr/>
          <p:nvPr/>
        </p:nvSpPr>
        <p:spPr>
          <a:xfrm>
            <a:off x="6492240" y="2286000"/>
            <a:ext cx="2194560" cy="320040"/>
          </a:xfrm>
          <a:prstGeom prst="rect">
            <a:avLst/>
          </a:prstGeom>
          <a:noFill/>
          <a:ln/>
        </p:spPr>
        <p:txBody>
          <a:bodyPr wrap="square" lIns="0" tIns="0" rIns="0" bIns="0" rtlCol="0" anchor="ctr"/>
          <a:lstStyle/>
          <a:p>
            <a:pPr marL="342900" indent="-342900">
              <a:buSzPct val="100000"/>
              <a:buChar char="•"/>
            </a:pPr>
            <a:r>
              <a:rPr lang="en-US" sz="1100" dirty="0">
                <a:solidFill>
                  <a:srgbClr val="64748B"/>
                </a:solidFill>
                <a:latin typeface="Calibri" pitchFamily="34" charset="0"/>
                <a:ea typeface="Calibri" pitchFamily="34" charset="-122"/>
                <a:cs typeface="Calibri" pitchFamily="34" charset="-120"/>
              </a:rPr>
              <a:t>  Unlimited scans</a:t>
            </a:r>
            <a:endParaRPr lang="en-US" sz="1100" dirty="0"/>
          </a:p>
        </p:txBody>
      </p:sp>
      <p:sp>
        <p:nvSpPr>
          <p:cNvPr id="27" name="Text 24"/>
          <p:cNvSpPr/>
          <p:nvPr/>
        </p:nvSpPr>
        <p:spPr>
          <a:xfrm>
            <a:off x="6492240" y="2651760"/>
            <a:ext cx="2194560" cy="320040"/>
          </a:xfrm>
          <a:prstGeom prst="rect">
            <a:avLst/>
          </a:prstGeom>
          <a:noFill/>
          <a:ln/>
        </p:spPr>
        <p:txBody>
          <a:bodyPr wrap="square" lIns="0" tIns="0" rIns="0" bIns="0" rtlCol="0" anchor="ctr"/>
          <a:lstStyle/>
          <a:p>
            <a:pPr marL="342900" indent="-342900">
              <a:buSzPct val="100000"/>
              <a:buChar char="•"/>
            </a:pPr>
            <a:r>
              <a:rPr lang="en-US" sz="1100" dirty="0">
                <a:solidFill>
                  <a:srgbClr val="64748B"/>
                </a:solidFill>
                <a:latin typeface="Calibri" pitchFamily="34" charset="0"/>
                <a:ea typeface="Calibri" pitchFamily="34" charset="-122"/>
                <a:cs typeface="Calibri" pitchFamily="34" charset="-120"/>
              </a:rPr>
              <a:t>  Household profiles</a:t>
            </a:r>
            <a:endParaRPr lang="en-US" sz="1100" dirty="0"/>
          </a:p>
        </p:txBody>
      </p:sp>
      <p:sp>
        <p:nvSpPr>
          <p:cNvPr id="28" name="Text 25"/>
          <p:cNvSpPr/>
          <p:nvPr/>
        </p:nvSpPr>
        <p:spPr>
          <a:xfrm>
            <a:off x="6492240" y="3017520"/>
            <a:ext cx="2194560" cy="320040"/>
          </a:xfrm>
          <a:prstGeom prst="rect">
            <a:avLst/>
          </a:prstGeom>
          <a:noFill/>
          <a:ln/>
        </p:spPr>
        <p:txBody>
          <a:bodyPr wrap="square" lIns="0" tIns="0" rIns="0" bIns="0" rtlCol="0" anchor="ctr"/>
          <a:lstStyle/>
          <a:p>
            <a:pPr marL="342900" indent="-342900">
              <a:buSzPct val="100000"/>
              <a:buChar char="•"/>
            </a:pPr>
            <a:r>
              <a:rPr lang="en-US" sz="1100" dirty="0">
                <a:solidFill>
                  <a:srgbClr val="64748B"/>
                </a:solidFill>
                <a:latin typeface="Calibri" pitchFamily="34" charset="0"/>
                <a:ea typeface="Calibri" pitchFamily="34" charset="-122"/>
                <a:cs typeface="Calibri" pitchFamily="34" charset="-120"/>
              </a:rPr>
              <a:t>  Priority support</a:t>
            </a:r>
            <a:endParaRPr lang="en-US" sz="1100" dirty="0"/>
          </a:p>
        </p:txBody>
      </p:sp>
      <p:sp>
        <p:nvSpPr>
          <p:cNvPr id="29" name="Text 26"/>
          <p:cNvSpPr/>
          <p:nvPr/>
        </p:nvSpPr>
        <p:spPr>
          <a:xfrm>
            <a:off x="6492240" y="3383280"/>
            <a:ext cx="2194560" cy="320040"/>
          </a:xfrm>
          <a:prstGeom prst="rect">
            <a:avLst/>
          </a:prstGeom>
          <a:noFill/>
          <a:ln/>
        </p:spPr>
        <p:txBody>
          <a:bodyPr wrap="square" lIns="0" tIns="0" rIns="0" bIns="0" rtlCol="0" anchor="ctr"/>
          <a:lstStyle/>
          <a:p>
            <a:pPr marL="342900" indent="-342900">
              <a:buSzPct val="100000"/>
              <a:buChar char="•"/>
            </a:pPr>
            <a:r>
              <a:rPr lang="en-US" sz="1100" dirty="0">
                <a:solidFill>
                  <a:srgbClr val="64748B"/>
                </a:solidFill>
                <a:latin typeface="Calibri" pitchFamily="34" charset="0"/>
                <a:ea typeface="Calibri" pitchFamily="34" charset="-122"/>
                <a:cs typeface="Calibri" pitchFamily="34" charset="-120"/>
              </a:rPr>
              <a:t>  API access</a:t>
            </a:r>
            <a:endParaRPr lang="en-US" sz="1100" dirty="0"/>
          </a:p>
        </p:txBody>
      </p:sp>
      <p:sp>
        <p:nvSpPr>
          <p:cNvPr id="30" name="Text 27"/>
          <p:cNvSpPr/>
          <p:nvPr/>
        </p:nvSpPr>
        <p:spPr>
          <a:xfrm>
            <a:off x="457200" y="4206240"/>
            <a:ext cx="8229600" cy="457200"/>
          </a:xfrm>
          <a:prstGeom prst="rect">
            <a:avLst/>
          </a:prstGeom>
          <a:noFill/>
          <a:ln/>
        </p:spPr>
        <p:txBody>
          <a:bodyPr wrap="square" lIns="0" tIns="0" rIns="0" bIns="0" rtlCol="0" anchor="ctr"/>
          <a:lstStyle/>
          <a:p>
            <a:pPr indent="0" marL="0">
              <a:lnSpc>
                <a:spcPct val="130000"/>
              </a:lnSpc>
              <a:buNone/>
            </a:pPr>
            <a:r>
              <a:rPr lang="en-US" sz="1200" dirty="0">
                <a:solidFill>
                  <a:srgbClr val="64748B"/>
                </a:solidFill>
                <a:latin typeface="Calibri" pitchFamily="34" charset="0"/>
                <a:ea typeface="Calibri" pitchFamily="34" charset="-122"/>
                <a:cs typeface="Calibri" pitchFamily="34" charset="-120"/>
              </a:rPr>
              <a:t>Revenue mix: 70% subscriptions, 20% affiliate commissions from energy switching, 10% data insights (anonymised).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pic>
        <p:nvPicPr>
          <p:cNvPr id="3" name="Image 0" descr="preencoded.png">    </p:cNvPr>
          <p:cNvPicPr>
            <a:picLocks noChangeAspect="1"/>
          </p:cNvPicPr>
          <p:nvPr/>
        </p:nvPicPr>
        <p:blipFill>
          <a:blip r:embed="rId1"/>
          <a:stretch>
            <a:fillRect/>
          </a:stretch>
        </p:blipFill>
        <p:spPr>
          <a:xfrm>
            <a:off x="457200" y="320040"/>
            <a:ext cx="365760" cy="365760"/>
          </a:xfrm>
          <a:prstGeom prst="rect">
            <a:avLst/>
          </a:prstGeom>
        </p:spPr>
      </p:pic>
      <p:sp>
        <p:nvSpPr>
          <p:cNvPr id="4" name="Text 1"/>
          <p:cNvSpPr/>
          <p:nvPr/>
        </p:nvSpPr>
        <p:spPr>
          <a:xfrm>
            <a:off x="914400" y="274320"/>
            <a:ext cx="5486400" cy="50292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Go-to-Market Strategy</a:t>
            </a:r>
            <a:endParaRPr lang="en-US" sz="3000" dirty="0"/>
          </a:p>
        </p:txBody>
      </p:sp>
      <p:sp>
        <p:nvSpPr>
          <p:cNvPr id="5" name="Shape 2"/>
          <p:cNvSpPr/>
          <p:nvPr/>
        </p:nvSpPr>
        <p:spPr>
          <a:xfrm>
            <a:off x="457200" y="1051560"/>
            <a:ext cx="8229600" cy="105156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6" name="Shape 3"/>
          <p:cNvSpPr/>
          <p:nvPr/>
        </p:nvSpPr>
        <p:spPr>
          <a:xfrm>
            <a:off x="457200" y="1051560"/>
            <a:ext cx="54864" cy="1051560"/>
          </a:xfrm>
          <a:prstGeom prst="rect">
            <a:avLst/>
          </a:prstGeom>
          <a:solidFill>
            <a:srgbClr val="0D9488"/>
          </a:solidFill>
          <a:ln/>
        </p:spPr>
      </p:sp>
      <p:pic>
        <p:nvPicPr>
          <p:cNvPr id="7" name="Image 1" descr="preencoded.png">    </p:cNvPr>
          <p:cNvPicPr>
            <a:picLocks noChangeAspect="1"/>
          </p:cNvPicPr>
          <p:nvPr/>
        </p:nvPicPr>
        <p:blipFill>
          <a:blip r:embed="rId2"/>
          <a:stretch>
            <a:fillRect/>
          </a:stretch>
        </p:blipFill>
        <p:spPr>
          <a:xfrm>
            <a:off x="731520" y="1188720"/>
            <a:ext cx="365760" cy="365760"/>
          </a:xfrm>
          <a:prstGeom prst="rect">
            <a:avLst/>
          </a:prstGeom>
        </p:spPr>
      </p:pic>
      <p:sp>
        <p:nvSpPr>
          <p:cNvPr id="8" name="Text 4"/>
          <p:cNvSpPr/>
          <p:nvPr/>
        </p:nvSpPr>
        <p:spPr>
          <a:xfrm>
            <a:off x="1280160" y="1143000"/>
            <a:ext cx="3657600" cy="320040"/>
          </a:xfrm>
          <a:prstGeom prst="rect">
            <a:avLst/>
          </a:prstGeom>
          <a:noFill/>
          <a:ln/>
        </p:spPr>
        <p:txBody>
          <a:bodyPr wrap="square" lIns="0" tIns="0" rIns="0" bIns="0" rtlCol="0" anchor="ctr"/>
          <a:lstStyle/>
          <a:p>
            <a:pPr indent="0" marL="0">
              <a:buNone/>
            </a:pPr>
            <a:r>
              <a:rPr lang="en-US" sz="1500" b="1" dirty="0">
                <a:solidFill>
                  <a:srgbClr val="1E293B"/>
                </a:solidFill>
                <a:latin typeface="Trebuchet MS" pitchFamily="34" charset="0"/>
                <a:ea typeface="Trebuchet MS" pitchFamily="34" charset="-122"/>
                <a:cs typeface="Trebuchet MS" pitchFamily="34" charset="-120"/>
              </a:rPr>
              <a:t>Content &amp; SEO</a:t>
            </a:r>
            <a:endParaRPr lang="en-US" sz="1500" dirty="0"/>
          </a:p>
        </p:txBody>
      </p:sp>
      <p:sp>
        <p:nvSpPr>
          <p:cNvPr id="9" name="Text 5"/>
          <p:cNvSpPr/>
          <p:nvPr/>
        </p:nvSpPr>
        <p:spPr>
          <a:xfrm>
            <a:off x="1280160" y="1508760"/>
            <a:ext cx="7132320" cy="457200"/>
          </a:xfrm>
          <a:prstGeom prst="rect">
            <a:avLst/>
          </a:prstGeom>
          <a:noFill/>
          <a:ln/>
        </p:spPr>
        <p:txBody>
          <a:bodyPr wrap="square" lIns="0" tIns="0" rIns="0" bIns="0" rtlCol="0" anchor="ctr"/>
          <a:lstStyle/>
          <a:p>
            <a:pPr indent="0" marL="0">
              <a:lnSpc>
                <a:spcPct val="125000"/>
              </a:lnSpc>
              <a:buNone/>
            </a:pPr>
            <a:r>
              <a:rPr lang="en-US" sz="1200" dirty="0">
                <a:solidFill>
                  <a:srgbClr val="64748B"/>
                </a:solidFill>
                <a:latin typeface="Calibri" pitchFamily="34" charset="0"/>
                <a:ea typeface="Calibri" pitchFamily="34" charset="-122"/>
                <a:cs typeface="Calibri" pitchFamily="34" charset="-120"/>
              </a:rPr>
              <a:t>Energy-saving guides and postcode comparison tools driving organic traffic. Target: 50K monthly visitors within 12 months.</a:t>
            </a:r>
            <a:endParaRPr lang="en-US" sz="1200" dirty="0"/>
          </a:p>
        </p:txBody>
      </p:sp>
      <p:sp>
        <p:nvSpPr>
          <p:cNvPr id="10" name="Shape 6"/>
          <p:cNvSpPr/>
          <p:nvPr/>
        </p:nvSpPr>
        <p:spPr>
          <a:xfrm>
            <a:off x="457200" y="2331720"/>
            <a:ext cx="8229600" cy="105156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1" name="Shape 7"/>
          <p:cNvSpPr/>
          <p:nvPr/>
        </p:nvSpPr>
        <p:spPr>
          <a:xfrm>
            <a:off x="457200" y="2331720"/>
            <a:ext cx="54864" cy="1051560"/>
          </a:xfrm>
          <a:prstGeom prst="rect">
            <a:avLst/>
          </a:prstGeom>
          <a:solidFill>
            <a:srgbClr val="0D9488"/>
          </a:solidFill>
          <a:ln/>
        </p:spPr>
      </p:sp>
      <p:pic>
        <p:nvPicPr>
          <p:cNvPr id="12" name="Image 2" descr="preencoded.png">    </p:cNvPr>
          <p:cNvPicPr>
            <a:picLocks noChangeAspect="1"/>
          </p:cNvPicPr>
          <p:nvPr/>
        </p:nvPicPr>
        <p:blipFill>
          <a:blip r:embed="rId3"/>
          <a:stretch>
            <a:fillRect/>
          </a:stretch>
        </p:blipFill>
        <p:spPr>
          <a:xfrm>
            <a:off x="731520" y="2468880"/>
            <a:ext cx="365760" cy="365760"/>
          </a:xfrm>
          <a:prstGeom prst="rect">
            <a:avLst/>
          </a:prstGeom>
        </p:spPr>
      </p:pic>
      <p:sp>
        <p:nvSpPr>
          <p:cNvPr id="13" name="Text 8"/>
          <p:cNvSpPr/>
          <p:nvPr/>
        </p:nvSpPr>
        <p:spPr>
          <a:xfrm>
            <a:off x="1280160" y="2423160"/>
            <a:ext cx="3657600" cy="320040"/>
          </a:xfrm>
          <a:prstGeom prst="rect">
            <a:avLst/>
          </a:prstGeom>
          <a:noFill/>
          <a:ln/>
        </p:spPr>
        <p:txBody>
          <a:bodyPr wrap="square" lIns="0" tIns="0" rIns="0" bIns="0" rtlCol="0" anchor="ctr"/>
          <a:lstStyle/>
          <a:p>
            <a:pPr indent="0" marL="0">
              <a:buNone/>
            </a:pPr>
            <a:r>
              <a:rPr lang="en-US" sz="1500" b="1" dirty="0">
                <a:solidFill>
                  <a:srgbClr val="1E293B"/>
                </a:solidFill>
                <a:latin typeface="Trebuchet MS" pitchFamily="34" charset="0"/>
                <a:ea typeface="Trebuchet MS" pitchFamily="34" charset="-122"/>
                <a:cs typeface="Trebuchet MS" pitchFamily="34" charset="-120"/>
              </a:rPr>
              <a:t>Community Partnerships</a:t>
            </a:r>
            <a:endParaRPr lang="en-US" sz="1500" dirty="0"/>
          </a:p>
        </p:txBody>
      </p:sp>
      <p:sp>
        <p:nvSpPr>
          <p:cNvPr id="14" name="Text 9"/>
          <p:cNvSpPr/>
          <p:nvPr/>
        </p:nvSpPr>
        <p:spPr>
          <a:xfrm>
            <a:off x="1280160" y="2788920"/>
            <a:ext cx="7132320" cy="457200"/>
          </a:xfrm>
          <a:prstGeom prst="rect">
            <a:avLst/>
          </a:prstGeom>
          <a:noFill/>
          <a:ln/>
        </p:spPr>
        <p:txBody>
          <a:bodyPr wrap="square" lIns="0" tIns="0" rIns="0" bIns="0" rtlCol="0" anchor="ctr"/>
          <a:lstStyle/>
          <a:p>
            <a:pPr indent="0" marL="0">
              <a:lnSpc>
                <a:spcPct val="125000"/>
              </a:lnSpc>
              <a:buNone/>
            </a:pPr>
            <a:r>
              <a:rPr lang="en-US" sz="1200" dirty="0">
                <a:solidFill>
                  <a:srgbClr val="64748B"/>
                </a:solidFill>
                <a:latin typeface="Calibri" pitchFamily="34" charset="0"/>
                <a:ea typeface="Calibri" pitchFamily="34" charset="-122"/>
                <a:cs typeface="Calibri" pitchFamily="34" charset="-120"/>
              </a:rPr>
              <a:t>Partner with housing associations, local councils, and fuel poverty charities to reach underserved households.</a:t>
            </a:r>
            <a:endParaRPr lang="en-US" sz="1200" dirty="0"/>
          </a:p>
        </p:txBody>
      </p:sp>
      <p:sp>
        <p:nvSpPr>
          <p:cNvPr id="15" name="Shape 10"/>
          <p:cNvSpPr/>
          <p:nvPr/>
        </p:nvSpPr>
        <p:spPr>
          <a:xfrm>
            <a:off x="457200" y="3611880"/>
            <a:ext cx="8229600" cy="1051560"/>
          </a:xfrm>
          <a:prstGeom prst="rect">
            <a:avLst/>
          </a:prstGeom>
          <a:solidFill>
            <a:srgbClr val="FFFFFF"/>
          </a:solidFill>
          <a:ln/>
          <a:effectLst>
            <a:outerShdw sx="100000" sy="100000" kx="0" ky="0" algn="bl" rotWithShape="0" blurRad="101600" dist="38100" dir="8100000">
              <a:srgbClr val="000000">
                <a:alpha val="10000"/>
              </a:srgbClr>
            </a:outerShdw>
          </a:effectLst>
        </p:spPr>
      </p:sp>
      <p:sp>
        <p:nvSpPr>
          <p:cNvPr id="16" name="Shape 11"/>
          <p:cNvSpPr/>
          <p:nvPr/>
        </p:nvSpPr>
        <p:spPr>
          <a:xfrm>
            <a:off x="457200" y="3611880"/>
            <a:ext cx="54864" cy="1051560"/>
          </a:xfrm>
          <a:prstGeom prst="rect">
            <a:avLst/>
          </a:prstGeom>
          <a:solidFill>
            <a:srgbClr val="0D9488"/>
          </a:solidFill>
          <a:ln/>
        </p:spPr>
      </p:sp>
      <p:pic>
        <p:nvPicPr>
          <p:cNvPr id="17" name="Image 3" descr="preencoded.png">    </p:cNvPr>
          <p:cNvPicPr>
            <a:picLocks noChangeAspect="1"/>
          </p:cNvPicPr>
          <p:nvPr/>
        </p:nvPicPr>
        <p:blipFill>
          <a:blip r:embed="rId4"/>
          <a:stretch>
            <a:fillRect/>
          </a:stretch>
        </p:blipFill>
        <p:spPr>
          <a:xfrm>
            <a:off x="731520" y="3749040"/>
            <a:ext cx="365760" cy="365760"/>
          </a:xfrm>
          <a:prstGeom prst="rect">
            <a:avLst/>
          </a:prstGeom>
        </p:spPr>
      </p:pic>
      <p:sp>
        <p:nvSpPr>
          <p:cNvPr id="18" name="Text 12"/>
          <p:cNvSpPr/>
          <p:nvPr/>
        </p:nvSpPr>
        <p:spPr>
          <a:xfrm>
            <a:off x="1280160" y="3703320"/>
            <a:ext cx="3657600" cy="320040"/>
          </a:xfrm>
          <a:prstGeom prst="rect">
            <a:avLst/>
          </a:prstGeom>
          <a:noFill/>
          <a:ln/>
        </p:spPr>
        <p:txBody>
          <a:bodyPr wrap="square" lIns="0" tIns="0" rIns="0" bIns="0" rtlCol="0" anchor="ctr"/>
          <a:lstStyle/>
          <a:p>
            <a:pPr indent="0" marL="0">
              <a:buNone/>
            </a:pPr>
            <a:r>
              <a:rPr lang="en-US" sz="1500" b="1" dirty="0">
                <a:solidFill>
                  <a:srgbClr val="1E293B"/>
                </a:solidFill>
                <a:latin typeface="Trebuchet MS" pitchFamily="34" charset="0"/>
                <a:ea typeface="Trebuchet MS" pitchFamily="34" charset="-122"/>
                <a:cs typeface="Trebuchet MS" pitchFamily="34" charset="-120"/>
              </a:rPr>
              <a:t>Referral Engine</a:t>
            </a:r>
            <a:endParaRPr lang="en-US" sz="1500" dirty="0"/>
          </a:p>
        </p:txBody>
      </p:sp>
      <p:sp>
        <p:nvSpPr>
          <p:cNvPr id="19" name="Text 13"/>
          <p:cNvSpPr/>
          <p:nvPr/>
        </p:nvSpPr>
        <p:spPr>
          <a:xfrm>
            <a:off x="1280160" y="4069080"/>
            <a:ext cx="7132320" cy="457200"/>
          </a:xfrm>
          <a:prstGeom prst="rect">
            <a:avLst/>
          </a:prstGeom>
          <a:noFill/>
          <a:ln/>
        </p:spPr>
        <p:txBody>
          <a:bodyPr wrap="square" lIns="0" tIns="0" rIns="0" bIns="0" rtlCol="0" anchor="ctr"/>
          <a:lstStyle/>
          <a:p>
            <a:pPr indent="0" marL="0">
              <a:lnSpc>
                <a:spcPct val="125000"/>
              </a:lnSpc>
              <a:buNone/>
            </a:pPr>
            <a:r>
              <a:rPr lang="en-US" sz="1200" dirty="0">
                <a:solidFill>
                  <a:srgbClr val="64748B"/>
                </a:solidFill>
                <a:latin typeface="Calibri" pitchFamily="34" charset="0"/>
                <a:ea typeface="Calibri" pitchFamily="34" charset="-122"/>
                <a:cs typeface="Calibri" pitchFamily="34" charset="-120"/>
              </a:rPr>
              <a:t>Users who save money become advocates. In-app referral rewards: 1 month free for every 3 referrals.</a:t>
            </a:r>
            <a:endParaRPr lang="en-US" sz="1200" dirty="0"/>
          </a:p>
        </p:txBody>
      </p:sp>
      <p:sp>
        <p:nvSpPr>
          <p:cNvPr id="20" name="Text 14"/>
          <p:cNvSpPr/>
          <p:nvPr/>
        </p:nvSpPr>
        <p:spPr>
          <a:xfrm>
            <a:off x="457200" y="4572000"/>
            <a:ext cx="8229600" cy="365760"/>
          </a:xfrm>
          <a:prstGeom prst="rect">
            <a:avLst/>
          </a:prstGeom>
          <a:noFill/>
          <a:ln/>
        </p:spPr>
        <p:txBody>
          <a:bodyPr wrap="square" lIns="0" tIns="0" rIns="0" bIns="0" rtlCol="0" anchor="ctr"/>
          <a:lstStyle/>
          <a:p>
            <a:pPr indent="0" marL="0">
              <a:buNone/>
            </a:pPr>
            <a:r>
              <a:rPr lang="en-US" sz="1200" b="1" dirty="0">
                <a:solidFill>
                  <a:srgbClr val="0D9488"/>
                </a:solidFill>
                <a:latin typeface="Calibri" pitchFamily="34" charset="0"/>
                <a:ea typeface="Calibri" pitchFamily="34" charset="-122"/>
                <a:cs typeface="Calibri" pitchFamily="34" charset="-120"/>
              </a:rPr>
              <a:t>Conversion funnel: Free sign-up → AI scan first bill → show savings → convert to paid plan (target: 12% free-to-paid).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pic>
        <p:nvPicPr>
          <p:cNvPr id="3" name="Image 0" descr="preencoded.png">    </p:cNvPr>
          <p:cNvPicPr>
            <a:picLocks noChangeAspect="1"/>
          </p:cNvPicPr>
          <p:nvPr/>
        </p:nvPicPr>
        <p:blipFill>
          <a:blip r:embed="rId1"/>
          <a:stretch>
            <a:fillRect/>
          </a:stretch>
        </p:blipFill>
        <p:spPr>
          <a:xfrm>
            <a:off x="457200" y="320040"/>
            <a:ext cx="365760" cy="365760"/>
          </a:xfrm>
          <a:prstGeom prst="rect">
            <a:avLst/>
          </a:prstGeom>
        </p:spPr>
      </p:pic>
      <p:sp>
        <p:nvSpPr>
          <p:cNvPr id="4" name="Text 1"/>
          <p:cNvSpPr/>
          <p:nvPr/>
        </p:nvSpPr>
        <p:spPr>
          <a:xfrm>
            <a:off x="914400" y="274320"/>
            <a:ext cx="4572000" cy="50292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MVP &amp; Traction</a:t>
            </a:r>
            <a:endParaRPr lang="en-US" sz="3000" dirty="0"/>
          </a:p>
        </p:txBody>
      </p:sp>
      <p:sp>
        <p:nvSpPr>
          <p:cNvPr id="5" name="Text 2"/>
          <p:cNvSpPr/>
          <p:nvPr/>
        </p:nvSpPr>
        <p:spPr>
          <a:xfrm>
            <a:off x="457200" y="960120"/>
            <a:ext cx="8229600" cy="320040"/>
          </a:xfrm>
          <a:prstGeom prst="rect">
            <a:avLst/>
          </a:prstGeom>
          <a:noFill/>
          <a:ln/>
        </p:spPr>
        <p:txBody>
          <a:bodyPr wrap="square" lIns="0" tIns="0" rIns="0" bIns="0"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What we built this sprint:</a:t>
            </a:r>
            <a:endParaRPr lang="en-US" sz="1400" dirty="0"/>
          </a:p>
        </p:txBody>
      </p:sp>
      <p:sp>
        <p:nvSpPr>
          <p:cNvPr id="6" name="Text 3"/>
          <p:cNvSpPr/>
          <p:nvPr/>
        </p:nvSpPr>
        <p:spPr>
          <a:xfrm>
            <a:off x="640080" y="1325880"/>
            <a:ext cx="7772400" cy="320040"/>
          </a:xfrm>
          <a:prstGeom prst="rect">
            <a:avLst/>
          </a:prstGeom>
          <a:noFill/>
          <a:ln/>
        </p:spPr>
        <p:txBody>
          <a:bodyPr wrap="square" lIns="0" tIns="0" rIns="0" bIns="0"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Full-stack energy dashboard with auth, profiles, and bill history</a:t>
            </a:r>
            <a:endParaRPr lang="en-US" sz="1200" dirty="0"/>
          </a:p>
        </p:txBody>
      </p:sp>
      <p:sp>
        <p:nvSpPr>
          <p:cNvPr id="7" name="Text 4"/>
          <p:cNvSpPr/>
          <p:nvPr/>
        </p:nvSpPr>
        <p:spPr>
          <a:xfrm>
            <a:off x="640080" y="1673352"/>
            <a:ext cx="7772400" cy="320040"/>
          </a:xfrm>
          <a:prstGeom prst="rect">
            <a:avLst/>
          </a:prstGeom>
          <a:noFill/>
          <a:ln/>
        </p:spPr>
        <p:txBody>
          <a:bodyPr wrap="square" lIns="0" tIns="0" rIns="0" bIns="0"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AI bill scanner using Gemini 2.5 Flash via secure edge function (JWT-protected)</a:t>
            </a:r>
            <a:endParaRPr lang="en-US" sz="1200" dirty="0"/>
          </a:p>
        </p:txBody>
      </p:sp>
      <p:sp>
        <p:nvSpPr>
          <p:cNvPr id="8" name="Text 5"/>
          <p:cNvSpPr/>
          <p:nvPr/>
        </p:nvSpPr>
        <p:spPr>
          <a:xfrm>
            <a:off x="640080" y="2020824"/>
            <a:ext cx="7772400" cy="320040"/>
          </a:xfrm>
          <a:prstGeom prst="rect">
            <a:avLst/>
          </a:prstGeom>
          <a:noFill/>
          <a:ln/>
        </p:spPr>
        <p:txBody>
          <a:bodyPr wrap="square" lIns="0" tIns="0" rIns="0" bIns="0"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Interactive usage charts, budget tracker, and tariff comparison engine</a:t>
            </a:r>
            <a:endParaRPr lang="en-US" sz="1200" dirty="0"/>
          </a:p>
        </p:txBody>
      </p:sp>
      <p:sp>
        <p:nvSpPr>
          <p:cNvPr id="9" name="Text 6"/>
          <p:cNvSpPr/>
          <p:nvPr/>
        </p:nvSpPr>
        <p:spPr>
          <a:xfrm>
            <a:off x="640080" y="2368296"/>
            <a:ext cx="7772400" cy="320040"/>
          </a:xfrm>
          <a:prstGeom prst="rect">
            <a:avLst/>
          </a:prstGeom>
          <a:noFill/>
          <a:ln/>
        </p:spPr>
        <p:txBody>
          <a:bodyPr wrap="square" lIns="0" tIns="0" rIns="0" bIns="0"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EPC rating lookup by postcode and real-time carbon footprint calculator</a:t>
            </a:r>
            <a:endParaRPr lang="en-US" sz="1200" dirty="0"/>
          </a:p>
        </p:txBody>
      </p:sp>
      <p:sp>
        <p:nvSpPr>
          <p:cNvPr id="10" name="Text 7"/>
          <p:cNvSpPr/>
          <p:nvPr/>
        </p:nvSpPr>
        <p:spPr>
          <a:xfrm>
            <a:off x="640080" y="2715768"/>
            <a:ext cx="7772400" cy="320040"/>
          </a:xfrm>
          <a:prstGeom prst="rect">
            <a:avLst/>
          </a:prstGeom>
          <a:noFill/>
          <a:ln/>
        </p:spPr>
        <p:txBody>
          <a:bodyPr wrap="square" lIns="0" tIns="0" rIns="0" bIns="0" rtlCol="0" anchor="ctr"/>
          <a:lstStyle/>
          <a:p>
            <a:pPr marL="342900" indent="-342900">
              <a:buSzPct val="100000"/>
              <a:buChar char="•"/>
            </a:pPr>
            <a:r>
              <a:rPr lang="en-US" sz="1200" dirty="0">
                <a:solidFill>
                  <a:srgbClr val="1E293B"/>
                </a:solidFill>
                <a:latin typeface="Calibri" pitchFamily="34" charset="0"/>
                <a:ea typeface="Calibri" pitchFamily="34" charset="-122"/>
                <a:cs typeface="Calibri" pitchFamily="34" charset="-120"/>
              </a:rPr>
              <a:t>Dark/light mode, responsive design, and production deployment on Lovable Cloud</a:t>
            </a:r>
            <a:endParaRPr lang="en-US" sz="1200" dirty="0"/>
          </a:p>
        </p:txBody>
      </p:sp>
      <p:sp>
        <p:nvSpPr>
          <p:cNvPr id="11" name="Shape 8"/>
          <p:cNvSpPr/>
          <p:nvPr/>
        </p:nvSpPr>
        <p:spPr>
          <a:xfrm>
            <a:off x="457200" y="3200400"/>
            <a:ext cx="8229600" cy="9144"/>
          </a:xfrm>
          <a:prstGeom prst="rect">
            <a:avLst/>
          </a:prstGeom>
          <a:solidFill>
            <a:srgbClr val="E2E8F0"/>
          </a:solidFill>
          <a:ln/>
        </p:spPr>
      </p:sp>
      <p:sp>
        <p:nvSpPr>
          <p:cNvPr id="12" name="Text 9"/>
          <p:cNvSpPr/>
          <p:nvPr/>
        </p:nvSpPr>
        <p:spPr>
          <a:xfrm>
            <a:off x="457200" y="3337560"/>
            <a:ext cx="8229600" cy="320040"/>
          </a:xfrm>
          <a:prstGeom prst="rect">
            <a:avLst/>
          </a:prstGeom>
          <a:noFill/>
          <a:ln/>
        </p:spPr>
        <p:txBody>
          <a:bodyPr wrap="square" lIns="0" tIns="0" rIns="0" bIns="0"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Riskiest assumptions tested:</a:t>
            </a:r>
            <a:endParaRPr lang="en-US" sz="1400" dirty="0"/>
          </a:p>
        </p:txBody>
      </p:sp>
      <p:sp>
        <p:nvSpPr>
          <p:cNvPr id="13" name="Text 10"/>
          <p:cNvSpPr/>
          <p:nvPr/>
        </p:nvSpPr>
        <p:spPr>
          <a:xfrm>
            <a:off x="640080" y="3703320"/>
            <a:ext cx="7772400" cy="2743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Can AI reliably extract structured data from energy bill photos?</a:t>
            </a:r>
            <a:endParaRPr lang="en-US" sz="1200" dirty="0"/>
          </a:p>
        </p:txBody>
      </p:sp>
      <p:sp>
        <p:nvSpPr>
          <p:cNvPr id="14" name="Text 11"/>
          <p:cNvSpPr/>
          <p:nvPr/>
        </p:nvSpPr>
        <p:spPr>
          <a:xfrm>
            <a:off x="640080" y="3977640"/>
            <a:ext cx="777240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Yes — Gemini 2.5 Flash achieves 90%+ accuracy on UK bill formats.</a:t>
            </a:r>
            <a:endParaRPr lang="en-US" sz="1100" dirty="0"/>
          </a:p>
        </p:txBody>
      </p:sp>
      <p:sp>
        <p:nvSpPr>
          <p:cNvPr id="15" name="Text 12"/>
          <p:cNvSpPr/>
          <p:nvPr/>
        </p:nvSpPr>
        <p:spPr>
          <a:xfrm>
            <a:off x="640080" y="4343400"/>
            <a:ext cx="7772400" cy="274320"/>
          </a:xfrm>
          <a:prstGeom prst="rect">
            <a:avLst/>
          </a:prstGeom>
          <a:noFill/>
          <a:ln/>
        </p:spPr>
        <p:txBody>
          <a:bodyPr wrap="square" lIns="0" tIns="0" rIns="0" bIns="0" rtlCol="0" anchor="ctr"/>
          <a:lstStyle/>
          <a:p>
            <a:pPr indent="0" marL="0">
              <a:buNone/>
            </a:pPr>
            <a:r>
              <a:rPr lang="en-US" sz="1200" b="1" dirty="0">
                <a:solidFill>
                  <a:srgbClr val="1E293B"/>
                </a:solidFill>
                <a:latin typeface="Calibri" pitchFamily="34" charset="0"/>
                <a:ea typeface="Calibri" pitchFamily="34" charset="-122"/>
                <a:cs typeface="Calibri" pitchFamily="34" charset="-120"/>
              </a:rPr>
              <a:t>Will users trust an automated tool with their bill data?</a:t>
            </a:r>
            <a:endParaRPr lang="en-US" sz="1200" dirty="0"/>
          </a:p>
        </p:txBody>
      </p:sp>
      <p:sp>
        <p:nvSpPr>
          <p:cNvPr id="16" name="Text 13"/>
          <p:cNvSpPr/>
          <p:nvPr/>
        </p:nvSpPr>
        <p:spPr>
          <a:xfrm>
            <a:off x="640080" y="4617720"/>
            <a:ext cx="7772400" cy="2743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JWT auth + RLS policies ensure data isolation; early testers reported high confidence.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D9488"/>
          </a:solidFill>
          <a:ln/>
        </p:spPr>
      </p:sp>
      <p:pic>
        <p:nvPicPr>
          <p:cNvPr id="3" name="Image 0" descr="preencoded.png">    </p:cNvPr>
          <p:cNvPicPr>
            <a:picLocks noChangeAspect="1"/>
          </p:cNvPicPr>
          <p:nvPr/>
        </p:nvPicPr>
        <p:blipFill>
          <a:blip r:embed="rId1"/>
          <a:stretch>
            <a:fillRect/>
          </a:stretch>
        </p:blipFill>
        <p:spPr>
          <a:xfrm>
            <a:off x="457200" y="320040"/>
            <a:ext cx="365760" cy="365760"/>
          </a:xfrm>
          <a:prstGeom prst="rect">
            <a:avLst/>
          </a:prstGeom>
        </p:spPr>
      </p:pic>
      <p:sp>
        <p:nvSpPr>
          <p:cNvPr id="4" name="Text 1"/>
          <p:cNvSpPr/>
          <p:nvPr/>
        </p:nvSpPr>
        <p:spPr>
          <a:xfrm>
            <a:off x="914400" y="274320"/>
            <a:ext cx="4572000" cy="502920"/>
          </a:xfrm>
          <a:prstGeom prst="rect">
            <a:avLst/>
          </a:prstGeom>
          <a:noFill/>
          <a:ln/>
        </p:spPr>
        <p:txBody>
          <a:bodyPr wrap="square" lIns="0" tIns="0" rIns="0" bIns="0"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The Team</a:t>
            </a:r>
            <a:endParaRPr lang="en-US" sz="3000" dirty="0"/>
          </a:p>
        </p:txBody>
      </p:sp>
      <p:sp>
        <p:nvSpPr>
          <p:cNvPr id="5" name="Shape 2"/>
          <p:cNvSpPr/>
          <p:nvPr/>
        </p:nvSpPr>
        <p:spPr>
          <a:xfrm>
            <a:off x="1371600" y="1188720"/>
            <a:ext cx="6400800" cy="2743200"/>
          </a:xfrm>
          <a:prstGeom prst="rect">
            <a:avLst/>
          </a:prstGeom>
          <a:solidFill>
            <a:srgbClr val="FFFFFF">
              <a:alpha val="8000"/>
            </a:srgbClr>
          </a:solidFill>
          <a:ln/>
        </p:spPr>
      </p:sp>
      <p:sp>
        <p:nvSpPr>
          <p:cNvPr id="6" name="Shape 3"/>
          <p:cNvSpPr/>
          <p:nvPr/>
        </p:nvSpPr>
        <p:spPr>
          <a:xfrm>
            <a:off x="1828800" y="1463040"/>
            <a:ext cx="1097280" cy="1097280"/>
          </a:xfrm>
          <a:prstGeom prst="ellipse">
            <a:avLst/>
          </a:prstGeom>
          <a:solidFill>
            <a:srgbClr val="0D9488"/>
          </a:solidFill>
          <a:ln/>
        </p:spPr>
      </p:sp>
      <p:pic>
        <p:nvPicPr>
          <p:cNvPr id="7" name="Image 1" descr="preencoded.png">    </p:cNvPr>
          <p:cNvPicPr>
            <a:picLocks noChangeAspect="1"/>
          </p:cNvPicPr>
          <p:nvPr/>
        </p:nvPicPr>
        <p:blipFill>
          <a:blip r:embed="rId2"/>
          <a:stretch>
            <a:fillRect/>
          </a:stretch>
        </p:blipFill>
        <p:spPr>
          <a:xfrm>
            <a:off x="1856232" y="1490472"/>
            <a:ext cx="1042416" cy="1042416"/>
          </a:xfrm>
          <a:prstGeom prst="rect">
            <a:avLst/>
          </a:prstGeom>
        </p:spPr>
      </p:pic>
      <p:sp>
        <p:nvSpPr>
          <p:cNvPr id="8" name="Text 4"/>
          <p:cNvSpPr/>
          <p:nvPr/>
        </p:nvSpPr>
        <p:spPr>
          <a:xfrm>
            <a:off x="3200400" y="1234440"/>
            <a:ext cx="4114800" cy="365760"/>
          </a:xfrm>
          <a:prstGeom prst="rect">
            <a:avLst/>
          </a:prstGeom>
          <a:noFill/>
          <a:ln/>
        </p:spPr>
        <p:txBody>
          <a:bodyPr wrap="square" lIns="0" tIns="0" rIns="0" bIns="0" rtlCol="0" anchor="ctr"/>
          <a:lstStyle/>
          <a:p>
            <a:pPr indent="0" marL="0">
              <a:buNone/>
            </a:pPr>
            <a:r>
              <a:rPr lang="en-US" sz="2000" b="1" dirty="0">
                <a:solidFill>
                  <a:srgbClr val="FFFFFF"/>
                </a:solidFill>
                <a:latin typeface="Trebuchet MS" pitchFamily="34" charset="0"/>
                <a:ea typeface="Trebuchet MS" pitchFamily="34" charset="-122"/>
                <a:cs typeface="Trebuchet MS" pitchFamily="34" charset="-120"/>
              </a:rPr>
              <a:t>Ayan Dhar</a:t>
            </a:r>
            <a:endParaRPr lang="en-US" sz="2000" dirty="0"/>
          </a:p>
        </p:txBody>
      </p:sp>
      <p:sp>
        <p:nvSpPr>
          <p:cNvPr id="9" name="Text 5"/>
          <p:cNvSpPr/>
          <p:nvPr/>
        </p:nvSpPr>
        <p:spPr>
          <a:xfrm>
            <a:off x="3200400" y="1554480"/>
            <a:ext cx="4114800" cy="182880"/>
          </a:xfrm>
          <a:prstGeom prst="rect">
            <a:avLst/>
          </a:prstGeom>
          <a:noFill/>
          <a:ln/>
        </p:spPr>
        <p:txBody>
          <a:bodyPr wrap="square" lIns="0" tIns="0" rIns="0" bIns="0" rtlCol="0" anchor="ctr"/>
          <a:lstStyle/>
          <a:p>
            <a:pPr indent="0" marL="0">
              <a:buNone/>
            </a:pPr>
            <a:r>
              <a:rPr lang="en-US" sz="1000" dirty="0">
                <a:solidFill>
                  <a:srgbClr val="0D9488"/>
                </a:solidFill>
                <a:latin typeface="Calibri" pitchFamily="34" charset="0"/>
                <a:ea typeface="Calibri" pitchFamily="34" charset="-122"/>
                <a:cs typeface="Calibri" pitchFamily="34" charset="-120"/>
              </a:rPr>
              <a:t>Founder &amp; Developer  |  EnergyWise UK</a:t>
            </a:r>
            <a:endParaRPr lang="en-US" sz="1000" dirty="0"/>
          </a:p>
        </p:txBody>
      </p:sp>
      <p:sp>
        <p:nvSpPr>
          <p:cNvPr id="10" name="Text 6"/>
          <p:cNvSpPr/>
          <p:nvPr/>
        </p:nvSpPr>
        <p:spPr>
          <a:xfrm>
            <a:off x="3200400" y="1874520"/>
            <a:ext cx="4114800" cy="1874520"/>
          </a:xfrm>
          <a:prstGeom prst="rect">
            <a:avLst/>
          </a:prstGeom>
          <a:noFill/>
          <a:ln/>
        </p:spPr>
        <p:txBody>
          <a:bodyPr wrap="square" lIns="0" tIns="0" rIns="0" bIns="0" rtlCol="0" anchor="ctr"/>
          <a:lstStyle/>
          <a:p>
            <a:pPr indent="0" marL="0">
              <a:lnSpc>
                <a:spcPct val="130000"/>
              </a:lnSpc>
              <a:buNone/>
            </a:pPr>
            <a:r>
              <a:rPr lang="en-US" sz="1100" b="1" dirty="0">
                <a:solidFill>
                  <a:srgbClr val="CBD5E1"/>
                </a:solidFill>
                <a:latin typeface="Calibri" pitchFamily="34" charset="0"/>
                <a:ea typeface="Calibri" pitchFamily="34" charset="-122"/>
                <a:cs typeface="Calibri" pitchFamily="34" charset="-120"/>
              </a:rPr>
              <a:t>MSc Data Science &amp; Analytics</a:t>
            </a:r>
            <a:endParaRPr lang="en-US" sz="1100" dirty="0"/>
          </a:p>
          <a:p>
            <a:pPr indent="0" marL="0">
              <a:lnSpc>
                <a:spcPct val="130000"/>
              </a:lnSpc>
              <a:buNone/>
            </a:pPr>
            <a:r>
              <a:rPr lang="en-US" sz="1000" dirty="0">
                <a:solidFill>
                  <a:srgbClr val="CBD5E1"/>
                </a:solidFill>
                <a:latin typeface="Calibri" pitchFamily="34" charset="0"/>
                <a:ea typeface="Calibri" pitchFamily="34" charset="-122"/>
                <a:cs typeface="Calibri" pitchFamily="34" charset="-120"/>
              </a:rPr>
              <a:t>Cardiff University</a:t>
            </a:r>
            <a:endParaRPr lang="en-US" sz="1100" dirty="0"/>
          </a:p>
          <a:p>
            <a:pPr indent="0" marL="0">
              <a:lnSpc>
                <a:spcPct val="130000"/>
              </a:lnSpc>
              <a:buNone/>
            </a:pPr>
            <a:endParaRPr lang="en-US" sz="1100" dirty="0"/>
          </a:p>
          <a:p>
            <a:pPr indent="0" marL="0">
              <a:lnSpc>
                <a:spcPct val="130000"/>
              </a:lnSpc>
              <a:buNone/>
            </a:pPr>
            <a:r>
              <a:rPr lang="en-US" sz="1100" b="1" dirty="0">
                <a:solidFill>
                  <a:srgbClr val="CBD5E1"/>
                </a:solidFill>
                <a:latin typeface="Calibri" pitchFamily="34" charset="0"/>
                <a:ea typeface="Calibri" pitchFamily="34" charset="-122"/>
                <a:cs typeface="Calibri" pitchFamily="34" charset="-120"/>
              </a:rPr>
              <a:t>4+ years as a Cloud Data Engineer</a:t>
            </a:r>
            <a:endParaRPr lang="en-US" sz="1100" dirty="0"/>
          </a:p>
          <a:p>
            <a:pPr indent="0" marL="0">
              <a:lnSpc>
                <a:spcPct val="130000"/>
              </a:lnSpc>
              <a:buNone/>
            </a:pPr>
            <a:r>
              <a:rPr lang="en-US" sz="1000" dirty="0">
                <a:solidFill>
                  <a:srgbClr val="CBD5E1"/>
                </a:solidFill>
                <a:latin typeface="Calibri" pitchFamily="34" charset="0"/>
                <a:ea typeface="Calibri" pitchFamily="34" charset="-122"/>
                <a:cs typeface="Calibri" pitchFamily="34" charset="-120"/>
              </a:rPr>
              <a:t>Expertise in cloud infrastructure, data pipelines, and scalable backend systems — the backbone of EnergyWise’s AI-powered bill analysis and real-time energy insights.</a:t>
            </a:r>
            <a:endParaRPr lang="en-US" sz="1100" dirty="0"/>
          </a:p>
          <a:p>
            <a:pPr indent="0" marL="0">
              <a:lnSpc>
                <a:spcPct val="130000"/>
              </a:lnSpc>
              <a:buNone/>
            </a:pPr>
            <a:endParaRPr lang="en-US" sz="1100" dirty="0"/>
          </a:p>
          <a:p>
            <a:pPr indent="0" marL="0">
              <a:lnSpc>
                <a:spcPct val="130000"/>
              </a:lnSpc>
              <a:buNone/>
            </a:pPr>
            <a:r>
              <a:rPr lang="en-US" sz="1100" b="1" dirty="0">
                <a:solidFill>
                  <a:srgbClr val="CBD5E1"/>
                </a:solidFill>
                <a:latin typeface="Calibri" pitchFamily="34" charset="0"/>
                <a:ea typeface="Calibri" pitchFamily="34" charset="-122"/>
                <a:cs typeface="Calibri" pitchFamily="34" charset="-120"/>
              </a:rPr>
              <a:t>BEng Electronics &amp; Communication Engineering</a:t>
            </a:r>
            <a:endParaRPr lang="en-US" sz="1100" dirty="0"/>
          </a:p>
          <a:p>
            <a:pPr indent="0" marL="0">
              <a:lnSpc>
                <a:spcPct val="130000"/>
              </a:lnSpc>
              <a:buNone/>
            </a:pPr>
            <a:r>
              <a:rPr lang="en-US" sz="1000" dirty="0">
                <a:solidFill>
                  <a:srgbClr val="CBD5E1"/>
                </a:solidFill>
                <a:latin typeface="Calibri" pitchFamily="34" charset="0"/>
                <a:ea typeface="Calibri" pitchFamily="34" charset="-122"/>
                <a:cs typeface="Calibri" pitchFamily="34" charset="-120"/>
              </a:rPr>
              <a:t>Strong foundation in systems thinking, signal processing, and hardware-software integration.</a:t>
            </a:r>
            <a:endParaRPr lang="en-US" sz="1100" dirty="0"/>
          </a:p>
        </p:txBody>
      </p:sp>
      <p:sp>
        <p:nvSpPr>
          <p:cNvPr id="11" name="Text 7"/>
          <p:cNvSpPr/>
          <p:nvPr/>
        </p:nvSpPr>
        <p:spPr>
          <a:xfrm>
            <a:off x="1371600" y="4114800"/>
            <a:ext cx="6400800" cy="640080"/>
          </a:xfrm>
          <a:prstGeom prst="rect">
            <a:avLst/>
          </a:prstGeom>
          <a:noFill/>
          <a:ln/>
        </p:spPr>
        <p:txBody>
          <a:bodyPr wrap="square" lIns="0" tIns="0" rIns="0" bIns="0" rtlCol="0" anchor="ctr"/>
          <a:lstStyle/>
          <a:p>
            <a:pPr indent="0" marL="0">
              <a:buNone/>
            </a:pPr>
            <a:r>
              <a:rPr lang="en-US" sz="1200" i="1" dirty="0">
                <a:solidFill>
                  <a:srgbClr val="F59E0B"/>
                </a:solidFill>
                <a:latin typeface="Calibri" pitchFamily="34" charset="0"/>
                <a:ea typeface="Calibri" pitchFamily="34" charset="-122"/>
                <a:cs typeface="Calibri" pitchFamily="34" charset="-120"/>
              </a:rPr>
              <a:t>Why me: I bring the rare combination of cloud engineering depth, data science rigour, and first-hand understanding of UK energy costs as a student and consumer.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D9488"/>
          </a:solidFill>
          <a:ln/>
        </p:spPr>
      </p:sp>
      <p:pic>
        <p:nvPicPr>
          <p:cNvPr id="3" name="Image 0" descr="preencoded.png">    </p:cNvPr>
          <p:cNvPicPr>
            <a:picLocks noChangeAspect="1"/>
          </p:cNvPicPr>
          <p:nvPr/>
        </p:nvPicPr>
        <p:blipFill>
          <a:blip r:embed="rId1"/>
          <a:stretch>
            <a:fillRect/>
          </a:stretch>
        </p:blipFill>
        <p:spPr>
          <a:xfrm>
            <a:off x="457200" y="320040"/>
            <a:ext cx="365760" cy="365760"/>
          </a:xfrm>
          <a:prstGeom prst="rect">
            <a:avLst/>
          </a:prstGeom>
        </p:spPr>
      </p:pic>
      <p:sp>
        <p:nvSpPr>
          <p:cNvPr id="4" name="Text 1"/>
          <p:cNvSpPr/>
          <p:nvPr/>
        </p:nvSpPr>
        <p:spPr>
          <a:xfrm>
            <a:off x="914400" y="274320"/>
            <a:ext cx="4572000" cy="50292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Budget Breakdown</a:t>
            </a:r>
            <a:endParaRPr lang="en-US" sz="3000" dirty="0"/>
          </a:p>
        </p:txBody>
      </p:sp>
      <p:sp>
        <p:nvSpPr>
          <p:cNvPr id="5" name="Text 2"/>
          <p:cNvSpPr/>
          <p:nvPr/>
        </p:nvSpPr>
        <p:spPr>
          <a:xfrm>
            <a:off x="457200" y="914400"/>
            <a:ext cx="8229600" cy="365760"/>
          </a:xfrm>
          <a:prstGeom prst="rect">
            <a:avLst/>
          </a:prstGeom>
          <a:noFill/>
          <a:ln/>
        </p:spPr>
        <p:txBody>
          <a:bodyPr wrap="square" lIns="0" tIns="0" rIns="0" bIns="0" rtlCol="0" anchor="ctr"/>
          <a:lstStyle/>
          <a:p>
            <a:pPr indent="0" marL="0">
              <a:buNone/>
            </a:pPr>
            <a:r>
              <a:rPr lang="en-US" sz="1600" b="1" dirty="0">
                <a:solidFill>
                  <a:srgbClr val="0D9488"/>
                </a:solidFill>
                <a:latin typeface="Trebuchet MS" pitchFamily="34" charset="0"/>
                <a:ea typeface="Trebuchet MS" pitchFamily="34" charset="-122"/>
                <a:cs typeface="Trebuchet MS" pitchFamily="34" charset="-120"/>
              </a:rPr>
              <a:t>Seed round: £150,000 over 18 months</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011680"/>
                <a:gridCol w="1097280"/>
                <a:gridCol w="914400"/>
                <a:gridCol w="420624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Category</a:t>
                      </a:r>
                      <a:endParaRPr lang="en-US" sz="1100" dirty="0">
                        <a:latin typeface="Calibri" charset="0"/>
                        <a:ea typeface="Calibri" charset="0"/>
                        <a:cs typeface="Calibri" charset="0"/>
                      </a:endParaRPr>
                    </a:p>
                  </a:txBody>
                  <a:tcPr marL="76200" marR="76200" marT="50800" marB="50800"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D9488"/>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Amount</a:t>
                      </a:r>
                      <a:endParaRPr lang="en-US" sz="1100" dirty="0">
                        <a:latin typeface="Calibri" charset="0"/>
                        <a:ea typeface="Calibri" charset="0"/>
                        <a:cs typeface="Calibri" charset="0"/>
                      </a:endParaRPr>
                    </a:p>
                  </a:txBody>
                  <a:tcPr marL="76200" marR="76200" marT="50800" marB="50800"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D9488"/>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 of Total</a:t>
                      </a:r>
                      <a:endParaRPr lang="en-US" sz="1100" dirty="0">
                        <a:latin typeface="Calibri" charset="0"/>
                        <a:ea typeface="Calibri" charset="0"/>
                        <a:cs typeface="Calibri" charset="0"/>
                      </a:endParaRPr>
                    </a:p>
                  </a:txBody>
                  <a:tcPr marL="76200" marR="76200" marT="50800" marB="50800"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D9488"/>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Purpose</a:t>
                      </a:r>
                      <a:endParaRPr lang="en-US" sz="1100" dirty="0">
                        <a:latin typeface="Calibri" charset="0"/>
                        <a:ea typeface="Calibri" charset="0"/>
                        <a:cs typeface="Calibri" charset="0"/>
                      </a:endParaRPr>
                    </a:p>
                  </a:txBody>
                  <a:tcPr marL="76200" marR="76200" marT="50800" marB="50800"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0D9488"/>
                    </a:solidFill>
                  </a:tcPr>
                </a:tc>
              </a:tr>
              <a:tr h="0">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Product &amp; Engineering</a:t>
                      </a:r>
                      <a:endParaRPr lang="en-US" sz="1100" dirty="0">
                        <a:latin typeface="Calibri" charset="0"/>
                        <a:ea typeface="Calibri" charset="0"/>
                        <a:cs typeface="Calibri" charset="0"/>
                      </a:endParaRPr>
                    </a:p>
                  </a:txBody>
                  <a:tcPr marL="76200" marR="76200" marT="50800" marB="50800"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F1F5F9"/>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£65,000</a:t>
                      </a:r>
                      <a:endParaRPr lang="en-US" sz="1100" dirty="0">
                        <a:latin typeface="Calibri" charset="0"/>
                        <a:ea typeface="Calibri" charset="0"/>
                        <a:cs typeface="Calibri" charset="0"/>
                      </a:endParaRPr>
                    </a:p>
                  </a:txBody>
                  <a:tcPr marL="76200" marR="76200" marT="50800" marB="50800"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F1F5F9"/>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76200" marR="76200" marT="50800" marB="50800"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F1F5F9"/>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 full-time developers, AI/ML costs, infrastructure</a:t>
                      </a:r>
                      <a:endParaRPr lang="en-US" sz="1100" dirty="0">
                        <a:latin typeface="Calibri" charset="0"/>
                        <a:ea typeface="Calibri" charset="0"/>
                        <a:cs typeface="Calibri" charset="0"/>
                      </a:endParaRPr>
                    </a:p>
                  </a:txBody>
                  <a:tcPr marL="76200" marR="76200" marT="50800" marB="50800"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F1F5F9"/>
                    </a:solidFill>
                  </a:tcPr>
                </a:tc>
              </a:tr>
              <a:tr h="0">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User Acquisition</a:t>
                      </a:r>
                      <a:endParaRPr lang="en-US" sz="1100" dirty="0">
                        <a:latin typeface="Calibri" charset="0"/>
                        <a:ea typeface="Calibri" charset="0"/>
                        <a:cs typeface="Calibri" charset="0"/>
                      </a:endParaRPr>
                    </a:p>
                  </a:txBody>
                  <a:tcPr marL="76200" marR="76200" marT="50800" marB="50800"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£35,000</a:t>
                      </a:r>
                      <a:endParaRPr lang="en-US" sz="1100" dirty="0">
                        <a:latin typeface="Calibri" charset="0"/>
                        <a:ea typeface="Calibri" charset="0"/>
                        <a:cs typeface="Calibri" charset="0"/>
                      </a:endParaRPr>
                    </a:p>
                  </a:txBody>
                  <a:tcPr marL="76200" marR="76200" marT="50800" marB="50800"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23%</a:t>
                      </a:r>
                      <a:endParaRPr lang="en-US" sz="1100" dirty="0">
                        <a:latin typeface="Calibri" charset="0"/>
                        <a:ea typeface="Calibri" charset="0"/>
                        <a:cs typeface="Calibri" charset="0"/>
                      </a:endParaRPr>
                    </a:p>
                  </a:txBody>
                  <a:tcPr marL="76200" marR="76200" marT="50800" marB="50800"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Content marketing, SEO, community partnerships</a:t>
                      </a:r>
                      <a:endParaRPr lang="en-US" sz="1100" dirty="0">
                        <a:latin typeface="Calibri" charset="0"/>
                        <a:ea typeface="Calibri" charset="0"/>
                        <a:cs typeface="Calibri" charset="0"/>
                      </a:endParaRPr>
                    </a:p>
                  </a:txBody>
                  <a:tcPr marL="76200" marR="76200" marT="50800" marB="50800"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FFFFFF"/>
                    </a:solidFill>
                  </a:tcPr>
                </a:tc>
              </a:tr>
              <a:tr h="0">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Operations</a:t>
                      </a:r>
                      <a:endParaRPr lang="en-US" sz="1100" dirty="0">
                        <a:latin typeface="Calibri" charset="0"/>
                        <a:ea typeface="Calibri" charset="0"/>
                        <a:cs typeface="Calibri" charset="0"/>
                      </a:endParaRPr>
                    </a:p>
                  </a:txBody>
                  <a:tcPr marL="76200" marR="76200" marT="50800" marB="50800"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F1F5F9"/>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£25,000</a:t>
                      </a:r>
                      <a:endParaRPr lang="en-US" sz="1100" dirty="0">
                        <a:latin typeface="Calibri" charset="0"/>
                        <a:ea typeface="Calibri" charset="0"/>
                        <a:cs typeface="Calibri" charset="0"/>
                      </a:endParaRPr>
                    </a:p>
                  </a:txBody>
                  <a:tcPr marL="76200" marR="76200" marT="50800" marB="50800"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F1F5F9"/>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17%</a:t>
                      </a:r>
                      <a:endParaRPr lang="en-US" sz="1100" dirty="0">
                        <a:latin typeface="Calibri" charset="0"/>
                        <a:ea typeface="Calibri" charset="0"/>
                        <a:cs typeface="Calibri" charset="0"/>
                      </a:endParaRPr>
                    </a:p>
                  </a:txBody>
                  <a:tcPr marL="76200" marR="76200" marT="50800" marB="50800"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F1F5F9"/>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Cloud hosting, Supabase, API costs, legal</a:t>
                      </a:r>
                      <a:endParaRPr lang="en-US" sz="1100" dirty="0">
                        <a:latin typeface="Calibri" charset="0"/>
                        <a:ea typeface="Calibri" charset="0"/>
                        <a:cs typeface="Calibri" charset="0"/>
                      </a:endParaRPr>
                    </a:p>
                  </a:txBody>
                  <a:tcPr marL="76200" marR="76200" marT="50800" marB="50800"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F1F5F9"/>
                    </a:solidFill>
                  </a:tcPr>
                </a:tc>
              </a:tr>
              <a:tr h="0">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Team &amp; Hiring</a:t>
                      </a:r>
                      <a:endParaRPr lang="en-US" sz="1100" dirty="0">
                        <a:latin typeface="Calibri" charset="0"/>
                        <a:ea typeface="Calibri" charset="0"/>
                        <a:cs typeface="Calibri" charset="0"/>
                      </a:endParaRPr>
                    </a:p>
                  </a:txBody>
                  <a:tcPr marL="76200" marR="76200" marT="50800" marB="50800"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£15,000</a:t>
                      </a:r>
                      <a:endParaRPr lang="en-US" sz="1100" dirty="0">
                        <a:latin typeface="Calibri" charset="0"/>
                        <a:ea typeface="Calibri" charset="0"/>
                        <a:cs typeface="Calibri" charset="0"/>
                      </a:endParaRPr>
                    </a:p>
                  </a:txBody>
                  <a:tcPr marL="76200" marR="76200" marT="50800" marB="50800"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76200" marR="76200" marT="50800" marB="50800"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FFFFFF"/>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Part-time energy advisor, customer support</a:t>
                      </a:r>
                      <a:endParaRPr lang="en-US" sz="1100" dirty="0">
                        <a:latin typeface="Calibri" charset="0"/>
                        <a:ea typeface="Calibri" charset="0"/>
                        <a:cs typeface="Calibri" charset="0"/>
                      </a:endParaRPr>
                    </a:p>
                  </a:txBody>
                  <a:tcPr marL="76200" marR="76200" marT="50800" marB="50800"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FFFFFF"/>
                    </a:solidFill>
                  </a:tcPr>
                </a:tc>
              </a:tr>
              <a:tr h="0">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Contingency</a:t>
                      </a:r>
                      <a:endParaRPr lang="en-US" sz="1100" dirty="0">
                        <a:latin typeface="Calibri" charset="0"/>
                        <a:ea typeface="Calibri" charset="0"/>
                        <a:cs typeface="Calibri" charset="0"/>
                      </a:endParaRPr>
                    </a:p>
                  </a:txBody>
                  <a:tcPr marL="76200" marR="76200" marT="50800" marB="50800"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F1F5F9"/>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£10,000</a:t>
                      </a:r>
                      <a:endParaRPr lang="en-US" sz="1100" dirty="0">
                        <a:latin typeface="Calibri" charset="0"/>
                        <a:ea typeface="Calibri" charset="0"/>
                        <a:cs typeface="Calibri" charset="0"/>
                      </a:endParaRPr>
                    </a:p>
                  </a:txBody>
                  <a:tcPr marL="76200" marR="76200" marT="50800" marB="50800"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F1F5F9"/>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76200" marR="76200" marT="50800" marB="50800"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F1F5F9"/>
                    </a:solidFill>
                  </a:tcPr>
                </a:tc>
                <a:tc>
                  <a:txBody>
                    <a:bodyPr/>
                    <a:lstStyle/>
                    <a:p>
                      <a:pPr indent="0" marL="0">
                        <a:buNone/>
                      </a:pPr>
                      <a:r>
                        <a:rPr lang="en-US" sz="1100" dirty="0">
                          <a:solidFill>
                            <a:srgbClr val="1E293B"/>
                          </a:solidFill>
                          <a:latin typeface="Calibri" pitchFamily="34" charset="0"/>
                          <a:ea typeface="Calibri" pitchFamily="34" charset="-122"/>
                          <a:cs typeface="Calibri" pitchFamily="34" charset="-120"/>
                        </a:rPr>
                        <a:t>Buffer for market shifts and unexpected costs</a:t>
                      </a:r>
                      <a:endParaRPr lang="en-US" sz="1100" dirty="0">
                        <a:latin typeface="Calibri" charset="0"/>
                        <a:ea typeface="Calibri" charset="0"/>
                        <a:cs typeface="Calibri" charset="0"/>
                      </a:endParaRPr>
                    </a:p>
                  </a:txBody>
                  <a:tcPr marL="76200" marR="76200" marT="50800" marB="50800" anchor="ctr">
                    <a:lnL w="0" cap="flat" cmpd="sng" algn="ctr">
                      <a:noFill/>
                    </a:lnL>
                    <a:lnR w="0" cap="flat" cmpd="sng" algn="ctr">
                      <a:noFill/>
                    </a:lnR>
                    <a:lnT w="6350" cap="flat" cmpd="sng" algn="ctr">
                      <a:solidFill>
                        <a:srgbClr val="E2E8F0"/>
                      </a:solidFill>
                      <a:prstDash val="solid"/>
                      <a:round/>
                      <a:headEnd type="none" w="med" len="med"/>
                      <a:tailEnd type="none" w="med" len="med"/>
                    </a:lnT>
                    <a:lnB w="0" cap="flat" cmpd="sng" algn="ctr">
                      <a:noFill/>
                    </a:lnB>
                    <a:solidFill>
                      <a:srgbClr val="F1F5F9"/>
                    </a:solidFill>
                  </a:tcPr>
                </a:tc>
              </a:tr>
            </a:tbl>
          </a:graphicData>
        </a:graphic>
      </p:graphicFrame>
      <p:sp>
        <p:nvSpPr>
          <p:cNvPr id="7" name="Text 3"/>
          <p:cNvSpPr/>
          <p:nvPr/>
        </p:nvSpPr>
        <p:spPr>
          <a:xfrm>
            <a:off x="457200" y="4389120"/>
            <a:ext cx="8229600" cy="36576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Runway: 18 months to Series A metrics (10K paid subscribers, £120K ARR).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D9488"/>
          </a:solidFill>
          <a:ln/>
        </p:spPr>
      </p:sp>
      <p:pic>
        <p:nvPicPr>
          <p:cNvPr id="3" name="Image 0" descr="preencoded.png">    </p:cNvPr>
          <p:cNvPicPr>
            <a:picLocks noChangeAspect="1"/>
          </p:cNvPicPr>
          <p:nvPr/>
        </p:nvPicPr>
        <p:blipFill>
          <a:blip r:embed="rId1"/>
          <a:stretch>
            <a:fillRect/>
          </a:stretch>
        </p:blipFill>
        <p:spPr>
          <a:xfrm>
            <a:off x="457200" y="320040"/>
            <a:ext cx="365760" cy="365760"/>
          </a:xfrm>
          <a:prstGeom prst="rect">
            <a:avLst/>
          </a:prstGeom>
        </p:spPr>
      </p:pic>
      <p:sp>
        <p:nvSpPr>
          <p:cNvPr id="4" name="Text 1"/>
          <p:cNvSpPr/>
          <p:nvPr/>
        </p:nvSpPr>
        <p:spPr>
          <a:xfrm>
            <a:off x="914400" y="274320"/>
            <a:ext cx="5486400" cy="502920"/>
          </a:xfrm>
          <a:prstGeom prst="rect">
            <a:avLst/>
          </a:prstGeom>
          <a:noFill/>
          <a:ln/>
        </p:spPr>
        <p:txBody>
          <a:bodyPr wrap="square" lIns="0" tIns="0" rIns="0" bIns="0"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Impact &amp; Scalability</a:t>
            </a:r>
            <a:endParaRPr lang="en-US" sz="3000" dirty="0"/>
          </a:p>
        </p:txBody>
      </p:sp>
      <p:sp>
        <p:nvSpPr>
          <p:cNvPr id="5" name="Shape 2"/>
          <p:cNvSpPr/>
          <p:nvPr/>
        </p:nvSpPr>
        <p:spPr>
          <a:xfrm>
            <a:off x="457200" y="1051560"/>
            <a:ext cx="8229600" cy="777240"/>
          </a:xfrm>
          <a:prstGeom prst="rect">
            <a:avLst/>
          </a:prstGeom>
          <a:solidFill>
            <a:srgbClr val="FFFFFF">
              <a:alpha val="8000"/>
            </a:srgbClr>
          </a:solidFill>
          <a:ln/>
        </p:spPr>
      </p:sp>
      <p:sp>
        <p:nvSpPr>
          <p:cNvPr id="6" name="Text 3"/>
          <p:cNvSpPr/>
          <p:nvPr/>
        </p:nvSpPr>
        <p:spPr>
          <a:xfrm>
            <a:off x="640080" y="1143000"/>
            <a:ext cx="2286000" cy="548640"/>
          </a:xfrm>
          <a:prstGeom prst="rect">
            <a:avLst/>
          </a:prstGeom>
          <a:noFill/>
          <a:ln/>
        </p:spPr>
        <p:txBody>
          <a:bodyPr wrap="square" lIns="0" tIns="0" rIns="0" bIns="0" rtlCol="0" anchor="ctr"/>
          <a:lstStyle/>
          <a:p>
            <a:pPr indent="0" marL="0">
              <a:buNone/>
            </a:pPr>
            <a:r>
              <a:rPr lang="en-US" sz="2600" b="1" dirty="0">
                <a:solidFill>
                  <a:srgbClr val="0D9488"/>
                </a:solidFill>
                <a:latin typeface="Trebuchet MS" pitchFamily="34" charset="0"/>
                <a:ea typeface="Trebuchet MS" pitchFamily="34" charset="-122"/>
                <a:cs typeface="Trebuchet MS" pitchFamily="34" charset="-120"/>
              </a:rPr>
              <a:t>2.4M tonnes</a:t>
            </a:r>
            <a:endParaRPr lang="en-US" sz="2600" dirty="0"/>
          </a:p>
        </p:txBody>
      </p:sp>
      <p:sp>
        <p:nvSpPr>
          <p:cNvPr id="7" name="Text 4"/>
          <p:cNvSpPr/>
          <p:nvPr/>
        </p:nvSpPr>
        <p:spPr>
          <a:xfrm>
            <a:off x="3017520" y="1234440"/>
            <a:ext cx="5303520" cy="457200"/>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potential CO₂ reduction if 10% of UK households optimise energy use</a:t>
            </a:r>
            <a:endParaRPr lang="en-US" sz="1300" dirty="0"/>
          </a:p>
        </p:txBody>
      </p:sp>
      <p:sp>
        <p:nvSpPr>
          <p:cNvPr id="8" name="Shape 5"/>
          <p:cNvSpPr/>
          <p:nvPr/>
        </p:nvSpPr>
        <p:spPr>
          <a:xfrm>
            <a:off x="457200" y="2057400"/>
            <a:ext cx="8229600" cy="777240"/>
          </a:xfrm>
          <a:prstGeom prst="rect">
            <a:avLst/>
          </a:prstGeom>
          <a:solidFill>
            <a:srgbClr val="FFFFFF">
              <a:alpha val="8000"/>
            </a:srgbClr>
          </a:solidFill>
          <a:ln/>
        </p:spPr>
      </p:sp>
      <p:sp>
        <p:nvSpPr>
          <p:cNvPr id="9" name="Text 6"/>
          <p:cNvSpPr/>
          <p:nvPr/>
        </p:nvSpPr>
        <p:spPr>
          <a:xfrm>
            <a:off x="640080" y="2148840"/>
            <a:ext cx="2286000" cy="548640"/>
          </a:xfrm>
          <a:prstGeom prst="rect">
            <a:avLst/>
          </a:prstGeom>
          <a:noFill/>
          <a:ln/>
        </p:spPr>
        <p:txBody>
          <a:bodyPr wrap="square" lIns="0" tIns="0" rIns="0" bIns="0" rtlCol="0" anchor="ctr"/>
          <a:lstStyle/>
          <a:p>
            <a:pPr indent="0" marL="0">
              <a:buNone/>
            </a:pPr>
            <a:r>
              <a:rPr lang="en-US" sz="2600" b="1" dirty="0">
                <a:solidFill>
                  <a:srgbClr val="0D9488"/>
                </a:solidFill>
                <a:latin typeface="Trebuchet MS" pitchFamily="34" charset="0"/>
                <a:ea typeface="Trebuchet MS" pitchFamily="34" charset="-122"/>
                <a:cs typeface="Trebuchet MS" pitchFamily="34" charset="-120"/>
              </a:rPr>
              <a:t>£8.7B</a:t>
            </a:r>
            <a:endParaRPr lang="en-US" sz="2600" dirty="0"/>
          </a:p>
        </p:txBody>
      </p:sp>
      <p:sp>
        <p:nvSpPr>
          <p:cNvPr id="10" name="Text 7"/>
          <p:cNvSpPr/>
          <p:nvPr/>
        </p:nvSpPr>
        <p:spPr>
          <a:xfrm>
            <a:off x="3017520" y="2240280"/>
            <a:ext cx="5303520" cy="457200"/>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annual household savings unlocked through smarter tariff switching</a:t>
            </a:r>
            <a:endParaRPr lang="en-US" sz="1300" dirty="0"/>
          </a:p>
        </p:txBody>
      </p:sp>
      <p:sp>
        <p:nvSpPr>
          <p:cNvPr id="11" name="Shape 8"/>
          <p:cNvSpPr/>
          <p:nvPr/>
        </p:nvSpPr>
        <p:spPr>
          <a:xfrm>
            <a:off x="457200" y="3063240"/>
            <a:ext cx="8229600" cy="777240"/>
          </a:xfrm>
          <a:prstGeom prst="rect">
            <a:avLst/>
          </a:prstGeom>
          <a:solidFill>
            <a:srgbClr val="FFFFFF">
              <a:alpha val="8000"/>
            </a:srgbClr>
          </a:solidFill>
          <a:ln/>
        </p:spPr>
      </p:sp>
      <p:sp>
        <p:nvSpPr>
          <p:cNvPr id="12" name="Text 9"/>
          <p:cNvSpPr/>
          <p:nvPr/>
        </p:nvSpPr>
        <p:spPr>
          <a:xfrm>
            <a:off x="640080" y="3154680"/>
            <a:ext cx="2286000" cy="548640"/>
          </a:xfrm>
          <a:prstGeom prst="rect">
            <a:avLst/>
          </a:prstGeom>
          <a:noFill/>
          <a:ln/>
        </p:spPr>
        <p:txBody>
          <a:bodyPr wrap="square" lIns="0" tIns="0" rIns="0" bIns="0" rtlCol="0" anchor="ctr"/>
          <a:lstStyle/>
          <a:p>
            <a:pPr indent="0" marL="0">
              <a:buNone/>
            </a:pPr>
            <a:r>
              <a:rPr lang="en-US" sz="2600" b="1" dirty="0">
                <a:solidFill>
                  <a:srgbClr val="0D9488"/>
                </a:solidFill>
                <a:latin typeface="Trebuchet MS" pitchFamily="34" charset="0"/>
                <a:ea typeface="Trebuchet MS" pitchFamily="34" charset="-122"/>
                <a:cs typeface="Trebuchet MS" pitchFamily="34" charset="-120"/>
              </a:rPr>
              <a:t>29M</a:t>
            </a:r>
            <a:endParaRPr lang="en-US" sz="2600" dirty="0"/>
          </a:p>
        </p:txBody>
      </p:sp>
      <p:sp>
        <p:nvSpPr>
          <p:cNvPr id="13" name="Text 10"/>
          <p:cNvSpPr/>
          <p:nvPr/>
        </p:nvSpPr>
        <p:spPr>
          <a:xfrm>
            <a:off x="3017520" y="3246120"/>
            <a:ext cx="5303520" cy="457200"/>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UK households addressable — expanding to EU energy markets in Year 3</a:t>
            </a:r>
            <a:endParaRPr lang="en-US" sz="1300" dirty="0"/>
          </a:p>
        </p:txBody>
      </p:sp>
      <p:sp>
        <p:nvSpPr>
          <p:cNvPr id="14" name="Text 11"/>
          <p:cNvSpPr/>
          <p:nvPr/>
        </p:nvSpPr>
        <p:spPr>
          <a:xfrm>
            <a:off x="457200" y="4160520"/>
            <a:ext cx="8229600" cy="274320"/>
          </a:xfrm>
          <a:prstGeom prst="rect">
            <a:avLst/>
          </a:prstGeom>
          <a:noFill/>
          <a:ln/>
        </p:spPr>
        <p:txBody>
          <a:bodyPr wrap="square" lIns="0" tIns="0" rIns="0" bIns="0" rtlCol="0" anchor="ctr"/>
          <a:lstStyle/>
          <a:p>
            <a:pPr indent="0" marL="0">
              <a:buNone/>
            </a:pPr>
            <a:r>
              <a:rPr lang="en-US" sz="1300" b="1" dirty="0">
                <a:solidFill>
                  <a:srgbClr val="F59E0B"/>
                </a:solidFill>
                <a:latin typeface="Trebuchet MS" pitchFamily="34" charset="0"/>
                <a:ea typeface="Trebuchet MS" pitchFamily="34" charset="-122"/>
                <a:cs typeface="Trebuchet MS" pitchFamily="34" charset="-120"/>
              </a:rPr>
              <a:t>Network Effects &amp; Scale:</a:t>
            </a:r>
            <a:endParaRPr lang="en-US" sz="1300" dirty="0"/>
          </a:p>
        </p:txBody>
      </p:sp>
      <p:sp>
        <p:nvSpPr>
          <p:cNvPr id="15" name="Text 12"/>
          <p:cNvSpPr/>
          <p:nvPr/>
        </p:nvSpPr>
        <p:spPr>
          <a:xfrm>
            <a:off x="457200" y="4434840"/>
            <a:ext cx="8229600" cy="457200"/>
          </a:xfrm>
          <a:prstGeom prst="rect">
            <a:avLst/>
          </a:prstGeom>
          <a:noFill/>
          <a:ln/>
        </p:spPr>
        <p:txBody>
          <a:bodyPr wrap="square" lIns="0" tIns="0" rIns="0" bIns="0" rtlCol="0" anchor="ctr"/>
          <a:lstStyle/>
          <a:p>
            <a:pPr indent="0" marL="0">
              <a:lnSpc>
                <a:spcPct val="130000"/>
              </a:lnSpc>
              <a:buNone/>
            </a:pPr>
            <a:r>
              <a:rPr lang="en-US" sz="1200" dirty="0">
                <a:solidFill>
                  <a:srgbClr val="CBD5E1"/>
                </a:solidFill>
                <a:latin typeface="Calibri" pitchFamily="34" charset="0"/>
                <a:ea typeface="Calibri" pitchFamily="34" charset="-122"/>
                <a:cs typeface="Calibri" pitchFamily="34" charset="-120"/>
              </a:rPr>
              <a:t>More users = richer anonymised benchmarking data = better recommendations = higher retention. Each new bill scanned improves AI accuracy for all users.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274320" y="182880"/>
            <a:ext cx="36576" cy="36576"/>
          </a:xfrm>
          <a:prstGeom prst="ellipse">
            <a:avLst/>
          </a:prstGeom>
          <a:solidFill>
            <a:srgbClr val="0D9488">
              <a:alpha val="15000"/>
            </a:srgbClr>
          </a:solidFill>
          <a:ln/>
        </p:spPr>
      </p:sp>
      <p:sp>
        <p:nvSpPr>
          <p:cNvPr id="3" name="Shape 1"/>
          <p:cNvSpPr/>
          <p:nvPr/>
        </p:nvSpPr>
        <p:spPr>
          <a:xfrm>
            <a:off x="713232" y="182880"/>
            <a:ext cx="36576" cy="36576"/>
          </a:xfrm>
          <a:prstGeom prst="ellipse">
            <a:avLst/>
          </a:prstGeom>
          <a:solidFill>
            <a:srgbClr val="0D9488">
              <a:alpha val="15000"/>
            </a:srgbClr>
          </a:solidFill>
          <a:ln/>
        </p:spPr>
      </p:sp>
      <p:sp>
        <p:nvSpPr>
          <p:cNvPr id="4" name="Shape 2"/>
          <p:cNvSpPr/>
          <p:nvPr/>
        </p:nvSpPr>
        <p:spPr>
          <a:xfrm>
            <a:off x="1152144" y="182880"/>
            <a:ext cx="36576" cy="36576"/>
          </a:xfrm>
          <a:prstGeom prst="ellipse">
            <a:avLst/>
          </a:prstGeom>
          <a:solidFill>
            <a:srgbClr val="0D9488">
              <a:alpha val="15000"/>
            </a:srgbClr>
          </a:solidFill>
          <a:ln/>
        </p:spPr>
      </p:sp>
      <p:sp>
        <p:nvSpPr>
          <p:cNvPr id="5" name="Shape 3"/>
          <p:cNvSpPr/>
          <p:nvPr/>
        </p:nvSpPr>
        <p:spPr>
          <a:xfrm>
            <a:off x="1591056" y="182880"/>
            <a:ext cx="36576" cy="36576"/>
          </a:xfrm>
          <a:prstGeom prst="ellipse">
            <a:avLst/>
          </a:prstGeom>
          <a:solidFill>
            <a:srgbClr val="0D9488">
              <a:alpha val="15000"/>
            </a:srgbClr>
          </a:solidFill>
          <a:ln/>
        </p:spPr>
      </p:sp>
      <p:sp>
        <p:nvSpPr>
          <p:cNvPr id="6" name="Shape 4"/>
          <p:cNvSpPr/>
          <p:nvPr/>
        </p:nvSpPr>
        <p:spPr>
          <a:xfrm>
            <a:off x="2029968" y="182880"/>
            <a:ext cx="36576" cy="36576"/>
          </a:xfrm>
          <a:prstGeom prst="ellipse">
            <a:avLst/>
          </a:prstGeom>
          <a:solidFill>
            <a:srgbClr val="0D9488">
              <a:alpha val="15000"/>
            </a:srgbClr>
          </a:solidFill>
          <a:ln/>
        </p:spPr>
      </p:sp>
      <p:sp>
        <p:nvSpPr>
          <p:cNvPr id="7" name="Shape 5"/>
          <p:cNvSpPr/>
          <p:nvPr/>
        </p:nvSpPr>
        <p:spPr>
          <a:xfrm>
            <a:off x="2468880" y="182880"/>
            <a:ext cx="36576" cy="36576"/>
          </a:xfrm>
          <a:prstGeom prst="ellipse">
            <a:avLst/>
          </a:prstGeom>
          <a:solidFill>
            <a:srgbClr val="0D9488">
              <a:alpha val="15000"/>
            </a:srgbClr>
          </a:solidFill>
          <a:ln/>
        </p:spPr>
      </p:sp>
      <p:sp>
        <p:nvSpPr>
          <p:cNvPr id="8" name="Shape 6"/>
          <p:cNvSpPr/>
          <p:nvPr/>
        </p:nvSpPr>
        <p:spPr>
          <a:xfrm>
            <a:off x="2907792" y="182880"/>
            <a:ext cx="36576" cy="36576"/>
          </a:xfrm>
          <a:prstGeom prst="ellipse">
            <a:avLst/>
          </a:prstGeom>
          <a:solidFill>
            <a:srgbClr val="0D9488">
              <a:alpha val="15000"/>
            </a:srgbClr>
          </a:solidFill>
          <a:ln/>
        </p:spPr>
      </p:sp>
      <p:sp>
        <p:nvSpPr>
          <p:cNvPr id="9" name="Shape 7"/>
          <p:cNvSpPr/>
          <p:nvPr/>
        </p:nvSpPr>
        <p:spPr>
          <a:xfrm>
            <a:off x="3346704" y="182880"/>
            <a:ext cx="36576" cy="36576"/>
          </a:xfrm>
          <a:prstGeom prst="ellipse">
            <a:avLst/>
          </a:prstGeom>
          <a:solidFill>
            <a:srgbClr val="0D9488">
              <a:alpha val="15000"/>
            </a:srgbClr>
          </a:solidFill>
          <a:ln/>
        </p:spPr>
      </p:sp>
      <p:sp>
        <p:nvSpPr>
          <p:cNvPr id="10" name="Shape 8"/>
          <p:cNvSpPr/>
          <p:nvPr/>
        </p:nvSpPr>
        <p:spPr>
          <a:xfrm>
            <a:off x="3785616" y="182880"/>
            <a:ext cx="36576" cy="36576"/>
          </a:xfrm>
          <a:prstGeom prst="ellipse">
            <a:avLst/>
          </a:prstGeom>
          <a:solidFill>
            <a:srgbClr val="0D9488">
              <a:alpha val="15000"/>
            </a:srgbClr>
          </a:solidFill>
          <a:ln/>
        </p:spPr>
      </p:sp>
      <p:sp>
        <p:nvSpPr>
          <p:cNvPr id="11" name="Shape 9"/>
          <p:cNvSpPr/>
          <p:nvPr/>
        </p:nvSpPr>
        <p:spPr>
          <a:xfrm>
            <a:off x="4224528" y="182880"/>
            <a:ext cx="36576" cy="36576"/>
          </a:xfrm>
          <a:prstGeom prst="ellipse">
            <a:avLst/>
          </a:prstGeom>
          <a:solidFill>
            <a:srgbClr val="0D9488">
              <a:alpha val="15000"/>
            </a:srgbClr>
          </a:solidFill>
          <a:ln/>
        </p:spPr>
      </p:sp>
      <p:sp>
        <p:nvSpPr>
          <p:cNvPr id="12" name="Shape 10"/>
          <p:cNvSpPr/>
          <p:nvPr/>
        </p:nvSpPr>
        <p:spPr>
          <a:xfrm>
            <a:off x="4663440" y="182880"/>
            <a:ext cx="36576" cy="36576"/>
          </a:xfrm>
          <a:prstGeom prst="ellipse">
            <a:avLst/>
          </a:prstGeom>
          <a:solidFill>
            <a:srgbClr val="0D9488">
              <a:alpha val="15000"/>
            </a:srgbClr>
          </a:solidFill>
          <a:ln/>
        </p:spPr>
      </p:sp>
      <p:sp>
        <p:nvSpPr>
          <p:cNvPr id="13" name="Shape 11"/>
          <p:cNvSpPr/>
          <p:nvPr/>
        </p:nvSpPr>
        <p:spPr>
          <a:xfrm>
            <a:off x="5102352" y="182880"/>
            <a:ext cx="36576" cy="36576"/>
          </a:xfrm>
          <a:prstGeom prst="ellipse">
            <a:avLst/>
          </a:prstGeom>
          <a:solidFill>
            <a:srgbClr val="0D9488">
              <a:alpha val="15000"/>
            </a:srgbClr>
          </a:solidFill>
          <a:ln/>
        </p:spPr>
      </p:sp>
      <p:sp>
        <p:nvSpPr>
          <p:cNvPr id="14" name="Shape 12"/>
          <p:cNvSpPr/>
          <p:nvPr/>
        </p:nvSpPr>
        <p:spPr>
          <a:xfrm>
            <a:off x="5541264" y="182880"/>
            <a:ext cx="36576" cy="36576"/>
          </a:xfrm>
          <a:prstGeom prst="ellipse">
            <a:avLst/>
          </a:prstGeom>
          <a:solidFill>
            <a:srgbClr val="0D9488">
              <a:alpha val="15000"/>
            </a:srgbClr>
          </a:solidFill>
          <a:ln/>
        </p:spPr>
      </p:sp>
      <p:sp>
        <p:nvSpPr>
          <p:cNvPr id="15" name="Shape 13"/>
          <p:cNvSpPr/>
          <p:nvPr/>
        </p:nvSpPr>
        <p:spPr>
          <a:xfrm>
            <a:off x="5980176" y="182880"/>
            <a:ext cx="36576" cy="36576"/>
          </a:xfrm>
          <a:prstGeom prst="ellipse">
            <a:avLst/>
          </a:prstGeom>
          <a:solidFill>
            <a:srgbClr val="0D9488">
              <a:alpha val="15000"/>
            </a:srgbClr>
          </a:solidFill>
          <a:ln/>
        </p:spPr>
      </p:sp>
      <p:sp>
        <p:nvSpPr>
          <p:cNvPr id="16" name="Shape 14"/>
          <p:cNvSpPr/>
          <p:nvPr/>
        </p:nvSpPr>
        <p:spPr>
          <a:xfrm>
            <a:off x="6419088" y="182880"/>
            <a:ext cx="36576" cy="36576"/>
          </a:xfrm>
          <a:prstGeom prst="ellipse">
            <a:avLst/>
          </a:prstGeom>
          <a:solidFill>
            <a:srgbClr val="0D9488">
              <a:alpha val="15000"/>
            </a:srgbClr>
          </a:solidFill>
          <a:ln/>
        </p:spPr>
      </p:sp>
      <p:sp>
        <p:nvSpPr>
          <p:cNvPr id="17" name="Shape 15"/>
          <p:cNvSpPr/>
          <p:nvPr/>
        </p:nvSpPr>
        <p:spPr>
          <a:xfrm>
            <a:off x="6858000" y="182880"/>
            <a:ext cx="36576" cy="36576"/>
          </a:xfrm>
          <a:prstGeom prst="ellipse">
            <a:avLst/>
          </a:prstGeom>
          <a:solidFill>
            <a:srgbClr val="0D9488">
              <a:alpha val="15000"/>
            </a:srgbClr>
          </a:solidFill>
          <a:ln/>
        </p:spPr>
      </p:sp>
      <p:sp>
        <p:nvSpPr>
          <p:cNvPr id="18" name="Shape 16"/>
          <p:cNvSpPr/>
          <p:nvPr/>
        </p:nvSpPr>
        <p:spPr>
          <a:xfrm>
            <a:off x="7296912" y="182880"/>
            <a:ext cx="36576" cy="36576"/>
          </a:xfrm>
          <a:prstGeom prst="ellipse">
            <a:avLst/>
          </a:prstGeom>
          <a:solidFill>
            <a:srgbClr val="0D9488">
              <a:alpha val="15000"/>
            </a:srgbClr>
          </a:solidFill>
          <a:ln/>
        </p:spPr>
      </p:sp>
      <p:sp>
        <p:nvSpPr>
          <p:cNvPr id="19" name="Shape 17"/>
          <p:cNvSpPr/>
          <p:nvPr/>
        </p:nvSpPr>
        <p:spPr>
          <a:xfrm>
            <a:off x="7735824" y="182880"/>
            <a:ext cx="36576" cy="36576"/>
          </a:xfrm>
          <a:prstGeom prst="ellipse">
            <a:avLst/>
          </a:prstGeom>
          <a:solidFill>
            <a:srgbClr val="0D9488">
              <a:alpha val="15000"/>
            </a:srgbClr>
          </a:solidFill>
          <a:ln/>
        </p:spPr>
      </p:sp>
      <p:sp>
        <p:nvSpPr>
          <p:cNvPr id="20" name="Shape 18"/>
          <p:cNvSpPr/>
          <p:nvPr/>
        </p:nvSpPr>
        <p:spPr>
          <a:xfrm>
            <a:off x="8174736" y="182880"/>
            <a:ext cx="36576" cy="36576"/>
          </a:xfrm>
          <a:prstGeom prst="ellipse">
            <a:avLst/>
          </a:prstGeom>
          <a:solidFill>
            <a:srgbClr val="0D9488">
              <a:alpha val="15000"/>
            </a:srgbClr>
          </a:solidFill>
          <a:ln/>
        </p:spPr>
      </p:sp>
      <p:sp>
        <p:nvSpPr>
          <p:cNvPr id="21" name="Shape 19"/>
          <p:cNvSpPr/>
          <p:nvPr/>
        </p:nvSpPr>
        <p:spPr>
          <a:xfrm>
            <a:off x="8613648" y="182880"/>
            <a:ext cx="36576" cy="36576"/>
          </a:xfrm>
          <a:prstGeom prst="ellipse">
            <a:avLst/>
          </a:prstGeom>
          <a:solidFill>
            <a:srgbClr val="0D9488">
              <a:alpha val="15000"/>
            </a:srgbClr>
          </a:solidFill>
          <a:ln/>
        </p:spPr>
      </p:sp>
      <p:sp>
        <p:nvSpPr>
          <p:cNvPr id="22" name="Shape 20"/>
          <p:cNvSpPr/>
          <p:nvPr/>
        </p:nvSpPr>
        <p:spPr>
          <a:xfrm>
            <a:off x="274320" y="621792"/>
            <a:ext cx="36576" cy="36576"/>
          </a:xfrm>
          <a:prstGeom prst="ellipse">
            <a:avLst/>
          </a:prstGeom>
          <a:solidFill>
            <a:srgbClr val="0D9488">
              <a:alpha val="15000"/>
            </a:srgbClr>
          </a:solidFill>
          <a:ln/>
        </p:spPr>
      </p:sp>
      <p:sp>
        <p:nvSpPr>
          <p:cNvPr id="23" name="Shape 21"/>
          <p:cNvSpPr/>
          <p:nvPr/>
        </p:nvSpPr>
        <p:spPr>
          <a:xfrm>
            <a:off x="713232" y="621792"/>
            <a:ext cx="36576" cy="36576"/>
          </a:xfrm>
          <a:prstGeom prst="ellipse">
            <a:avLst/>
          </a:prstGeom>
          <a:solidFill>
            <a:srgbClr val="0D9488">
              <a:alpha val="15000"/>
            </a:srgbClr>
          </a:solidFill>
          <a:ln/>
        </p:spPr>
      </p:sp>
      <p:sp>
        <p:nvSpPr>
          <p:cNvPr id="24" name="Shape 22"/>
          <p:cNvSpPr/>
          <p:nvPr/>
        </p:nvSpPr>
        <p:spPr>
          <a:xfrm>
            <a:off x="1152144" y="621792"/>
            <a:ext cx="36576" cy="36576"/>
          </a:xfrm>
          <a:prstGeom prst="ellipse">
            <a:avLst/>
          </a:prstGeom>
          <a:solidFill>
            <a:srgbClr val="0D9488">
              <a:alpha val="15000"/>
            </a:srgbClr>
          </a:solidFill>
          <a:ln/>
        </p:spPr>
      </p:sp>
      <p:sp>
        <p:nvSpPr>
          <p:cNvPr id="25" name="Shape 23"/>
          <p:cNvSpPr/>
          <p:nvPr/>
        </p:nvSpPr>
        <p:spPr>
          <a:xfrm>
            <a:off x="1591056" y="621792"/>
            <a:ext cx="36576" cy="36576"/>
          </a:xfrm>
          <a:prstGeom prst="ellipse">
            <a:avLst/>
          </a:prstGeom>
          <a:solidFill>
            <a:srgbClr val="0D9488">
              <a:alpha val="15000"/>
            </a:srgbClr>
          </a:solidFill>
          <a:ln/>
        </p:spPr>
      </p:sp>
      <p:sp>
        <p:nvSpPr>
          <p:cNvPr id="26" name="Shape 24"/>
          <p:cNvSpPr/>
          <p:nvPr/>
        </p:nvSpPr>
        <p:spPr>
          <a:xfrm>
            <a:off x="2029968" y="621792"/>
            <a:ext cx="36576" cy="36576"/>
          </a:xfrm>
          <a:prstGeom prst="ellipse">
            <a:avLst/>
          </a:prstGeom>
          <a:solidFill>
            <a:srgbClr val="0D9488">
              <a:alpha val="15000"/>
            </a:srgbClr>
          </a:solidFill>
          <a:ln/>
        </p:spPr>
      </p:sp>
      <p:sp>
        <p:nvSpPr>
          <p:cNvPr id="27" name="Shape 25"/>
          <p:cNvSpPr/>
          <p:nvPr/>
        </p:nvSpPr>
        <p:spPr>
          <a:xfrm>
            <a:off x="2468880" y="621792"/>
            <a:ext cx="36576" cy="36576"/>
          </a:xfrm>
          <a:prstGeom prst="ellipse">
            <a:avLst/>
          </a:prstGeom>
          <a:solidFill>
            <a:srgbClr val="0D9488">
              <a:alpha val="15000"/>
            </a:srgbClr>
          </a:solidFill>
          <a:ln/>
        </p:spPr>
      </p:sp>
      <p:sp>
        <p:nvSpPr>
          <p:cNvPr id="28" name="Shape 26"/>
          <p:cNvSpPr/>
          <p:nvPr/>
        </p:nvSpPr>
        <p:spPr>
          <a:xfrm>
            <a:off x="2907792" y="621792"/>
            <a:ext cx="36576" cy="36576"/>
          </a:xfrm>
          <a:prstGeom prst="ellipse">
            <a:avLst/>
          </a:prstGeom>
          <a:solidFill>
            <a:srgbClr val="0D9488">
              <a:alpha val="15000"/>
            </a:srgbClr>
          </a:solidFill>
          <a:ln/>
        </p:spPr>
      </p:sp>
      <p:sp>
        <p:nvSpPr>
          <p:cNvPr id="29" name="Shape 27"/>
          <p:cNvSpPr/>
          <p:nvPr/>
        </p:nvSpPr>
        <p:spPr>
          <a:xfrm>
            <a:off x="3346704" y="621792"/>
            <a:ext cx="36576" cy="36576"/>
          </a:xfrm>
          <a:prstGeom prst="ellipse">
            <a:avLst/>
          </a:prstGeom>
          <a:solidFill>
            <a:srgbClr val="0D9488">
              <a:alpha val="15000"/>
            </a:srgbClr>
          </a:solidFill>
          <a:ln/>
        </p:spPr>
      </p:sp>
      <p:sp>
        <p:nvSpPr>
          <p:cNvPr id="30" name="Shape 28"/>
          <p:cNvSpPr/>
          <p:nvPr/>
        </p:nvSpPr>
        <p:spPr>
          <a:xfrm>
            <a:off x="3785616" y="621792"/>
            <a:ext cx="36576" cy="36576"/>
          </a:xfrm>
          <a:prstGeom prst="ellipse">
            <a:avLst/>
          </a:prstGeom>
          <a:solidFill>
            <a:srgbClr val="0D9488">
              <a:alpha val="15000"/>
            </a:srgbClr>
          </a:solidFill>
          <a:ln/>
        </p:spPr>
      </p:sp>
      <p:sp>
        <p:nvSpPr>
          <p:cNvPr id="31" name="Shape 29"/>
          <p:cNvSpPr/>
          <p:nvPr/>
        </p:nvSpPr>
        <p:spPr>
          <a:xfrm>
            <a:off x="4224528" y="621792"/>
            <a:ext cx="36576" cy="36576"/>
          </a:xfrm>
          <a:prstGeom prst="ellipse">
            <a:avLst/>
          </a:prstGeom>
          <a:solidFill>
            <a:srgbClr val="0D9488">
              <a:alpha val="15000"/>
            </a:srgbClr>
          </a:solidFill>
          <a:ln/>
        </p:spPr>
      </p:sp>
      <p:sp>
        <p:nvSpPr>
          <p:cNvPr id="32" name="Shape 30"/>
          <p:cNvSpPr/>
          <p:nvPr/>
        </p:nvSpPr>
        <p:spPr>
          <a:xfrm>
            <a:off x="4663440" y="621792"/>
            <a:ext cx="36576" cy="36576"/>
          </a:xfrm>
          <a:prstGeom prst="ellipse">
            <a:avLst/>
          </a:prstGeom>
          <a:solidFill>
            <a:srgbClr val="0D9488">
              <a:alpha val="15000"/>
            </a:srgbClr>
          </a:solidFill>
          <a:ln/>
        </p:spPr>
      </p:sp>
      <p:sp>
        <p:nvSpPr>
          <p:cNvPr id="33" name="Shape 31"/>
          <p:cNvSpPr/>
          <p:nvPr/>
        </p:nvSpPr>
        <p:spPr>
          <a:xfrm>
            <a:off x="5102352" y="621792"/>
            <a:ext cx="36576" cy="36576"/>
          </a:xfrm>
          <a:prstGeom prst="ellipse">
            <a:avLst/>
          </a:prstGeom>
          <a:solidFill>
            <a:srgbClr val="0D9488">
              <a:alpha val="15000"/>
            </a:srgbClr>
          </a:solidFill>
          <a:ln/>
        </p:spPr>
      </p:sp>
      <p:sp>
        <p:nvSpPr>
          <p:cNvPr id="34" name="Shape 32"/>
          <p:cNvSpPr/>
          <p:nvPr/>
        </p:nvSpPr>
        <p:spPr>
          <a:xfrm>
            <a:off x="5541264" y="621792"/>
            <a:ext cx="36576" cy="36576"/>
          </a:xfrm>
          <a:prstGeom prst="ellipse">
            <a:avLst/>
          </a:prstGeom>
          <a:solidFill>
            <a:srgbClr val="0D9488">
              <a:alpha val="15000"/>
            </a:srgbClr>
          </a:solidFill>
          <a:ln/>
        </p:spPr>
      </p:sp>
      <p:sp>
        <p:nvSpPr>
          <p:cNvPr id="35" name="Shape 33"/>
          <p:cNvSpPr/>
          <p:nvPr/>
        </p:nvSpPr>
        <p:spPr>
          <a:xfrm>
            <a:off x="5980176" y="621792"/>
            <a:ext cx="36576" cy="36576"/>
          </a:xfrm>
          <a:prstGeom prst="ellipse">
            <a:avLst/>
          </a:prstGeom>
          <a:solidFill>
            <a:srgbClr val="0D9488">
              <a:alpha val="15000"/>
            </a:srgbClr>
          </a:solidFill>
          <a:ln/>
        </p:spPr>
      </p:sp>
      <p:sp>
        <p:nvSpPr>
          <p:cNvPr id="36" name="Shape 34"/>
          <p:cNvSpPr/>
          <p:nvPr/>
        </p:nvSpPr>
        <p:spPr>
          <a:xfrm>
            <a:off x="6419088" y="621792"/>
            <a:ext cx="36576" cy="36576"/>
          </a:xfrm>
          <a:prstGeom prst="ellipse">
            <a:avLst/>
          </a:prstGeom>
          <a:solidFill>
            <a:srgbClr val="0D9488">
              <a:alpha val="15000"/>
            </a:srgbClr>
          </a:solidFill>
          <a:ln/>
        </p:spPr>
      </p:sp>
      <p:sp>
        <p:nvSpPr>
          <p:cNvPr id="37" name="Shape 35"/>
          <p:cNvSpPr/>
          <p:nvPr/>
        </p:nvSpPr>
        <p:spPr>
          <a:xfrm>
            <a:off x="6858000" y="621792"/>
            <a:ext cx="36576" cy="36576"/>
          </a:xfrm>
          <a:prstGeom prst="ellipse">
            <a:avLst/>
          </a:prstGeom>
          <a:solidFill>
            <a:srgbClr val="0D9488">
              <a:alpha val="15000"/>
            </a:srgbClr>
          </a:solidFill>
          <a:ln/>
        </p:spPr>
      </p:sp>
      <p:sp>
        <p:nvSpPr>
          <p:cNvPr id="38" name="Shape 36"/>
          <p:cNvSpPr/>
          <p:nvPr/>
        </p:nvSpPr>
        <p:spPr>
          <a:xfrm>
            <a:off x="7296912" y="621792"/>
            <a:ext cx="36576" cy="36576"/>
          </a:xfrm>
          <a:prstGeom prst="ellipse">
            <a:avLst/>
          </a:prstGeom>
          <a:solidFill>
            <a:srgbClr val="0D9488">
              <a:alpha val="15000"/>
            </a:srgbClr>
          </a:solidFill>
          <a:ln/>
        </p:spPr>
      </p:sp>
      <p:sp>
        <p:nvSpPr>
          <p:cNvPr id="39" name="Shape 37"/>
          <p:cNvSpPr/>
          <p:nvPr/>
        </p:nvSpPr>
        <p:spPr>
          <a:xfrm>
            <a:off x="7735824" y="621792"/>
            <a:ext cx="36576" cy="36576"/>
          </a:xfrm>
          <a:prstGeom prst="ellipse">
            <a:avLst/>
          </a:prstGeom>
          <a:solidFill>
            <a:srgbClr val="0D9488">
              <a:alpha val="15000"/>
            </a:srgbClr>
          </a:solidFill>
          <a:ln/>
        </p:spPr>
      </p:sp>
      <p:sp>
        <p:nvSpPr>
          <p:cNvPr id="40" name="Shape 38"/>
          <p:cNvSpPr/>
          <p:nvPr/>
        </p:nvSpPr>
        <p:spPr>
          <a:xfrm>
            <a:off x="8174736" y="621792"/>
            <a:ext cx="36576" cy="36576"/>
          </a:xfrm>
          <a:prstGeom prst="ellipse">
            <a:avLst/>
          </a:prstGeom>
          <a:solidFill>
            <a:srgbClr val="0D9488">
              <a:alpha val="15000"/>
            </a:srgbClr>
          </a:solidFill>
          <a:ln/>
        </p:spPr>
      </p:sp>
      <p:sp>
        <p:nvSpPr>
          <p:cNvPr id="41" name="Shape 39"/>
          <p:cNvSpPr/>
          <p:nvPr/>
        </p:nvSpPr>
        <p:spPr>
          <a:xfrm>
            <a:off x="8613648" y="621792"/>
            <a:ext cx="36576" cy="36576"/>
          </a:xfrm>
          <a:prstGeom prst="ellipse">
            <a:avLst/>
          </a:prstGeom>
          <a:solidFill>
            <a:srgbClr val="0D9488">
              <a:alpha val="15000"/>
            </a:srgbClr>
          </a:solidFill>
          <a:ln/>
        </p:spPr>
      </p:sp>
      <p:sp>
        <p:nvSpPr>
          <p:cNvPr id="42" name="Shape 40"/>
          <p:cNvSpPr/>
          <p:nvPr/>
        </p:nvSpPr>
        <p:spPr>
          <a:xfrm>
            <a:off x="274320" y="1060704"/>
            <a:ext cx="36576" cy="36576"/>
          </a:xfrm>
          <a:prstGeom prst="ellipse">
            <a:avLst/>
          </a:prstGeom>
          <a:solidFill>
            <a:srgbClr val="0D9488">
              <a:alpha val="15000"/>
            </a:srgbClr>
          </a:solidFill>
          <a:ln/>
        </p:spPr>
      </p:sp>
      <p:sp>
        <p:nvSpPr>
          <p:cNvPr id="43" name="Shape 41"/>
          <p:cNvSpPr/>
          <p:nvPr/>
        </p:nvSpPr>
        <p:spPr>
          <a:xfrm>
            <a:off x="713232" y="1060704"/>
            <a:ext cx="36576" cy="36576"/>
          </a:xfrm>
          <a:prstGeom prst="ellipse">
            <a:avLst/>
          </a:prstGeom>
          <a:solidFill>
            <a:srgbClr val="0D9488">
              <a:alpha val="15000"/>
            </a:srgbClr>
          </a:solidFill>
          <a:ln/>
        </p:spPr>
      </p:sp>
      <p:sp>
        <p:nvSpPr>
          <p:cNvPr id="44" name="Shape 42"/>
          <p:cNvSpPr/>
          <p:nvPr/>
        </p:nvSpPr>
        <p:spPr>
          <a:xfrm>
            <a:off x="1152144" y="1060704"/>
            <a:ext cx="36576" cy="36576"/>
          </a:xfrm>
          <a:prstGeom prst="ellipse">
            <a:avLst/>
          </a:prstGeom>
          <a:solidFill>
            <a:srgbClr val="0D9488">
              <a:alpha val="15000"/>
            </a:srgbClr>
          </a:solidFill>
          <a:ln/>
        </p:spPr>
      </p:sp>
      <p:sp>
        <p:nvSpPr>
          <p:cNvPr id="45" name="Shape 43"/>
          <p:cNvSpPr/>
          <p:nvPr/>
        </p:nvSpPr>
        <p:spPr>
          <a:xfrm>
            <a:off x="1591056" y="1060704"/>
            <a:ext cx="36576" cy="36576"/>
          </a:xfrm>
          <a:prstGeom prst="ellipse">
            <a:avLst/>
          </a:prstGeom>
          <a:solidFill>
            <a:srgbClr val="0D9488">
              <a:alpha val="15000"/>
            </a:srgbClr>
          </a:solidFill>
          <a:ln/>
        </p:spPr>
      </p:sp>
      <p:sp>
        <p:nvSpPr>
          <p:cNvPr id="46" name="Shape 44"/>
          <p:cNvSpPr/>
          <p:nvPr/>
        </p:nvSpPr>
        <p:spPr>
          <a:xfrm>
            <a:off x="2029968" y="1060704"/>
            <a:ext cx="36576" cy="36576"/>
          </a:xfrm>
          <a:prstGeom prst="ellipse">
            <a:avLst/>
          </a:prstGeom>
          <a:solidFill>
            <a:srgbClr val="0D9488">
              <a:alpha val="15000"/>
            </a:srgbClr>
          </a:solidFill>
          <a:ln/>
        </p:spPr>
      </p:sp>
      <p:sp>
        <p:nvSpPr>
          <p:cNvPr id="47" name="Shape 45"/>
          <p:cNvSpPr/>
          <p:nvPr/>
        </p:nvSpPr>
        <p:spPr>
          <a:xfrm>
            <a:off x="2468880" y="1060704"/>
            <a:ext cx="36576" cy="36576"/>
          </a:xfrm>
          <a:prstGeom prst="ellipse">
            <a:avLst/>
          </a:prstGeom>
          <a:solidFill>
            <a:srgbClr val="0D9488">
              <a:alpha val="15000"/>
            </a:srgbClr>
          </a:solidFill>
          <a:ln/>
        </p:spPr>
      </p:sp>
      <p:sp>
        <p:nvSpPr>
          <p:cNvPr id="48" name="Shape 46"/>
          <p:cNvSpPr/>
          <p:nvPr/>
        </p:nvSpPr>
        <p:spPr>
          <a:xfrm>
            <a:off x="2907792" y="1060704"/>
            <a:ext cx="36576" cy="36576"/>
          </a:xfrm>
          <a:prstGeom prst="ellipse">
            <a:avLst/>
          </a:prstGeom>
          <a:solidFill>
            <a:srgbClr val="0D9488">
              <a:alpha val="15000"/>
            </a:srgbClr>
          </a:solidFill>
          <a:ln/>
        </p:spPr>
      </p:sp>
      <p:sp>
        <p:nvSpPr>
          <p:cNvPr id="49" name="Shape 47"/>
          <p:cNvSpPr/>
          <p:nvPr/>
        </p:nvSpPr>
        <p:spPr>
          <a:xfrm>
            <a:off x="3346704" y="1060704"/>
            <a:ext cx="36576" cy="36576"/>
          </a:xfrm>
          <a:prstGeom prst="ellipse">
            <a:avLst/>
          </a:prstGeom>
          <a:solidFill>
            <a:srgbClr val="0D9488">
              <a:alpha val="15000"/>
            </a:srgbClr>
          </a:solidFill>
          <a:ln/>
        </p:spPr>
      </p:sp>
      <p:sp>
        <p:nvSpPr>
          <p:cNvPr id="50" name="Shape 48"/>
          <p:cNvSpPr/>
          <p:nvPr/>
        </p:nvSpPr>
        <p:spPr>
          <a:xfrm>
            <a:off x="3785616" y="1060704"/>
            <a:ext cx="36576" cy="36576"/>
          </a:xfrm>
          <a:prstGeom prst="ellipse">
            <a:avLst/>
          </a:prstGeom>
          <a:solidFill>
            <a:srgbClr val="0D9488">
              <a:alpha val="15000"/>
            </a:srgbClr>
          </a:solidFill>
          <a:ln/>
        </p:spPr>
      </p:sp>
      <p:sp>
        <p:nvSpPr>
          <p:cNvPr id="51" name="Shape 49"/>
          <p:cNvSpPr/>
          <p:nvPr/>
        </p:nvSpPr>
        <p:spPr>
          <a:xfrm>
            <a:off x="4224528" y="1060704"/>
            <a:ext cx="36576" cy="36576"/>
          </a:xfrm>
          <a:prstGeom prst="ellipse">
            <a:avLst/>
          </a:prstGeom>
          <a:solidFill>
            <a:srgbClr val="0D9488">
              <a:alpha val="15000"/>
            </a:srgbClr>
          </a:solidFill>
          <a:ln/>
        </p:spPr>
      </p:sp>
      <p:sp>
        <p:nvSpPr>
          <p:cNvPr id="52" name="Shape 50"/>
          <p:cNvSpPr/>
          <p:nvPr/>
        </p:nvSpPr>
        <p:spPr>
          <a:xfrm>
            <a:off x="4663440" y="1060704"/>
            <a:ext cx="36576" cy="36576"/>
          </a:xfrm>
          <a:prstGeom prst="ellipse">
            <a:avLst/>
          </a:prstGeom>
          <a:solidFill>
            <a:srgbClr val="0D9488">
              <a:alpha val="15000"/>
            </a:srgbClr>
          </a:solidFill>
          <a:ln/>
        </p:spPr>
      </p:sp>
      <p:sp>
        <p:nvSpPr>
          <p:cNvPr id="53" name="Shape 51"/>
          <p:cNvSpPr/>
          <p:nvPr/>
        </p:nvSpPr>
        <p:spPr>
          <a:xfrm>
            <a:off x="5102352" y="1060704"/>
            <a:ext cx="36576" cy="36576"/>
          </a:xfrm>
          <a:prstGeom prst="ellipse">
            <a:avLst/>
          </a:prstGeom>
          <a:solidFill>
            <a:srgbClr val="0D9488">
              <a:alpha val="15000"/>
            </a:srgbClr>
          </a:solidFill>
          <a:ln/>
        </p:spPr>
      </p:sp>
      <p:sp>
        <p:nvSpPr>
          <p:cNvPr id="54" name="Shape 52"/>
          <p:cNvSpPr/>
          <p:nvPr/>
        </p:nvSpPr>
        <p:spPr>
          <a:xfrm>
            <a:off x="5541264" y="1060704"/>
            <a:ext cx="36576" cy="36576"/>
          </a:xfrm>
          <a:prstGeom prst="ellipse">
            <a:avLst/>
          </a:prstGeom>
          <a:solidFill>
            <a:srgbClr val="0D9488">
              <a:alpha val="15000"/>
            </a:srgbClr>
          </a:solidFill>
          <a:ln/>
        </p:spPr>
      </p:sp>
      <p:sp>
        <p:nvSpPr>
          <p:cNvPr id="55" name="Shape 53"/>
          <p:cNvSpPr/>
          <p:nvPr/>
        </p:nvSpPr>
        <p:spPr>
          <a:xfrm>
            <a:off x="5980176" y="1060704"/>
            <a:ext cx="36576" cy="36576"/>
          </a:xfrm>
          <a:prstGeom prst="ellipse">
            <a:avLst/>
          </a:prstGeom>
          <a:solidFill>
            <a:srgbClr val="0D9488">
              <a:alpha val="15000"/>
            </a:srgbClr>
          </a:solidFill>
          <a:ln/>
        </p:spPr>
      </p:sp>
      <p:sp>
        <p:nvSpPr>
          <p:cNvPr id="56" name="Shape 54"/>
          <p:cNvSpPr/>
          <p:nvPr/>
        </p:nvSpPr>
        <p:spPr>
          <a:xfrm>
            <a:off x="6419088" y="1060704"/>
            <a:ext cx="36576" cy="36576"/>
          </a:xfrm>
          <a:prstGeom prst="ellipse">
            <a:avLst/>
          </a:prstGeom>
          <a:solidFill>
            <a:srgbClr val="0D9488">
              <a:alpha val="15000"/>
            </a:srgbClr>
          </a:solidFill>
          <a:ln/>
        </p:spPr>
      </p:sp>
      <p:sp>
        <p:nvSpPr>
          <p:cNvPr id="57" name="Shape 55"/>
          <p:cNvSpPr/>
          <p:nvPr/>
        </p:nvSpPr>
        <p:spPr>
          <a:xfrm>
            <a:off x="6858000" y="1060704"/>
            <a:ext cx="36576" cy="36576"/>
          </a:xfrm>
          <a:prstGeom prst="ellipse">
            <a:avLst/>
          </a:prstGeom>
          <a:solidFill>
            <a:srgbClr val="0D9488">
              <a:alpha val="15000"/>
            </a:srgbClr>
          </a:solidFill>
          <a:ln/>
        </p:spPr>
      </p:sp>
      <p:sp>
        <p:nvSpPr>
          <p:cNvPr id="58" name="Shape 56"/>
          <p:cNvSpPr/>
          <p:nvPr/>
        </p:nvSpPr>
        <p:spPr>
          <a:xfrm>
            <a:off x="7296912" y="1060704"/>
            <a:ext cx="36576" cy="36576"/>
          </a:xfrm>
          <a:prstGeom prst="ellipse">
            <a:avLst/>
          </a:prstGeom>
          <a:solidFill>
            <a:srgbClr val="0D9488">
              <a:alpha val="15000"/>
            </a:srgbClr>
          </a:solidFill>
          <a:ln/>
        </p:spPr>
      </p:sp>
      <p:sp>
        <p:nvSpPr>
          <p:cNvPr id="59" name="Shape 57"/>
          <p:cNvSpPr/>
          <p:nvPr/>
        </p:nvSpPr>
        <p:spPr>
          <a:xfrm>
            <a:off x="7735824" y="1060704"/>
            <a:ext cx="36576" cy="36576"/>
          </a:xfrm>
          <a:prstGeom prst="ellipse">
            <a:avLst/>
          </a:prstGeom>
          <a:solidFill>
            <a:srgbClr val="0D9488">
              <a:alpha val="15000"/>
            </a:srgbClr>
          </a:solidFill>
          <a:ln/>
        </p:spPr>
      </p:sp>
      <p:sp>
        <p:nvSpPr>
          <p:cNvPr id="60" name="Shape 58"/>
          <p:cNvSpPr/>
          <p:nvPr/>
        </p:nvSpPr>
        <p:spPr>
          <a:xfrm>
            <a:off x="8174736" y="1060704"/>
            <a:ext cx="36576" cy="36576"/>
          </a:xfrm>
          <a:prstGeom prst="ellipse">
            <a:avLst/>
          </a:prstGeom>
          <a:solidFill>
            <a:srgbClr val="0D9488">
              <a:alpha val="15000"/>
            </a:srgbClr>
          </a:solidFill>
          <a:ln/>
        </p:spPr>
      </p:sp>
      <p:sp>
        <p:nvSpPr>
          <p:cNvPr id="61" name="Shape 59"/>
          <p:cNvSpPr/>
          <p:nvPr/>
        </p:nvSpPr>
        <p:spPr>
          <a:xfrm>
            <a:off x="8613648" y="1060704"/>
            <a:ext cx="36576" cy="36576"/>
          </a:xfrm>
          <a:prstGeom prst="ellipse">
            <a:avLst/>
          </a:prstGeom>
          <a:solidFill>
            <a:srgbClr val="0D9488">
              <a:alpha val="15000"/>
            </a:srgbClr>
          </a:solidFill>
          <a:ln/>
        </p:spPr>
      </p:sp>
      <p:sp>
        <p:nvSpPr>
          <p:cNvPr id="62" name="Shape 60"/>
          <p:cNvSpPr/>
          <p:nvPr/>
        </p:nvSpPr>
        <p:spPr>
          <a:xfrm>
            <a:off x="274320" y="1499616"/>
            <a:ext cx="36576" cy="36576"/>
          </a:xfrm>
          <a:prstGeom prst="ellipse">
            <a:avLst/>
          </a:prstGeom>
          <a:solidFill>
            <a:srgbClr val="0D9488">
              <a:alpha val="15000"/>
            </a:srgbClr>
          </a:solidFill>
          <a:ln/>
        </p:spPr>
      </p:sp>
      <p:sp>
        <p:nvSpPr>
          <p:cNvPr id="63" name="Shape 61"/>
          <p:cNvSpPr/>
          <p:nvPr/>
        </p:nvSpPr>
        <p:spPr>
          <a:xfrm>
            <a:off x="713232" y="1499616"/>
            <a:ext cx="36576" cy="36576"/>
          </a:xfrm>
          <a:prstGeom prst="ellipse">
            <a:avLst/>
          </a:prstGeom>
          <a:solidFill>
            <a:srgbClr val="0D9488">
              <a:alpha val="15000"/>
            </a:srgbClr>
          </a:solidFill>
          <a:ln/>
        </p:spPr>
      </p:sp>
      <p:sp>
        <p:nvSpPr>
          <p:cNvPr id="64" name="Shape 62"/>
          <p:cNvSpPr/>
          <p:nvPr/>
        </p:nvSpPr>
        <p:spPr>
          <a:xfrm>
            <a:off x="1152144" y="1499616"/>
            <a:ext cx="36576" cy="36576"/>
          </a:xfrm>
          <a:prstGeom prst="ellipse">
            <a:avLst/>
          </a:prstGeom>
          <a:solidFill>
            <a:srgbClr val="0D9488">
              <a:alpha val="15000"/>
            </a:srgbClr>
          </a:solidFill>
          <a:ln/>
        </p:spPr>
      </p:sp>
      <p:sp>
        <p:nvSpPr>
          <p:cNvPr id="65" name="Shape 63"/>
          <p:cNvSpPr/>
          <p:nvPr/>
        </p:nvSpPr>
        <p:spPr>
          <a:xfrm>
            <a:off x="1591056" y="1499616"/>
            <a:ext cx="36576" cy="36576"/>
          </a:xfrm>
          <a:prstGeom prst="ellipse">
            <a:avLst/>
          </a:prstGeom>
          <a:solidFill>
            <a:srgbClr val="0D9488">
              <a:alpha val="15000"/>
            </a:srgbClr>
          </a:solidFill>
          <a:ln/>
        </p:spPr>
      </p:sp>
      <p:sp>
        <p:nvSpPr>
          <p:cNvPr id="66" name="Shape 64"/>
          <p:cNvSpPr/>
          <p:nvPr/>
        </p:nvSpPr>
        <p:spPr>
          <a:xfrm>
            <a:off x="2029968" y="1499616"/>
            <a:ext cx="36576" cy="36576"/>
          </a:xfrm>
          <a:prstGeom prst="ellipse">
            <a:avLst/>
          </a:prstGeom>
          <a:solidFill>
            <a:srgbClr val="0D9488">
              <a:alpha val="15000"/>
            </a:srgbClr>
          </a:solidFill>
          <a:ln/>
        </p:spPr>
      </p:sp>
      <p:sp>
        <p:nvSpPr>
          <p:cNvPr id="67" name="Shape 65"/>
          <p:cNvSpPr/>
          <p:nvPr/>
        </p:nvSpPr>
        <p:spPr>
          <a:xfrm>
            <a:off x="2468880" y="1499616"/>
            <a:ext cx="36576" cy="36576"/>
          </a:xfrm>
          <a:prstGeom prst="ellipse">
            <a:avLst/>
          </a:prstGeom>
          <a:solidFill>
            <a:srgbClr val="0D9488">
              <a:alpha val="15000"/>
            </a:srgbClr>
          </a:solidFill>
          <a:ln/>
        </p:spPr>
      </p:sp>
      <p:sp>
        <p:nvSpPr>
          <p:cNvPr id="68" name="Shape 66"/>
          <p:cNvSpPr/>
          <p:nvPr/>
        </p:nvSpPr>
        <p:spPr>
          <a:xfrm>
            <a:off x="2907792" y="1499616"/>
            <a:ext cx="36576" cy="36576"/>
          </a:xfrm>
          <a:prstGeom prst="ellipse">
            <a:avLst/>
          </a:prstGeom>
          <a:solidFill>
            <a:srgbClr val="0D9488">
              <a:alpha val="15000"/>
            </a:srgbClr>
          </a:solidFill>
          <a:ln/>
        </p:spPr>
      </p:sp>
      <p:sp>
        <p:nvSpPr>
          <p:cNvPr id="69" name="Shape 67"/>
          <p:cNvSpPr/>
          <p:nvPr/>
        </p:nvSpPr>
        <p:spPr>
          <a:xfrm>
            <a:off x="3346704" y="1499616"/>
            <a:ext cx="36576" cy="36576"/>
          </a:xfrm>
          <a:prstGeom prst="ellipse">
            <a:avLst/>
          </a:prstGeom>
          <a:solidFill>
            <a:srgbClr val="0D9488">
              <a:alpha val="15000"/>
            </a:srgbClr>
          </a:solidFill>
          <a:ln/>
        </p:spPr>
      </p:sp>
      <p:sp>
        <p:nvSpPr>
          <p:cNvPr id="70" name="Shape 68"/>
          <p:cNvSpPr/>
          <p:nvPr/>
        </p:nvSpPr>
        <p:spPr>
          <a:xfrm>
            <a:off x="3785616" y="1499616"/>
            <a:ext cx="36576" cy="36576"/>
          </a:xfrm>
          <a:prstGeom prst="ellipse">
            <a:avLst/>
          </a:prstGeom>
          <a:solidFill>
            <a:srgbClr val="0D9488">
              <a:alpha val="15000"/>
            </a:srgbClr>
          </a:solidFill>
          <a:ln/>
        </p:spPr>
      </p:sp>
      <p:sp>
        <p:nvSpPr>
          <p:cNvPr id="71" name="Shape 69"/>
          <p:cNvSpPr/>
          <p:nvPr/>
        </p:nvSpPr>
        <p:spPr>
          <a:xfrm>
            <a:off x="4224528" y="1499616"/>
            <a:ext cx="36576" cy="36576"/>
          </a:xfrm>
          <a:prstGeom prst="ellipse">
            <a:avLst/>
          </a:prstGeom>
          <a:solidFill>
            <a:srgbClr val="0D9488">
              <a:alpha val="15000"/>
            </a:srgbClr>
          </a:solidFill>
          <a:ln/>
        </p:spPr>
      </p:sp>
      <p:sp>
        <p:nvSpPr>
          <p:cNvPr id="72" name="Shape 70"/>
          <p:cNvSpPr/>
          <p:nvPr/>
        </p:nvSpPr>
        <p:spPr>
          <a:xfrm>
            <a:off x="4663440" y="1499616"/>
            <a:ext cx="36576" cy="36576"/>
          </a:xfrm>
          <a:prstGeom prst="ellipse">
            <a:avLst/>
          </a:prstGeom>
          <a:solidFill>
            <a:srgbClr val="0D9488">
              <a:alpha val="15000"/>
            </a:srgbClr>
          </a:solidFill>
          <a:ln/>
        </p:spPr>
      </p:sp>
      <p:sp>
        <p:nvSpPr>
          <p:cNvPr id="73" name="Shape 71"/>
          <p:cNvSpPr/>
          <p:nvPr/>
        </p:nvSpPr>
        <p:spPr>
          <a:xfrm>
            <a:off x="5102352" y="1499616"/>
            <a:ext cx="36576" cy="36576"/>
          </a:xfrm>
          <a:prstGeom prst="ellipse">
            <a:avLst/>
          </a:prstGeom>
          <a:solidFill>
            <a:srgbClr val="0D9488">
              <a:alpha val="15000"/>
            </a:srgbClr>
          </a:solidFill>
          <a:ln/>
        </p:spPr>
      </p:sp>
      <p:sp>
        <p:nvSpPr>
          <p:cNvPr id="74" name="Shape 72"/>
          <p:cNvSpPr/>
          <p:nvPr/>
        </p:nvSpPr>
        <p:spPr>
          <a:xfrm>
            <a:off x="5541264" y="1499616"/>
            <a:ext cx="36576" cy="36576"/>
          </a:xfrm>
          <a:prstGeom prst="ellipse">
            <a:avLst/>
          </a:prstGeom>
          <a:solidFill>
            <a:srgbClr val="0D9488">
              <a:alpha val="15000"/>
            </a:srgbClr>
          </a:solidFill>
          <a:ln/>
        </p:spPr>
      </p:sp>
      <p:sp>
        <p:nvSpPr>
          <p:cNvPr id="75" name="Shape 73"/>
          <p:cNvSpPr/>
          <p:nvPr/>
        </p:nvSpPr>
        <p:spPr>
          <a:xfrm>
            <a:off x="5980176" y="1499616"/>
            <a:ext cx="36576" cy="36576"/>
          </a:xfrm>
          <a:prstGeom prst="ellipse">
            <a:avLst/>
          </a:prstGeom>
          <a:solidFill>
            <a:srgbClr val="0D9488">
              <a:alpha val="15000"/>
            </a:srgbClr>
          </a:solidFill>
          <a:ln/>
        </p:spPr>
      </p:sp>
      <p:sp>
        <p:nvSpPr>
          <p:cNvPr id="76" name="Shape 74"/>
          <p:cNvSpPr/>
          <p:nvPr/>
        </p:nvSpPr>
        <p:spPr>
          <a:xfrm>
            <a:off x="6419088" y="1499616"/>
            <a:ext cx="36576" cy="36576"/>
          </a:xfrm>
          <a:prstGeom prst="ellipse">
            <a:avLst/>
          </a:prstGeom>
          <a:solidFill>
            <a:srgbClr val="0D9488">
              <a:alpha val="15000"/>
            </a:srgbClr>
          </a:solidFill>
          <a:ln/>
        </p:spPr>
      </p:sp>
      <p:sp>
        <p:nvSpPr>
          <p:cNvPr id="77" name="Shape 75"/>
          <p:cNvSpPr/>
          <p:nvPr/>
        </p:nvSpPr>
        <p:spPr>
          <a:xfrm>
            <a:off x="6858000" y="1499616"/>
            <a:ext cx="36576" cy="36576"/>
          </a:xfrm>
          <a:prstGeom prst="ellipse">
            <a:avLst/>
          </a:prstGeom>
          <a:solidFill>
            <a:srgbClr val="0D9488">
              <a:alpha val="15000"/>
            </a:srgbClr>
          </a:solidFill>
          <a:ln/>
        </p:spPr>
      </p:sp>
      <p:sp>
        <p:nvSpPr>
          <p:cNvPr id="78" name="Shape 76"/>
          <p:cNvSpPr/>
          <p:nvPr/>
        </p:nvSpPr>
        <p:spPr>
          <a:xfrm>
            <a:off x="7296912" y="1499616"/>
            <a:ext cx="36576" cy="36576"/>
          </a:xfrm>
          <a:prstGeom prst="ellipse">
            <a:avLst/>
          </a:prstGeom>
          <a:solidFill>
            <a:srgbClr val="0D9488">
              <a:alpha val="15000"/>
            </a:srgbClr>
          </a:solidFill>
          <a:ln/>
        </p:spPr>
      </p:sp>
      <p:sp>
        <p:nvSpPr>
          <p:cNvPr id="79" name="Shape 77"/>
          <p:cNvSpPr/>
          <p:nvPr/>
        </p:nvSpPr>
        <p:spPr>
          <a:xfrm>
            <a:off x="7735824" y="1499616"/>
            <a:ext cx="36576" cy="36576"/>
          </a:xfrm>
          <a:prstGeom prst="ellipse">
            <a:avLst/>
          </a:prstGeom>
          <a:solidFill>
            <a:srgbClr val="0D9488">
              <a:alpha val="15000"/>
            </a:srgbClr>
          </a:solidFill>
          <a:ln/>
        </p:spPr>
      </p:sp>
      <p:sp>
        <p:nvSpPr>
          <p:cNvPr id="80" name="Shape 78"/>
          <p:cNvSpPr/>
          <p:nvPr/>
        </p:nvSpPr>
        <p:spPr>
          <a:xfrm>
            <a:off x="8174736" y="1499616"/>
            <a:ext cx="36576" cy="36576"/>
          </a:xfrm>
          <a:prstGeom prst="ellipse">
            <a:avLst/>
          </a:prstGeom>
          <a:solidFill>
            <a:srgbClr val="0D9488">
              <a:alpha val="15000"/>
            </a:srgbClr>
          </a:solidFill>
          <a:ln/>
        </p:spPr>
      </p:sp>
      <p:sp>
        <p:nvSpPr>
          <p:cNvPr id="81" name="Shape 79"/>
          <p:cNvSpPr/>
          <p:nvPr/>
        </p:nvSpPr>
        <p:spPr>
          <a:xfrm>
            <a:off x="8613648" y="1499616"/>
            <a:ext cx="36576" cy="36576"/>
          </a:xfrm>
          <a:prstGeom prst="ellipse">
            <a:avLst/>
          </a:prstGeom>
          <a:solidFill>
            <a:srgbClr val="0D9488">
              <a:alpha val="15000"/>
            </a:srgbClr>
          </a:solidFill>
          <a:ln/>
        </p:spPr>
      </p:sp>
      <p:sp>
        <p:nvSpPr>
          <p:cNvPr id="82" name="Shape 80"/>
          <p:cNvSpPr/>
          <p:nvPr/>
        </p:nvSpPr>
        <p:spPr>
          <a:xfrm>
            <a:off x="274320" y="1938528"/>
            <a:ext cx="36576" cy="36576"/>
          </a:xfrm>
          <a:prstGeom prst="ellipse">
            <a:avLst/>
          </a:prstGeom>
          <a:solidFill>
            <a:srgbClr val="0D9488">
              <a:alpha val="15000"/>
            </a:srgbClr>
          </a:solidFill>
          <a:ln/>
        </p:spPr>
      </p:sp>
      <p:sp>
        <p:nvSpPr>
          <p:cNvPr id="83" name="Shape 81"/>
          <p:cNvSpPr/>
          <p:nvPr/>
        </p:nvSpPr>
        <p:spPr>
          <a:xfrm>
            <a:off x="713232" y="1938528"/>
            <a:ext cx="36576" cy="36576"/>
          </a:xfrm>
          <a:prstGeom prst="ellipse">
            <a:avLst/>
          </a:prstGeom>
          <a:solidFill>
            <a:srgbClr val="0D9488">
              <a:alpha val="15000"/>
            </a:srgbClr>
          </a:solidFill>
          <a:ln/>
        </p:spPr>
      </p:sp>
      <p:sp>
        <p:nvSpPr>
          <p:cNvPr id="84" name="Shape 82"/>
          <p:cNvSpPr/>
          <p:nvPr/>
        </p:nvSpPr>
        <p:spPr>
          <a:xfrm>
            <a:off x="1152144" y="1938528"/>
            <a:ext cx="36576" cy="36576"/>
          </a:xfrm>
          <a:prstGeom prst="ellipse">
            <a:avLst/>
          </a:prstGeom>
          <a:solidFill>
            <a:srgbClr val="0D9488">
              <a:alpha val="15000"/>
            </a:srgbClr>
          </a:solidFill>
          <a:ln/>
        </p:spPr>
      </p:sp>
      <p:sp>
        <p:nvSpPr>
          <p:cNvPr id="85" name="Shape 83"/>
          <p:cNvSpPr/>
          <p:nvPr/>
        </p:nvSpPr>
        <p:spPr>
          <a:xfrm>
            <a:off x="1591056" y="1938528"/>
            <a:ext cx="36576" cy="36576"/>
          </a:xfrm>
          <a:prstGeom prst="ellipse">
            <a:avLst/>
          </a:prstGeom>
          <a:solidFill>
            <a:srgbClr val="0D9488">
              <a:alpha val="15000"/>
            </a:srgbClr>
          </a:solidFill>
          <a:ln/>
        </p:spPr>
      </p:sp>
      <p:sp>
        <p:nvSpPr>
          <p:cNvPr id="86" name="Shape 84"/>
          <p:cNvSpPr/>
          <p:nvPr/>
        </p:nvSpPr>
        <p:spPr>
          <a:xfrm>
            <a:off x="2029968" y="1938528"/>
            <a:ext cx="36576" cy="36576"/>
          </a:xfrm>
          <a:prstGeom prst="ellipse">
            <a:avLst/>
          </a:prstGeom>
          <a:solidFill>
            <a:srgbClr val="0D9488">
              <a:alpha val="15000"/>
            </a:srgbClr>
          </a:solidFill>
          <a:ln/>
        </p:spPr>
      </p:sp>
      <p:sp>
        <p:nvSpPr>
          <p:cNvPr id="87" name="Shape 85"/>
          <p:cNvSpPr/>
          <p:nvPr/>
        </p:nvSpPr>
        <p:spPr>
          <a:xfrm>
            <a:off x="2468880" y="1938528"/>
            <a:ext cx="36576" cy="36576"/>
          </a:xfrm>
          <a:prstGeom prst="ellipse">
            <a:avLst/>
          </a:prstGeom>
          <a:solidFill>
            <a:srgbClr val="0D9488">
              <a:alpha val="15000"/>
            </a:srgbClr>
          </a:solidFill>
          <a:ln/>
        </p:spPr>
      </p:sp>
      <p:sp>
        <p:nvSpPr>
          <p:cNvPr id="88" name="Shape 86"/>
          <p:cNvSpPr/>
          <p:nvPr/>
        </p:nvSpPr>
        <p:spPr>
          <a:xfrm>
            <a:off x="2907792" y="1938528"/>
            <a:ext cx="36576" cy="36576"/>
          </a:xfrm>
          <a:prstGeom prst="ellipse">
            <a:avLst/>
          </a:prstGeom>
          <a:solidFill>
            <a:srgbClr val="0D9488">
              <a:alpha val="15000"/>
            </a:srgbClr>
          </a:solidFill>
          <a:ln/>
        </p:spPr>
      </p:sp>
      <p:sp>
        <p:nvSpPr>
          <p:cNvPr id="89" name="Shape 87"/>
          <p:cNvSpPr/>
          <p:nvPr/>
        </p:nvSpPr>
        <p:spPr>
          <a:xfrm>
            <a:off x="3346704" y="1938528"/>
            <a:ext cx="36576" cy="36576"/>
          </a:xfrm>
          <a:prstGeom prst="ellipse">
            <a:avLst/>
          </a:prstGeom>
          <a:solidFill>
            <a:srgbClr val="0D9488">
              <a:alpha val="15000"/>
            </a:srgbClr>
          </a:solidFill>
          <a:ln/>
        </p:spPr>
      </p:sp>
      <p:sp>
        <p:nvSpPr>
          <p:cNvPr id="90" name="Shape 88"/>
          <p:cNvSpPr/>
          <p:nvPr/>
        </p:nvSpPr>
        <p:spPr>
          <a:xfrm>
            <a:off x="3785616" y="1938528"/>
            <a:ext cx="36576" cy="36576"/>
          </a:xfrm>
          <a:prstGeom prst="ellipse">
            <a:avLst/>
          </a:prstGeom>
          <a:solidFill>
            <a:srgbClr val="0D9488">
              <a:alpha val="15000"/>
            </a:srgbClr>
          </a:solidFill>
          <a:ln/>
        </p:spPr>
      </p:sp>
      <p:sp>
        <p:nvSpPr>
          <p:cNvPr id="91" name="Shape 89"/>
          <p:cNvSpPr/>
          <p:nvPr/>
        </p:nvSpPr>
        <p:spPr>
          <a:xfrm>
            <a:off x="4224528" y="1938528"/>
            <a:ext cx="36576" cy="36576"/>
          </a:xfrm>
          <a:prstGeom prst="ellipse">
            <a:avLst/>
          </a:prstGeom>
          <a:solidFill>
            <a:srgbClr val="0D9488">
              <a:alpha val="15000"/>
            </a:srgbClr>
          </a:solidFill>
          <a:ln/>
        </p:spPr>
      </p:sp>
      <p:sp>
        <p:nvSpPr>
          <p:cNvPr id="92" name="Shape 90"/>
          <p:cNvSpPr/>
          <p:nvPr/>
        </p:nvSpPr>
        <p:spPr>
          <a:xfrm>
            <a:off x="4663440" y="1938528"/>
            <a:ext cx="36576" cy="36576"/>
          </a:xfrm>
          <a:prstGeom prst="ellipse">
            <a:avLst/>
          </a:prstGeom>
          <a:solidFill>
            <a:srgbClr val="0D9488">
              <a:alpha val="15000"/>
            </a:srgbClr>
          </a:solidFill>
          <a:ln/>
        </p:spPr>
      </p:sp>
      <p:sp>
        <p:nvSpPr>
          <p:cNvPr id="93" name="Shape 91"/>
          <p:cNvSpPr/>
          <p:nvPr/>
        </p:nvSpPr>
        <p:spPr>
          <a:xfrm>
            <a:off x="5102352" y="1938528"/>
            <a:ext cx="36576" cy="36576"/>
          </a:xfrm>
          <a:prstGeom prst="ellipse">
            <a:avLst/>
          </a:prstGeom>
          <a:solidFill>
            <a:srgbClr val="0D9488">
              <a:alpha val="15000"/>
            </a:srgbClr>
          </a:solidFill>
          <a:ln/>
        </p:spPr>
      </p:sp>
      <p:sp>
        <p:nvSpPr>
          <p:cNvPr id="94" name="Shape 92"/>
          <p:cNvSpPr/>
          <p:nvPr/>
        </p:nvSpPr>
        <p:spPr>
          <a:xfrm>
            <a:off x="5541264" y="1938528"/>
            <a:ext cx="36576" cy="36576"/>
          </a:xfrm>
          <a:prstGeom prst="ellipse">
            <a:avLst/>
          </a:prstGeom>
          <a:solidFill>
            <a:srgbClr val="0D9488">
              <a:alpha val="15000"/>
            </a:srgbClr>
          </a:solidFill>
          <a:ln/>
        </p:spPr>
      </p:sp>
      <p:sp>
        <p:nvSpPr>
          <p:cNvPr id="95" name="Shape 93"/>
          <p:cNvSpPr/>
          <p:nvPr/>
        </p:nvSpPr>
        <p:spPr>
          <a:xfrm>
            <a:off x="5980176" y="1938528"/>
            <a:ext cx="36576" cy="36576"/>
          </a:xfrm>
          <a:prstGeom prst="ellipse">
            <a:avLst/>
          </a:prstGeom>
          <a:solidFill>
            <a:srgbClr val="0D9488">
              <a:alpha val="15000"/>
            </a:srgbClr>
          </a:solidFill>
          <a:ln/>
        </p:spPr>
      </p:sp>
      <p:sp>
        <p:nvSpPr>
          <p:cNvPr id="96" name="Shape 94"/>
          <p:cNvSpPr/>
          <p:nvPr/>
        </p:nvSpPr>
        <p:spPr>
          <a:xfrm>
            <a:off x="6419088" y="1938528"/>
            <a:ext cx="36576" cy="36576"/>
          </a:xfrm>
          <a:prstGeom prst="ellipse">
            <a:avLst/>
          </a:prstGeom>
          <a:solidFill>
            <a:srgbClr val="0D9488">
              <a:alpha val="15000"/>
            </a:srgbClr>
          </a:solidFill>
          <a:ln/>
        </p:spPr>
      </p:sp>
      <p:sp>
        <p:nvSpPr>
          <p:cNvPr id="97" name="Shape 95"/>
          <p:cNvSpPr/>
          <p:nvPr/>
        </p:nvSpPr>
        <p:spPr>
          <a:xfrm>
            <a:off x="6858000" y="1938528"/>
            <a:ext cx="36576" cy="36576"/>
          </a:xfrm>
          <a:prstGeom prst="ellipse">
            <a:avLst/>
          </a:prstGeom>
          <a:solidFill>
            <a:srgbClr val="0D9488">
              <a:alpha val="15000"/>
            </a:srgbClr>
          </a:solidFill>
          <a:ln/>
        </p:spPr>
      </p:sp>
      <p:sp>
        <p:nvSpPr>
          <p:cNvPr id="98" name="Shape 96"/>
          <p:cNvSpPr/>
          <p:nvPr/>
        </p:nvSpPr>
        <p:spPr>
          <a:xfrm>
            <a:off x="7296912" y="1938528"/>
            <a:ext cx="36576" cy="36576"/>
          </a:xfrm>
          <a:prstGeom prst="ellipse">
            <a:avLst/>
          </a:prstGeom>
          <a:solidFill>
            <a:srgbClr val="0D9488">
              <a:alpha val="15000"/>
            </a:srgbClr>
          </a:solidFill>
          <a:ln/>
        </p:spPr>
      </p:sp>
      <p:sp>
        <p:nvSpPr>
          <p:cNvPr id="99" name="Shape 97"/>
          <p:cNvSpPr/>
          <p:nvPr/>
        </p:nvSpPr>
        <p:spPr>
          <a:xfrm>
            <a:off x="7735824" y="1938528"/>
            <a:ext cx="36576" cy="36576"/>
          </a:xfrm>
          <a:prstGeom prst="ellipse">
            <a:avLst/>
          </a:prstGeom>
          <a:solidFill>
            <a:srgbClr val="0D9488">
              <a:alpha val="15000"/>
            </a:srgbClr>
          </a:solidFill>
          <a:ln/>
        </p:spPr>
      </p:sp>
      <p:sp>
        <p:nvSpPr>
          <p:cNvPr id="100" name="Shape 98"/>
          <p:cNvSpPr/>
          <p:nvPr/>
        </p:nvSpPr>
        <p:spPr>
          <a:xfrm>
            <a:off x="8174736" y="1938528"/>
            <a:ext cx="36576" cy="36576"/>
          </a:xfrm>
          <a:prstGeom prst="ellipse">
            <a:avLst/>
          </a:prstGeom>
          <a:solidFill>
            <a:srgbClr val="0D9488">
              <a:alpha val="15000"/>
            </a:srgbClr>
          </a:solidFill>
          <a:ln/>
        </p:spPr>
      </p:sp>
      <p:sp>
        <p:nvSpPr>
          <p:cNvPr id="101" name="Shape 99"/>
          <p:cNvSpPr/>
          <p:nvPr/>
        </p:nvSpPr>
        <p:spPr>
          <a:xfrm>
            <a:off x="8613648" y="1938528"/>
            <a:ext cx="36576" cy="36576"/>
          </a:xfrm>
          <a:prstGeom prst="ellipse">
            <a:avLst/>
          </a:prstGeom>
          <a:solidFill>
            <a:srgbClr val="0D9488">
              <a:alpha val="15000"/>
            </a:srgbClr>
          </a:solidFill>
          <a:ln/>
        </p:spPr>
      </p:sp>
      <p:sp>
        <p:nvSpPr>
          <p:cNvPr id="102" name="Shape 100"/>
          <p:cNvSpPr/>
          <p:nvPr/>
        </p:nvSpPr>
        <p:spPr>
          <a:xfrm>
            <a:off x="274320" y="2377440"/>
            <a:ext cx="36576" cy="36576"/>
          </a:xfrm>
          <a:prstGeom prst="ellipse">
            <a:avLst/>
          </a:prstGeom>
          <a:solidFill>
            <a:srgbClr val="0D9488">
              <a:alpha val="15000"/>
            </a:srgbClr>
          </a:solidFill>
          <a:ln/>
        </p:spPr>
      </p:sp>
      <p:sp>
        <p:nvSpPr>
          <p:cNvPr id="103" name="Shape 101"/>
          <p:cNvSpPr/>
          <p:nvPr/>
        </p:nvSpPr>
        <p:spPr>
          <a:xfrm>
            <a:off x="713232" y="2377440"/>
            <a:ext cx="36576" cy="36576"/>
          </a:xfrm>
          <a:prstGeom prst="ellipse">
            <a:avLst/>
          </a:prstGeom>
          <a:solidFill>
            <a:srgbClr val="0D9488">
              <a:alpha val="15000"/>
            </a:srgbClr>
          </a:solidFill>
          <a:ln/>
        </p:spPr>
      </p:sp>
      <p:sp>
        <p:nvSpPr>
          <p:cNvPr id="104" name="Shape 102"/>
          <p:cNvSpPr/>
          <p:nvPr/>
        </p:nvSpPr>
        <p:spPr>
          <a:xfrm>
            <a:off x="1152144" y="2377440"/>
            <a:ext cx="36576" cy="36576"/>
          </a:xfrm>
          <a:prstGeom prst="ellipse">
            <a:avLst/>
          </a:prstGeom>
          <a:solidFill>
            <a:srgbClr val="0D9488">
              <a:alpha val="15000"/>
            </a:srgbClr>
          </a:solidFill>
          <a:ln/>
        </p:spPr>
      </p:sp>
      <p:sp>
        <p:nvSpPr>
          <p:cNvPr id="105" name="Shape 103"/>
          <p:cNvSpPr/>
          <p:nvPr/>
        </p:nvSpPr>
        <p:spPr>
          <a:xfrm>
            <a:off x="1591056" y="2377440"/>
            <a:ext cx="36576" cy="36576"/>
          </a:xfrm>
          <a:prstGeom prst="ellipse">
            <a:avLst/>
          </a:prstGeom>
          <a:solidFill>
            <a:srgbClr val="0D9488">
              <a:alpha val="15000"/>
            </a:srgbClr>
          </a:solidFill>
          <a:ln/>
        </p:spPr>
      </p:sp>
      <p:sp>
        <p:nvSpPr>
          <p:cNvPr id="106" name="Shape 104"/>
          <p:cNvSpPr/>
          <p:nvPr/>
        </p:nvSpPr>
        <p:spPr>
          <a:xfrm>
            <a:off x="2029968" y="2377440"/>
            <a:ext cx="36576" cy="36576"/>
          </a:xfrm>
          <a:prstGeom prst="ellipse">
            <a:avLst/>
          </a:prstGeom>
          <a:solidFill>
            <a:srgbClr val="0D9488">
              <a:alpha val="15000"/>
            </a:srgbClr>
          </a:solidFill>
          <a:ln/>
        </p:spPr>
      </p:sp>
      <p:sp>
        <p:nvSpPr>
          <p:cNvPr id="107" name="Shape 105"/>
          <p:cNvSpPr/>
          <p:nvPr/>
        </p:nvSpPr>
        <p:spPr>
          <a:xfrm>
            <a:off x="2468880" y="2377440"/>
            <a:ext cx="36576" cy="36576"/>
          </a:xfrm>
          <a:prstGeom prst="ellipse">
            <a:avLst/>
          </a:prstGeom>
          <a:solidFill>
            <a:srgbClr val="0D9488">
              <a:alpha val="15000"/>
            </a:srgbClr>
          </a:solidFill>
          <a:ln/>
        </p:spPr>
      </p:sp>
      <p:sp>
        <p:nvSpPr>
          <p:cNvPr id="108" name="Shape 106"/>
          <p:cNvSpPr/>
          <p:nvPr/>
        </p:nvSpPr>
        <p:spPr>
          <a:xfrm>
            <a:off x="2907792" y="2377440"/>
            <a:ext cx="36576" cy="36576"/>
          </a:xfrm>
          <a:prstGeom prst="ellipse">
            <a:avLst/>
          </a:prstGeom>
          <a:solidFill>
            <a:srgbClr val="0D9488">
              <a:alpha val="15000"/>
            </a:srgbClr>
          </a:solidFill>
          <a:ln/>
        </p:spPr>
      </p:sp>
      <p:sp>
        <p:nvSpPr>
          <p:cNvPr id="109" name="Shape 107"/>
          <p:cNvSpPr/>
          <p:nvPr/>
        </p:nvSpPr>
        <p:spPr>
          <a:xfrm>
            <a:off x="3346704" y="2377440"/>
            <a:ext cx="36576" cy="36576"/>
          </a:xfrm>
          <a:prstGeom prst="ellipse">
            <a:avLst/>
          </a:prstGeom>
          <a:solidFill>
            <a:srgbClr val="0D9488">
              <a:alpha val="15000"/>
            </a:srgbClr>
          </a:solidFill>
          <a:ln/>
        </p:spPr>
      </p:sp>
      <p:sp>
        <p:nvSpPr>
          <p:cNvPr id="110" name="Shape 108"/>
          <p:cNvSpPr/>
          <p:nvPr/>
        </p:nvSpPr>
        <p:spPr>
          <a:xfrm>
            <a:off x="3785616" y="2377440"/>
            <a:ext cx="36576" cy="36576"/>
          </a:xfrm>
          <a:prstGeom prst="ellipse">
            <a:avLst/>
          </a:prstGeom>
          <a:solidFill>
            <a:srgbClr val="0D9488">
              <a:alpha val="15000"/>
            </a:srgbClr>
          </a:solidFill>
          <a:ln/>
        </p:spPr>
      </p:sp>
      <p:sp>
        <p:nvSpPr>
          <p:cNvPr id="111" name="Shape 109"/>
          <p:cNvSpPr/>
          <p:nvPr/>
        </p:nvSpPr>
        <p:spPr>
          <a:xfrm>
            <a:off x="4224528" y="2377440"/>
            <a:ext cx="36576" cy="36576"/>
          </a:xfrm>
          <a:prstGeom prst="ellipse">
            <a:avLst/>
          </a:prstGeom>
          <a:solidFill>
            <a:srgbClr val="0D9488">
              <a:alpha val="15000"/>
            </a:srgbClr>
          </a:solidFill>
          <a:ln/>
        </p:spPr>
      </p:sp>
      <p:sp>
        <p:nvSpPr>
          <p:cNvPr id="112" name="Shape 110"/>
          <p:cNvSpPr/>
          <p:nvPr/>
        </p:nvSpPr>
        <p:spPr>
          <a:xfrm>
            <a:off x="4663440" y="2377440"/>
            <a:ext cx="36576" cy="36576"/>
          </a:xfrm>
          <a:prstGeom prst="ellipse">
            <a:avLst/>
          </a:prstGeom>
          <a:solidFill>
            <a:srgbClr val="0D9488">
              <a:alpha val="15000"/>
            </a:srgbClr>
          </a:solidFill>
          <a:ln/>
        </p:spPr>
      </p:sp>
      <p:sp>
        <p:nvSpPr>
          <p:cNvPr id="113" name="Shape 111"/>
          <p:cNvSpPr/>
          <p:nvPr/>
        </p:nvSpPr>
        <p:spPr>
          <a:xfrm>
            <a:off x="5102352" y="2377440"/>
            <a:ext cx="36576" cy="36576"/>
          </a:xfrm>
          <a:prstGeom prst="ellipse">
            <a:avLst/>
          </a:prstGeom>
          <a:solidFill>
            <a:srgbClr val="0D9488">
              <a:alpha val="15000"/>
            </a:srgbClr>
          </a:solidFill>
          <a:ln/>
        </p:spPr>
      </p:sp>
      <p:sp>
        <p:nvSpPr>
          <p:cNvPr id="114" name="Shape 112"/>
          <p:cNvSpPr/>
          <p:nvPr/>
        </p:nvSpPr>
        <p:spPr>
          <a:xfrm>
            <a:off x="5541264" y="2377440"/>
            <a:ext cx="36576" cy="36576"/>
          </a:xfrm>
          <a:prstGeom prst="ellipse">
            <a:avLst/>
          </a:prstGeom>
          <a:solidFill>
            <a:srgbClr val="0D9488">
              <a:alpha val="15000"/>
            </a:srgbClr>
          </a:solidFill>
          <a:ln/>
        </p:spPr>
      </p:sp>
      <p:sp>
        <p:nvSpPr>
          <p:cNvPr id="115" name="Shape 113"/>
          <p:cNvSpPr/>
          <p:nvPr/>
        </p:nvSpPr>
        <p:spPr>
          <a:xfrm>
            <a:off x="5980176" y="2377440"/>
            <a:ext cx="36576" cy="36576"/>
          </a:xfrm>
          <a:prstGeom prst="ellipse">
            <a:avLst/>
          </a:prstGeom>
          <a:solidFill>
            <a:srgbClr val="0D9488">
              <a:alpha val="15000"/>
            </a:srgbClr>
          </a:solidFill>
          <a:ln/>
        </p:spPr>
      </p:sp>
      <p:sp>
        <p:nvSpPr>
          <p:cNvPr id="116" name="Shape 114"/>
          <p:cNvSpPr/>
          <p:nvPr/>
        </p:nvSpPr>
        <p:spPr>
          <a:xfrm>
            <a:off x="6419088" y="2377440"/>
            <a:ext cx="36576" cy="36576"/>
          </a:xfrm>
          <a:prstGeom prst="ellipse">
            <a:avLst/>
          </a:prstGeom>
          <a:solidFill>
            <a:srgbClr val="0D9488">
              <a:alpha val="15000"/>
            </a:srgbClr>
          </a:solidFill>
          <a:ln/>
        </p:spPr>
      </p:sp>
      <p:sp>
        <p:nvSpPr>
          <p:cNvPr id="117" name="Shape 115"/>
          <p:cNvSpPr/>
          <p:nvPr/>
        </p:nvSpPr>
        <p:spPr>
          <a:xfrm>
            <a:off x="6858000" y="2377440"/>
            <a:ext cx="36576" cy="36576"/>
          </a:xfrm>
          <a:prstGeom prst="ellipse">
            <a:avLst/>
          </a:prstGeom>
          <a:solidFill>
            <a:srgbClr val="0D9488">
              <a:alpha val="15000"/>
            </a:srgbClr>
          </a:solidFill>
          <a:ln/>
        </p:spPr>
      </p:sp>
      <p:sp>
        <p:nvSpPr>
          <p:cNvPr id="118" name="Shape 116"/>
          <p:cNvSpPr/>
          <p:nvPr/>
        </p:nvSpPr>
        <p:spPr>
          <a:xfrm>
            <a:off x="7296912" y="2377440"/>
            <a:ext cx="36576" cy="36576"/>
          </a:xfrm>
          <a:prstGeom prst="ellipse">
            <a:avLst/>
          </a:prstGeom>
          <a:solidFill>
            <a:srgbClr val="0D9488">
              <a:alpha val="15000"/>
            </a:srgbClr>
          </a:solidFill>
          <a:ln/>
        </p:spPr>
      </p:sp>
      <p:sp>
        <p:nvSpPr>
          <p:cNvPr id="119" name="Shape 117"/>
          <p:cNvSpPr/>
          <p:nvPr/>
        </p:nvSpPr>
        <p:spPr>
          <a:xfrm>
            <a:off x="7735824" y="2377440"/>
            <a:ext cx="36576" cy="36576"/>
          </a:xfrm>
          <a:prstGeom prst="ellipse">
            <a:avLst/>
          </a:prstGeom>
          <a:solidFill>
            <a:srgbClr val="0D9488">
              <a:alpha val="15000"/>
            </a:srgbClr>
          </a:solidFill>
          <a:ln/>
        </p:spPr>
      </p:sp>
      <p:sp>
        <p:nvSpPr>
          <p:cNvPr id="120" name="Shape 118"/>
          <p:cNvSpPr/>
          <p:nvPr/>
        </p:nvSpPr>
        <p:spPr>
          <a:xfrm>
            <a:off x="8174736" y="2377440"/>
            <a:ext cx="36576" cy="36576"/>
          </a:xfrm>
          <a:prstGeom prst="ellipse">
            <a:avLst/>
          </a:prstGeom>
          <a:solidFill>
            <a:srgbClr val="0D9488">
              <a:alpha val="15000"/>
            </a:srgbClr>
          </a:solidFill>
          <a:ln/>
        </p:spPr>
      </p:sp>
      <p:sp>
        <p:nvSpPr>
          <p:cNvPr id="121" name="Shape 119"/>
          <p:cNvSpPr/>
          <p:nvPr/>
        </p:nvSpPr>
        <p:spPr>
          <a:xfrm>
            <a:off x="8613648" y="2377440"/>
            <a:ext cx="36576" cy="36576"/>
          </a:xfrm>
          <a:prstGeom prst="ellipse">
            <a:avLst/>
          </a:prstGeom>
          <a:solidFill>
            <a:srgbClr val="0D9488">
              <a:alpha val="15000"/>
            </a:srgbClr>
          </a:solidFill>
          <a:ln/>
        </p:spPr>
      </p:sp>
      <p:sp>
        <p:nvSpPr>
          <p:cNvPr id="122" name="Shape 120"/>
          <p:cNvSpPr/>
          <p:nvPr/>
        </p:nvSpPr>
        <p:spPr>
          <a:xfrm>
            <a:off x="274320" y="2816352"/>
            <a:ext cx="36576" cy="36576"/>
          </a:xfrm>
          <a:prstGeom prst="ellipse">
            <a:avLst/>
          </a:prstGeom>
          <a:solidFill>
            <a:srgbClr val="0D9488">
              <a:alpha val="15000"/>
            </a:srgbClr>
          </a:solidFill>
          <a:ln/>
        </p:spPr>
      </p:sp>
      <p:sp>
        <p:nvSpPr>
          <p:cNvPr id="123" name="Shape 121"/>
          <p:cNvSpPr/>
          <p:nvPr/>
        </p:nvSpPr>
        <p:spPr>
          <a:xfrm>
            <a:off x="713232" y="2816352"/>
            <a:ext cx="36576" cy="36576"/>
          </a:xfrm>
          <a:prstGeom prst="ellipse">
            <a:avLst/>
          </a:prstGeom>
          <a:solidFill>
            <a:srgbClr val="0D9488">
              <a:alpha val="15000"/>
            </a:srgbClr>
          </a:solidFill>
          <a:ln/>
        </p:spPr>
      </p:sp>
      <p:sp>
        <p:nvSpPr>
          <p:cNvPr id="124" name="Shape 122"/>
          <p:cNvSpPr/>
          <p:nvPr/>
        </p:nvSpPr>
        <p:spPr>
          <a:xfrm>
            <a:off x="1152144" y="2816352"/>
            <a:ext cx="36576" cy="36576"/>
          </a:xfrm>
          <a:prstGeom prst="ellipse">
            <a:avLst/>
          </a:prstGeom>
          <a:solidFill>
            <a:srgbClr val="0D9488">
              <a:alpha val="15000"/>
            </a:srgbClr>
          </a:solidFill>
          <a:ln/>
        </p:spPr>
      </p:sp>
      <p:sp>
        <p:nvSpPr>
          <p:cNvPr id="125" name="Shape 123"/>
          <p:cNvSpPr/>
          <p:nvPr/>
        </p:nvSpPr>
        <p:spPr>
          <a:xfrm>
            <a:off x="1591056" y="2816352"/>
            <a:ext cx="36576" cy="36576"/>
          </a:xfrm>
          <a:prstGeom prst="ellipse">
            <a:avLst/>
          </a:prstGeom>
          <a:solidFill>
            <a:srgbClr val="0D9488">
              <a:alpha val="15000"/>
            </a:srgbClr>
          </a:solidFill>
          <a:ln/>
        </p:spPr>
      </p:sp>
      <p:sp>
        <p:nvSpPr>
          <p:cNvPr id="126" name="Shape 124"/>
          <p:cNvSpPr/>
          <p:nvPr/>
        </p:nvSpPr>
        <p:spPr>
          <a:xfrm>
            <a:off x="2029968" y="2816352"/>
            <a:ext cx="36576" cy="36576"/>
          </a:xfrm>
          <a:prstGeom prst="ellipse">
            <a:avLst/>
          </a:prstGeom>
          <a:solidFill>
            <a:srgbClr val="0D9488">
              <a:alpha val="15000"/>
            </a:srgbClr>
          </a:solidFill>
          <a:ln/>
        </p:spPr>
      </p:sp>
      <p:sp>
        <p:nvSpPr>
          <p:cNvPr id="127" name="Shape 125"/>
          <p:cNvSpPr/>
          <p:nvPr/>
        </p:nvSpPr>
        <p:spPr>
          <a:xfrm>
            <a:off x="2468880" y="2816352"/>
            <a:ext cx="36576" cy="36576"/>
          </a:xfrm>
          <a:prstGeom prst="ellipse">
            <a:avLst/>
          </a:prstGeom>
          <a:solidFill>
            <a:srgbClr val="0D9488">
              <a:alpha val="15000"/>
            </a:srgbClr>
          </a:solidFill>
          <a:ln/>
        </p:spPr>
      </p:sp>
      <p:sp>
        <p:nvSpPr>
          <p:cNvPr id="128" name="Shape 126"/>
          <p:cNvSpPr/>
          <p:nvPr/>
        </p:nvSpPr>
        <p:spPr>
          <a:xfrm>
            <a:off x="2907792" y="2816352"/>
            <a:ext cx="36576" cy="36576"/>
          </a:xfrm>
          <a:prstGeom prst="ellipse">
            <a:avLst/>
          </a:prstGeom>
          <a:solidFill>
            <a:srgbClr val="0D9488">
              <a:alpha val="15000"/>
            </a:srgbClr>
          </a:solidFill>
          <a:ln/>
        </p:spPr>
      </p:sp>
      <p:sp>
        <p:nvSpPr>
          <p:cNvPr id="129" name="Shape 127"/>
          <p:cNvSpPr/>
          <p:nvPr/>
        </p:nvSpPr>
        <p:spPr>
          <a:xfrm>
            <a:off x="3346704" y="2816352"/>
            <a:ext cx="36576" cy="36576"/>
          </a:xfrm>
          <a:prstGeom prst="ellipse">
            <a:avLst/>
          </a:prstGeom>
          <a:solidFill>
            <a:srgbClr val="0D9488">
              <a:alpha val="15000"/>
            </a:srgbClr>
          </a:solidFill>
          <a:ln/>
        </p:spPr>
      </p:sp>
      <p:sp>
        <p:nvSpPr>
          <p:cNvPr id="130" name="Shape 128"/>
          <p:cNvSpPr/>
          <p:nvPr/>
        </p:nvSpPr>
        <p:spPr>
          <a:xfrm>
            <a:off x="3785616" y="2816352"/>
            <a:ext cx="36576" cy="36576"/>
          </a:xfrm>
          <a:prstGeom prst="ellipse">
            <a:avLst/>
          </a:prstGeom>
          <a:solidFill>
            <a:srgbClr val="0D9488">
              <a:alpha val="15000"/>
            </a:srgbClr>
          </a:solidFill>
          <a:ln/>
        </p:spPr>
      </p:sp>
      <p:sp>
        <p:nvSpPr>
          <p:cNvPr id="131" name="Shape 129"/>
          <p:cNvSpPr/>
          <p:nvPr/>
        </p:nvSpPr>
        <p:spPr>
          <a:xfrm>
            <a:off x="4224528" y="2816352"/>
            <a:ext cx="36576" cy="36576"/>
          </a:xfrm>
          <a:prstGeom prst="ellipse">
            <a:avLst/>
          </a:prstGeom>
          <a:solidFill>
            <a:srgbClr val="0D9488">
              <a:alpha val="15000"/>
            </a:srgbClr>
          </a:solidFill>
          <a:ln/>
        </p:spPr>
      </p:sp>
      <p:sp>
        <p:nvSpPr>
          <p:cNvPr id="132" name="Shape 130"/>
          <p:cNvSpPr/>
          <p:nvPr/>
        </p:nvSpPr>
        <p:spPr>
          <a:xfrm>
            <a:off x="4663440" y="2816352"/>
            <a:ext cx="36576" cy="36576"/>
          </a:xfrm>
          <a:prstGeom prst="ellipse">
            <a:avLst/>
          </a:prstGeom>
          <a:solidFill>
            <a:srgbClr val="0D9488">
              <a:alpha val="15000"/>
            </a:srgbClr>
          </a:solidFill>
          <a:ln/>
        </p:spPr>
      </p:sp>
      <p:sp>
        <p:nvSpPr>
          <p:cNvPr id="133" name="Shape 131"/>
          <p:cNvSpPr/>
          <p:nvPr/>
        </p:nvSpPr>
        <p:spPr>
          <a:xfrm>
            <a:off x="5102352" y="2816352"/>
            <a:ext cx="36576" cy="36576"/>
          </a:xfrm>
          <a:prstGeom prst="ellipse">
            <a:avLst/>
          </a:prstGeom>
          <a:solidFill>
            <a:srgbClr val="0D9488">
              <a:alpha val="15000"/>
            </a:srgbClr>
          </a:solidFill>
          <a:ln/>
        </p:spPr>
      </p:sp>
      <p:sp>
        <p:nvSpPr>
          <p:cNvPr id="134" name="Shape 132"/>
          <p:cNvSpPr/>
          <p:nvPr/>
        </p:nvSpPr>
        <p:spPr>
          <a:xfrm>
            <a:off x="5541264" y="2816352"/>
            <a:ext cx="36576" cy="36576"/>
          </a:xfrm>
          <a:prstGeom prst="ellipse">
            <a:avLst/>
          </a:prstGeom>
          <a:solidFill>
            <a:srgbClr val="0D9488">
              <a:alpha val="15000"/>
            </a:srgbClr>
          </a:solidFill>
          <a:ln/>
        </p:spPr>
      </p:sp>
      <p:sp>
        <p:nvSpPr>
          <p:cNvPr id="135" name="Shape 133"/>
          <p:cNvSpPr/>
          <p:nvPr/>
        </p:nvSpPr>
        <p:spPr>
          <a:xfrm>
            <a:off x="5980176" y="2816352"/>
            <a:ext cx="36576" cy="36576"/>
          </a:xfrm>
          <a:prstGeom prst="ellipse">
            <a:avLst/>
          </a:prstGeom>
          <a:solidFill>
            <a:srgbClr val="0D9488">
              <a:alpha val="15000"/>
            </a:srgbClr>
          </a:solidFill>
          <a:ln/>
        </p:spPr>
      </p:sp>
      <p:sp>
        <p:nvSpPr>
          <p:cNvPr id="136" name="Shape 134"/>
          <p:cNvSpPr/>
          <p:nvPr/>
        </p:nvSpPr>
        <p:spPr>
          <a:xfrm>
            <a:off x="6419088" y="2816352"/>
            <a:ext cx="36576" cy="36576"/>
          </a:xfrm>
          <a:prstGeom prst="ellipse">
            <a:avLst/>
          </a:prstGeom>
          <a:solidFill>
            <a:srgbClr val="0D9488">
              <a:alpha val="15000"/>
            </a:srgbClr>
          </a:solidFill>
          <a:ln/>
        </p:spPr>
      </p:sp>
      <p:sp>
        <p:nvSpPr>
          <p:cNvPr id="137" name="Shape 135"/>
          <p:cNvSpPr/>
          <p:nvPr/>
        </p:nvSpPr>
        <p:spPr>
          <a:xfrm>
            <a:off x="6858000" y="2816352"/>
            <a:ext cx="36576" cy="36576"/>
          </a:xfrm>
          <a:prstGeom prst="ellipse">
            <a:avLst/>
          </a:prstGeom>
          <a:solidFill>
            <a:srgbClr val="0D9488">
              <a:alpha val="15000"/>
            </a:srgbClr>
          </a:solidFill>
          <a:ln/>
        </p:spPr>
      </p:sp>
      <p:sp>
        <p:nvSpPr>
          <p:cNvPr id="138" name="Shape 136"/>
          <p:cNvSpPr/>
          <p:nvPr/>
        </p:nvSpPr>
        <p:spPr>
          <a:xfrm>
            <a:off x="7296912" y="2816352"/>
            <a:ext cx="36576" cy="36576"/>
          </a:xfrm>
          <a:prstGeom prst="ellipse">
            <a:avLst/>
          </a:prstGeom>
          <a:solidFill>
            <a:srgbClr val="0D9488">
              <a:alpha val="15000"/>
            </a:srgbClr>
          </a:solidFill>
          <a:ln/>
        </p:spPr>
      </p:sp>
      <p:sp>
        <p:nvSpPr>
          <p:cNvPr id="139" name="Shape 137"/>
          <p:cNvSpPr/>
          <p:nvPr/>
        </p:nvSpPr>
        <p:spPr>
          <a:xfrm>
            <a:off x="7735824" y="2816352"/>
            <a:ext cx="36576" cy="36576"/>
          </a:xfrm>
          <a:prstGeom prst="ellipse">
            <a:avLst/>
          </a:prstGeom>
          <a:solidFill>
            <a:srgbClr val="0D9488">
              <a:alpha val="15000"/>
            </a:srgbClr>
          </a:solidFill>
          <a:ln/>
        </p:spPr>
      </p:sp>
      <p:sp>
        <p:nvSpPr>
          <p:cNvPr id="140" name="Shape 138"/>
          <p:cNvSpPr/>
          <p:nvPr/>
        </p:nvSpPr>
        <p:spPr>
          <a:xfrm>
            <a:off x="8174736" y="2816352"/>
            <a:ext cx="36576" cy="36576"/>
          </a:xfrm>
          <a:prstGeom prst="ellipse">
            <a:avLst/>
          </a:prstGeom>
          <a:solidFill>
            <a:srgbClr val="0D9488">
              <a:alpha val="15000"/>
            </a:srgbClr>
          </a:solidFill>
          <a:ln/>
        </p:spPr>
      </p:sp>
      <p:sp>
        <p:nvSpPr>
          <p:cNvPr id="141" name="Shape 139"/>
          <p:cNvSpPr/>
          <p:nvPr/>
        </p:nvSpPr>
        <p:spPr>
          <a:xfrm>
            <a:off x="8613648" y="2816352"/>
            <a:ext cx="36576" cy="36576"/>
          </a:xfrm>
          <a:prstGeom prst="ellipse">
            <a:avLst/>
          </a:prstGeom>
          <a:solidFill>
            <a:srgbClr val="0D9488">
              <a:alpha val="15000"/>
            </a:srgbClr>
          </a:solidFill>
          <a:ln/>
        </p:spPr>
      </p:sp>
      <p:sp>
        <p:nvSpPr>
          <p:cNvPr id="142" name="Shape 140"/>
          <p:cNvSpPr/>
          <p:nvPr/>
        </p:nvSpPr>
        <p:spPr>
          <a:xfrm>
            <a:off x="274320" y="3255264"/>
            <a:ext cx="36576" cy="36576"/>
          </a:xfrm>
          <a:prstGeom prst="ellipse">
            <a:avLst/>
          </a:prstGeom>
          <a:solidFill>
            <a:srgbClr val="0D9488">
              <a:alpha val="15000"/>
            </a:srgbClr>
          </a:solidFill>
          <a:ln/>
        </p:spPr>
      </p:sp>
      <p:sp>
        <p:nvSpPr>
          <p:cNvPr id="143" name="Shape 141"/>
          <p:cNvSpPr/>
          <p:nvPr/>
        </p:nvSpPr>
        <p:spPr>
          <a:xfrm>
            <a:off x="713232" y="3255264"/>
            <a:ext cx="36576" cy="36576"/>
          </a:xfrm>
          <a:prstGeom prst="ellipse">
            <a:avLst/>
          </a:prstGeom>
          <a:solidFill>
            <a:srgbClr val="0D9488">
              <a:alpha val="15000"/>
            </a:srgbClr>
          </a:solidFill>
          <a:ln/>
        </p:spPr>
      </p:sp>
      <p:sp>
        <p:nvSpPr>
          <p:cNvPr id="144" name="Shape 142"/>
          <p:cNvSpPr/>
          <p:nvPr/>
        </p:nvSpPr>
        <p:spPr>
          <a:xfrm>
            <a:off x="1152144" y="3255264"/>
            <a:ext cx="36576" cy="36576"/>
          </a:xfrm>
          <a:prstGeom prst="ellipse">
            <a:avLst/>
          </a:prstGeom>
          <a:solidFill>
            <a:srgbClr val="0D9488">
              <a:alpha val="15000"/>
            </a:srgbClr>
          </a:solidFill>
          <a:ln/>
        </p:spPr>
      </p:sp>
      <p:sp>
        <p:nvSpPr>
          <p:cNvPr id="145" name="Shape 143"/>
          <p:cNvSpPr/>
          <p:nvPr/>
        </p:nvSpPr>
        <p:spPr>
          <a:xfrm>
            <a:off x="1591056" y="3255264"/>
            <a:ext cx="36576" cy="36576"/>
          </a:xfrm>
          <a:prstGeom prst="ellipse">
            <a:avLst/>
          </a:prstGeom>
          <a:solidFill>
            <a:srgbClr val="0D9488">
              <a:alpha val="15000"/>
            </a:srgbClr>
          </a:solidFill>
          <a:ln/>
        </p:spPr>
      </p:sp>
      <p:sp>
        <p:nvSpPr>
          <p:cNvPr id="146" name="Shape 144"/>
          <p:cNvSpPr/>
          <p:nvPr/>
        </p:nvSpPr>
        <p:spPr>
          <a:xfrm>
            <a:off x="2029968" y="3255264"/>
            <a:ext cx="36576" cy="36576"/>
          </a:xfrm>
          <a:prstGeom prst="ellipse">
            <a:avLst/>
          </a:prstGeom>
          <a:solidFill>
            <a:srgbClr val="0D9488">
              <a:alpha val="15000"/>
            </a:srgbClr>
          </a:solidFill>
          <a:ln/>
        </p:spPr>
      </p:sp>
      <p:sp>
        <p:nvSpPr>
          <p:cNvPr id="147" name="Shape 145"/>
          <p:cNvSpPr/>
          <p:nvPr/>
        </p:nvSpPr>
        <p:spPr>
          <a:xfrm>
            <a:off x="2468880" y="3255264"/>
            <a:ext cx="36576" cy="36576"/>
          </a:xfrm>
          <a:prstGeom prst="ellipse">
            <a:avLst/>
          </a:prstGeom>
          <a:solidFill>
            <a:srgbClr val="0D9488">
              <a:alpha val="15000"/>
            </a:srgbClr>
          </a:solidFill>
          <a:ln/>
        </p:spPr>
      </p:sp>
      <p:sp>
        <p:nvSpPr>
          <p:cNvPr id="148" name="Shape 146"/>
          <p:cNvSpPr/>
          <p:nvPr/>
        </p:nvSpPr>
        <p:spPr>
          <a:xfrm>
            <a:off x="2907792" y="3255264"/>
            <a:ext cx="36576" cy="36576"/>
          </a:xfrm>
          <a:prstGeom prst="ellipse">
            <a:avLst/>
          </a:prstGeom>
          <a:solidFill>
            <a:srgbClr val="0D9488">
              <a:alpha val="15000"/>
            </a:srgbClr>
          </a:solidFill>
          <a:ln/>
        </p:spPr>
      </p:sp>
      <p:sp>
        <p:nvSpPr>
          <p:cNvPr id="149" name="Shape 147"/>
          <p:cNvSpPr/>
          <p:nvPr/>
        </p:nvSpPr>
        <p:spPr>
          <a:xfrm>
            <a:off x="3346704" y="3255264"/>
            <a:ext cx="36576" cy="36576"/>
          </a:xfrm>
          <a:prstGeom prst="ellipse">
            <a:avLst/>
          </a:prstGeom>
          <a:solidFill>
            <a:srgbClr val="0D9488">
              <a:alpha val="15000"/>
            </a:srgbClr>
          </a:solidFill>
          <a:ln/>
        </p:spPr>
      </p:sp>
      <p:sp>
        <p:nvSpPr>
          <p:cNvPr id="150" name="Shape 148"/>
          <p:cNvSpPr/>
          <p:nvPr/>
        </p:nvSpPr>
        <p:spPr>
          <a:xfrm>
            <a:off x="3785616" y="3255264"/>
            <a:ext cx="36576" cy="36576"/>
          </a:xfrm>
          <a:prstGeom prst="ellipse">
            <a:avLst/>
          </a:prstGeom>
          <a:solidFill>
            <a:srgbClr val="0D9488">
              <a:alpha val="15000"/>
            </a:srgbClr>
          </a:solidFill>
          <a:ln/>
        </p:spPr>
      </p:sp>
      <p:sp>
        <p:nvSpPr>
          <p:cNvPr id="151" name="Shape 149"/>
          <p:cNvSpPr/>
          <p:nvPr/>
        </p:nvSpPr>
        <p:spPr>
          <a:xfrm>
            <a:off x="4224528" y="3255264"/>
            <a:ext cx="36576" cy="36576"/>
          </a:xfrm>
          <a:prstGeom prst="ellipse">
            <a:avLst/>
          </a:prstGeom>
          <a:solidFill>
            <a:srgbClr val="0D9488">
              <a:alpha val="15000"/>
            </a:srgbClr>
          </a:solidFill>
          <a:ln/>
        </p:spPr>
      </p:sp>
      <p:sp>
        <p:nvSpPr>
          <p:cNvPr id="152" name="Shape 150"/>
          <p:cNvSpPr/>
          <p:nvPr/>
        </p:nvSpPr>
        <p:spPr>
          <a:xfrm>
            <a:off x="4663440" y="3255264"/>
            <a:ext cx="36576" cy="36576"/>
          </a:xfrm>
          <a:prstGeom prst="ellipse">
            <a:avLst/>
          </a:prstGeom>
          <a:solidFill>
            <a:srgbClr val="0D9488">
              <a:alpha val="15000"/>
            </a:srgbClr>
          </a:solidFill>
          <a:ln/>
        </p:spPr>
      </p:sp>
      <p:sp>
        <p:nvSpPr>
          <p:cNvPr id="153" name="Shape 151"/>
          <p:cNvSpPr/>
          <p:nvPr/>
        </p:nvSpPr>
        <p:spPr>
          <a:xfrm>
            <a:off x="5102352" y="3255264"/>
            <a:ext cx="36576" cy="36576"/>
          </a:xfrm>
          <a:prstGeom prst="ellipse">
            <a:avLst/>
          </a:prstGeom>
          <a:solidFill>
            <a:srgbClr val="0D9488">
              <a:alpha val="15000"/>
            </a:srgbClr>
          </a:solidFill>
          <a:ln/>
        </p:spPr>
      </p:sp>
      <p:sp>
        <p:nvSpPr>
          <p:cNvPr id="154" name="Shape 152"/>
          <p:cNvSpPr/>
          <p:nvPr/>
        </p:nvSpPr>
        <p:spPr>
          <a:xfrm>
            <a:off x="5541264" y="3255264"/>
            <a:ext cx="36576" cy="36576"/>
          </a:xfrm>
          <a:prstGeom prst="ellipse">
            <a:avLst/>
          </a:prstGeom>
          <a:solidFill>
            <a:srgbClr val="0D9488">
              <a:alpha val="15000"/>
            </a:srgbClr>
          </a:solidFill>
          <a:ln/>
        </p:spPr>
      </p:sp>
      <p:sp>
        <p:nvSpPr>
          <p:cNvPr id="155" name="Shape 153"/>
          <p:cNvSpPr/>
          <p:nvPr/>
        </p:nvSpPr>
        <p:spPr>
          <a:xfrm>
            <a:off x="5980176" y="3255264"/>
            <a:ext cx="36576" cy="36576"/>
          </a:xfrm>
          <a:prstGeom prst="ellipse">
            <a:avLst/>
          </a:prstGeom>
          <a:solidFill>
            <a:srgbClr val="0D9488">
              <a:alpha val="15000"/>
            </a:srgbClr>
          </a:solidFill>
          <a:ln/>
        </p:spPr>
      </p:sp>
      <p:sp>
        <p:nvSpPr>
          <p:cNvPr id="156" name="Shape 154"/>
          <p:cNvSpPr/>
          <p:nvPr/>
        </p:nvSpPr>
        <p:spPr>
          <a:xfrm>
            <a:off x="6419088" y="3255264"/>
            <a:ext cx="36576" cy="36576"/>
          </a:xfrm>
          <a:prstGeom prst="ellipse">
            <a:avLst/>
          </a:prstGeom>
          <a:solidFill>
            <a:srgbClr val="0D9488">
              <a:alpha val="15000"/>
            </a:srgbClr>
          </a:solidFill>
          <a:ln/>
        </p:spPr>
      </p:sp>
      <p:sp>
        <p:nvSpPr>
          <p:cNvPr id="157" name="Shape 155"/>
          <p:cNvSpPr/>
          <p:nvPr/>
        </p:nvSpPr>
        <p:spPr>
          <a:xfrm>
            <a:off x="6858000" y="3255264"/>
            <a:ext cx="36576" cy="36576"/>
          </a:xfrm>
          <a:prstGeom prst="ellipse">
            <a:avLst/>
          </a:prstGeom>
          <a:solidFill>
            <a:srgbClr val="0D9488">
              <a:alpha val="15000"/>
            </a:srgbClr>
          </a:solidFill>
          <a:ln/>
        </p:spPr>
      </p:sp>
      <p:sp>
        <p:nvSpPr>
          <p:cNvPr id="158" name="Shape 156"/>
          <p:cNvSpPr/>
          <p:nvPr/>
        </p:nvSpPr>
        <p:spPr>
          <a:xfrm>
            <a:off x="7296912" y="3255264"/>
            <a:ext cx="36576" cy="36576"/>
          </a:xfrm>
          <a:prstGeom prst="ellipse">
            <a:avLst/>
          </a:prstGeom>
          <a:solidFill>
            <a:srgbClr val="0D9488">
              <a:alpha val="15000"/>
            </a:srgbClr>
          </a:solidFill>
          <a:ln/>
        </p:spPr>
      </p:sp>
      <p:sp>
        <p:nvSpPr>
          <p:cNvPr id="159" name="Shape 157"/>
          <p:cNvSpPr/>
          <p:nvPr/>
        </p:nvSpPr>
        <p:spPr>
          <a:xfrm>
            <a:off x="7735824" y="3255264"/>
            <a:ext cx="36576" cy="36576"/>
          </a:xfrm>
          <a:prstGeom prst="ellipse">
            <a:avLst/>
          </a:prstGeom>
          <a:solidFill>
            <a:srgbClr val="0D9488">
              <a:alpha val="15000"/>
            </a:srgbClr>
          </a:solidFill>
          <a:ln/>
        </p:spPr>
      </p:sp>
      <p:sp>
        <p:nvSpPr>
          <p:cNvPr id="160" name="Shape 158"/>
          <p:cNvSpPr/>
          <p:nvPr/>
        </p:nvSpPr>
        <p:spPr>
          <a:xfrm>
            <a:off x="8174736" y="3255264"/>
            <a:ext cx="36576" cy="36576"/>
          </a:xfrm>
          <a:prstGeom prst="ellipse">
            <a:avLst/>
          </a:prstGeom>
          <a:solidFill>
            <a:srgbClr val="0D9488">
              <a:alpha val="15000"/>
            </a:srgbClr>
          </a:solidFill>
          <a:ln/>
        </p:spPr>
      </p:sp>
      <p:sp>
        <p:nvSpPr>
          <p:cNvPr id="161" name="Shape 159"/>
          <p:cNvSpPr/>
          <p:nvPr/>
        </p:nvSpPr>
        <p:spPr>
          <a:xfrm>
            <a:off x="8613648" y="3255264"/>
            <a:ext cx="36576" cy="36576"/>
          </a:xfrm>
          <a:prstGeom prst="ellipse">
            <a:avLst/>
          </a:prstGeom>
          <a:solidFill>
            <a:srgbClr val="0D9488">
              <a:alpha val="15000"/>
            </a:srgbClr>
          </a:solidFill>
          <a:ln/>
        </p:spPr>
      </p:sp>
      <p:sp>
        <p:nvSpPr>
          <p:cNvPr id="162" name="Shape 160"/>
          <p:cNvSpPr/>
          <p:nvPr/>
        </p:nvSpPr>
        <p:spPr>
          <a:xfrm>
            <a:off x="274320" y="3694176"/>
            <a:ext cx="36576" cy="36576"/>
          </a:xfrm>
          <a:prstGeom prst="ellipse">
            <a:avLst/>
          </a:prstGeom>
          <a:solidFill>
            <a:srgbClr val="0D9488">
              <a:alpha val="15000"/>
            </a:srgbClr>
          </a:solidFill>
          <a:ln/>
        </p:spPr>
      </p:sp>
      <p:sp>
        <p:nvSpPr>
          <p:cNvPr id="163" name="Shape 161"/>
          <p:cNvSpPr/>
          <p:nvPr/>
        </p:nvSpPr>
        <p:spPr>
          <a:xfrm>
            <a:off x="713232" y="3694176"/>
            <a:ext cx="36576" cy="36576"/>
          </a:xfrm>
          <a:prstGeom prst="ellipse">
            <a:avLst/>
          </a:prstGeom>
          <a:solidFill>
            <a:srgbClr val="0D9488">
              <a:alpha val="15000"/>
            </a:srgbClr>
          </a:solidFill>
          <a:ln/>
        </p:spPr>
      </p:sp>
      <p:sp>
        <p:nvSpPr>
          <p:cNvPr id="164" name="Shape 162"/>
          <p:cNvSpPr/>
          <p:nvPr/>
        </p:nvSpPr>
        <p:spPr>
          <a:xfrm>
            <a:off x="1152144" y="3694176"/>
            <a:ext cx="36576" cy="36576"/>
          </a:xfrm>
          <a:prstGeom prst="ellipse">
            <a:avLst/>
          </a:prstGeom>
          <a:solidFill>
            <a:srgbClr val="0D9488">
              <a:alpha val="15000"/>
            </a:srgbClr>
          </a:solidFill>
          <a:ln/>
        </p:spPr>
      </p:sp>
      <p:sp>
        <p:nvSpPr>
          <p:cNvPr id="165" name="Shape 163"/>
          <p:cNvSpPr/>
          <p:nvPr/>
        </p:nvSpPr>
        <p:spPr>
          <a:xfrm>
            <a:off x="1591056" y="3694176"/>
            <a:ext cx="36576" cy="36576"/>
          </a:xfrm>
          <a:prstGeom prst="ellipse">
            <a:avLst/>
          </a:prstGeom>
          <a:solidFill>
            <a:srgbClr val="0D9488">
              <a:alpha val="15000"/>
            </a:srgbClr>
          </a:solidFill>
          <a:ln/>
        </p:spPr>
      </p:sp>
      <p:sp>
        <p:nvSpPr>
          <p:cNvPr id="166" name="Shape 164"/>
          <p:cNvSpPr/>
          <p:nvPr/>
        </p:nvSpPr>
        <p:spPr>
          <a:xfrm>
            <a:off x="2029968" y="3694176"/>
            <a:ext cx="36576" cy="36576"/>
          </a:xfrm>
          <a:prstGeom prst="ellipse">
            <a:avLst/>
          </a:prstGeom>
          <a:solidFill>
            <a:srgbClr val="0D9488">
              <a:alpha val="15000"/>
            </a:srgbClr>
          </a:solidFill>
          <a:ln/>
        </p:spPr>
      </p:sp>
      <p:sp>
        <p:nvSpPr>
          <p:cNvPr id="167" name="Shape 165"/>
          <p:cNvSpPr/>
          <p:nvPr/>
        </p:nvSpPr>
        <p:spPr>
          <a:xfrm>
            <a:off x="2468880" y="3694176"/>
            <a:ext cx="36576" cy="36576"/>
          </a:xfrm>
          <a:prstGeom prst="ellipse">
            <a:avLst/>
          </a:prstGeom>
          <a:solidFill>
            <a:srgbClr val="0D9488">
              <a:alpha val="15000"/>
            </a:srgbClr>
          </a:solidFill>
          <a:ln/>
        </p:spPr>
      </p:sp>
      <p:sp>
        <p:nvSpPr>
          <p:cNvPr id="168" name="Shape 166"/>
          <p:cNvSpPr/>
          <p:nvPr/>
        </p:nvSpPr>
        <p:spPr>
          <a:xfrm>
            <a:off x="2907792" y="3694176"/>
            <a:ext cx="36576" cy="36576"/>
          </a:xfrm>
          <a:prstGeom prst="ellipse">
            <a:avLst/>
          </a:prstGeom>
          <a:solidFill>
            <a:srgbClr val="0D9488">
              <a:alpha val="15000"/>
            </a:srgbClr>
          </a:solidFill>
          <a:ln/>
        </p:spPr>
      </p:sp>
      <p:sp>
        <p:nvSpPr>
          <p:cNvPr id="169" name="Shape 167"/>
          <p:cNvSpPr/>
          <p:nvPr/>
        </p:nvSpPr>
        <p:spPr>
          <a:xfrm>
            <a:off x="3346704" y="3694176"/>
            <a:ext cx="36576" cy="36576"/>
          </a:xfrm>
          <a:prstGeom prst="ellipse">
            <a:avLst/>
          </a:prstGeom>
          <a:solidFill>
            <a:srgbClr val="0D9488">
              <a:alpha val="15000"/>
            </a:srgbClr>
          </a:solidFill>
          <a:ln/>
        </p:spPr>
      </p:sp>
      <p:sp>
        <p:nvSpPr>
          <p:cNvPr id="170" name="Shape 168"/>
          <p:cNvSpPr/>
          <p:nvPr/>
        </p:nvSpPr>
        <p:spPr>
          <a:xfrm>
            <a:off x="3785616" y="3694176"/>
            <a:ext cx="36576" cy="36576"/>
          </a:xfrm>
          <a:prstGeom prst="ellipse">
            <a:avLst/>
          </a:prstGeom>
          <a:solidFill>
            <a:srgbClr val="0D9488">
              <a:alpha val="15000"/>
            </a:srgbClr>
          </a:solidFill>
          <a:ln/>
        </p:spPr>
      </p:sp>
      <p:sp>
        <p:nvSpPr>
          <p:cNvPr id="171" name="Shape 169"/>
          <p:cNvSpPr/>
          <p:nvPr/>
        </p:nvSpPr>
        <p:spPr>
          <a:xfrm>
            <a:off x="4224528" y="3694176"/>
            <a:ext cx="36576" cy="36576"/>
          </a:xfrm>
          <a:prstGeom prst="ellipse">
            <a:avLst/>
          </a:prstGeom>
          <a:solidFill>
            <a:srgbClr val="0D9488">
              <a:alpha val="15000"/>
            </a:srgbClr>
          </a:solidFill>
          <a:ln/>
        </p:spPr>
      </p:sp>
      <p:sp>
        <p:nvSpPr>
          <p:cNvPr id="172" name="Shape 170"/>
          <p:cNvSpPr/>
          <p:nvPr/>
        </p:nvSpPr>
        <p:spPr>
          <a:xfrm>
            <a:off x="4663440" y="3694176"/>
            <a:ext cx="36576" cy="36576"/>
          </a:xfrm>
          <a:prstGeom prst="ellipse">
            <a:avLst/>
          </a:prstGeom>
          <a:solidFill>
            <a:srgbClr val="0D9488">
              <a:alpha val="15000"/>
            </a:srgbClr>
          </a:solidFill>
          <a:ln/>
        </p:spPr>
      </p:sp>
      <p:sp>
        <p:nvSpPr>
          <p:cNvPr id="173" name="Shape 171"/>
          <p:cNvSpPr/>
          <p:nvPr/>
        </p:nvSpPr>
        <p:spPr>
          <a:xfrm>
            <a:off x="5102352" y="3694176"/>
            <a:ext cx="36576" cy="36576"/>
          </a:xfrm>
          <a:prstGeom prst="ellipse">
            <a:avLst/>
          </a:prstGeom>
          <a:solidFill>
            <a:srgbClr val="0D9488">
              <a:alpha val="15000"/>
            </a:srgbClr>
          </a:solidFill>
          <a:ln/>
        </p:spPr>
      </p:sp>
      <p:sp>
        <p:nvSpPr>
          <p:cNvPr id="174" name="Shape 172"/>
          <p:cNvSpPr/>
          <p:nvPr/>
        </p:nvSpPr>
        <p:spPr>
          <a:xfrm>
            <a:off x="5541264" y="3694176"/>
            <a:ext cx="36576" cy="36576"/>
          </a:xfrm>
          <a:prstGeom prst="ellipse">
            <a:avLst/>
          </a:prstGeom>
          <a:solidFill>
            <a:srgbClr val="0D9488">
              <a:alpha val="15000"/>
            </a:srgbClr>
          </a:solidFill>
          <a:ln/>
        </p:spPr>
      </p:sp>
      <p:sp>
        <p:nvSpPr>
          <p:cNvPr id="175" name="Shape 173"/>
          <p:cNvSpPr/>
          <p:nvPr/>
        </p:nvSpPr>
        <p:spPr>
          <a:xfrm>
            <a:off x="5980176" y="3694176"/>
            <a:ext cx="36576" cy="36576"/>
          </a:xfrm>
          <a:prstGeom prst="ellipse">
            <a:avLst/>
          </a:prstGeom>
          <a:solidFill>
            <a:srgbClr val="0D9488">
              <a:alpha val="15000"/>
            </a:srgbClr>
          </a:solidFill>
          <a:ln/>
        </p:spPr>
      </p:sp>
      <p:sp>
        <p:nvSpPr>
          <p:cNvPr id="176" name="Shape 174"/>
          <p:cNvSpPr/>
          <p:nvPr/>
        </p:nvSpPr>
        <p:spPr>
          <a:xfrm>
            <a:off x="6419088" y="3694176"/>
            <a:ext cx="36576" cy="36576"/>
          </a:xfrm>
          <a:prstGeom prst="ellipse">
            <a:avLst/>
          </a:prstGeom>
          <a:solidFill>
            <a:srgbClr val="0D9488">
              <a:alpha val="15000"/>
            </a:srgbClr>
          </a:solidFill>
          <a:ln/>
        </p:spPr>
      </p:sp>
      <p:sp>
        <p:nvSpPr>
          <p:cNvPr id="177" name="Shape 175"/>
          <p:cNvSpPr/>
          <p:nvPr/>
        </p:nvSpPr>
        <p:spPr>
          <a:xfrm>
            <a:off x="6858000" y="3694176"/>
            <a:ext cx="36576" cy="36576"/>
          </a:xfrm>
          <a:prstGeom prst="ellipse">
            <a:avLst/>
          </a:prstGeom>
          <a:solidFill>
            <a:srgbClr val="0D9488">
              <a:alpha val="15000"/>
            </a:srgbClr>
          </a:solidFill>
          <a:ln/>
        </p:spPr>
      </p:sp>
      <p:sp>
        <p:nvSpPr>
          <p:cNvPr id="178" name="Shape 176"/>
          <p:cNvSpPr/>
          <p:nvPr/>
        </p:nvSpPr>
        <p:spPr>
          <a:xfrm>
            <a:off x="7296912" y="3694176"/>
            <a:ext cx="36576" cy="36576"/>
          </a:xfrm>
          <a:prstGeom prst="ellipse">
            <a:avLst/>
          </a:prstGeom>
          <a:solidFill>
            <a:srgbClr val="0D9488">
              <a:alpha val="15000"/>
            </a:srgbClr>
          </a:solidFill>
          <a:ln/>
        </p:spPr>
      </p:sp>
      <p:sp>
        <p:nvSpPr>
          <p:cNvPr id="179" name="Shape 177"/>
          <p:cNvSpPr/>
          <p:nvPr/>
        </p:nvSpPr>
        <p:spPr>
          <a:xfrm>
            <a:off x="7735824" y="3694176"/>
            <a:ext cx="36576" cy="36576"/>
          </a:xfrm>
          <a:prstGeom prst="ellipse">
            <a:avLst/>
          </a:prstGeom>
          <a:solidFill>
            <a:srgbClr val="0D9488">
              <a:alpha val="15000"/>
            </a:srgbClr>
          </a:solidFill>
          <a:ln/>
        </p:spPr>
      </p:sp>
      <p:sp>
        <p:nvSpPr>
          <p:cNvPr id="180" name="Shape 178"/>
          <p:cNvSpPr/>
          <p:nvPr/>
        </p:nvSpPr>
        <p:spPr>
          <a:xfrm>
            <a:off x="8174736" y="3694176"/>
            <a:ext cx="36576" cy="36576"/>
          </a:xfrm>
          <a:prstGeom prst="ellipse">
            <a:avLst/>
          </a:prstGeom>
          <a:solidFill>
            <a:srgbClr val="0D9488">
              <a:alpha val="15000"/>
            </a:srgbClr>
          </a:solidFill>
          <a:ln/>
        </p:spPr>
      </p:sp>
      <p:sp>
        <p:nvSpPr>
          <p:cNvPr id="181" name="Shape 179"/>
          <p:cNvSpPr/>
          <p:nvPr/>
        </p:nvSpPr>
        <p:spPr>
          <a:xfrm>
            <a:off x="8613648" y="3694176"/>
            <a:ext cx="36576" cy="36576"/>
          </a:xfrm>
          <a:prstGeom prst="ellipse">
            <a:avLst/>
          </a:prstGeom>
          <a:solidFill>
            <a:srgbClr val="0D9488">
              <a:alpha val="15000"/>
            </a:srgbClr>
          </a:solidFill>
          <a:ln/>
        </p:spPr>
      </p:sp>
      <p:sp>
        <p:nvSpPr>
          <p:cNvPr id="182" name="Shape 180"/>
          <p:cNvSpPr/>
          <p:nvPr/>
        </p:nvSpPr>
        <p:spPr>
          <a:xfrm>
            <a:off x="274320" y="4133088"/>
            <a:ext cx="36576" cy="36576"/>
          </a:xfrm>
          <a:prstGeom prst="ellipse">
            <a:avLst/>
          </a:prstGeom>
          <a:solidFill>
            <a:srgbClr val="0D9488">
              <a:alpha val="15000"/>
            </a:srgbClr>
          </a:solidFill>
          <a:ln/>
        </p:spPr>
      </p:sp>
      <p:sp>
        <p:nvSpPr>
          <p:cNvPr id="183" name="Shape 181"/>
          <p:cNvSpPr/>
          <p:nvPr/>
        </p:nvSpPr>
        <p:spPr>
          <a:xfrm>
            <a:off x="713232" y="4133088"/>
            <a:ext cx="36576" cy="36576"/>
          </a:xfrm>
          <a:prstGeom prst="ellipse">
            <a:avLst/>
          </a:prstGeom>
          <a:solidFill>
            <a:srgbClr val="0D9488">
              <a:alpha val="15000"/>
            </a:srgbClr>
          </a:solidFill>
          <a:ln/>
        </p:spPr>
      </p:sp>
      <p:sp>
        <p:nvSpPr>
          <p:cNvPr id="184" name="Shape 182"/>
          <p:cNvSpPr/>
          <p:nvPr/>
        </p:nvSpPr>
        <p:spPr>
          <a:xfrm>
            <a:off x="1152144" y="4133088"/>
            <a:ext cx="36576" cy="36576"/>
          </a:xfrm>
          <a:prstGeom prst="ellipse">
            <a:avLst/>
          </a:prstGeom>
          <a:solidFill>
            <a:srgbClr val="0D9488">
              <a:alpha val="15000"/>
            </a:srgbClr>
          </a:solidFill>
          <a:ln/>
        </p:spPr>
      </p:sp>
      <p:sp>
        <p:nvSpPr>
          <p:cNvPr id="185" name="Shape 183"/>
          <p:cNvSpPr/>
          <p:nvPr/>
        </p:nvSpPr>
        <p:spPr>
          <a:xfrm>
            <a:off x="1591056" y="4133088"/>
            <a:ext cx="36576" cy="36576"/>
          </a:xfrm>
          <a:prstGeom prst="ellipse">
            <a:avLst/>
          </a:prstGeom>
          <a:solidFill>
            <a:srgbClr val="0D9488">
              <a:alpha val="15000"/>
            </a:srgbClr>
          </a:solidFill>
          <a:ln/>
        </p:spPr>
      </p:sp>
      <p:sp>
        <p:nvSpPr>
          <p:cNvPr id="186" name="Shape 184"/>
          <p:cNvSpPr/>
          <p:nvPr/>
        </p:nvSpPr>
        <p:spPr>
          <a:xfrm>
            <a:off x="2029968" y="4133088"/>
            <a:ext cx="36576" cy="36576"/>
          </a:xfrm>
          <a:prstGeom prst="ellipse">
            <a:avLst/>
          </a:prstGeom>
          <a:solidFill>
            <a:srgbClr val="0D9488">
              <a:alpha val="15000"/>
            </a:srgbClr>
          </a:solidFill>
          <a:ln/>
        </p:spPr>
      </p:sp>
      <p:sp>
        <p:nvSpPr>
          <p:cNvPr id="187" name="Shape 185"/>
          <p:cNvSpPr/>
          <p:nvPr/>
        </p:nvSpPr>
        <p:spPr>
          <a:xfrm>
            <a:off x="2468880" y="4133088"/>
            <a:ext cx="36576" cy="36576"/>
          </a:xfrm>
          <a:prstGeom prst="ellipse">
            <a:avLst/>
          </a:prstGeom>
          <a:solidFill>
            <a:srgbClr val="0D9488">
              <a:alpha val="15000"/>
            </a:srgbClr>
          </a:solidFill>
          <a:ln/>
        </p:spPr>
      </p:sp>
      <p:sp>
        <p:nvSpPr>
          <p:cNvPr id="188" name="Shape 186"/>
          <p:cNvSpPr/>
          <p:nvPr/>
        </p:nvSpPr>
        <p:spPr>
          <a:xfrm>
            <a:off x="2907792" y="4133088"/>
            <a:ext cx="36576" cy="36576"/>
          </a:xfrm>
          <a:prstGeom prst="ellipse">
            <a:avLst/>
          </a:prstGeom>
          <a:solidFill>
            <a:srgbClr val="0D9488">
              <a:alpha val="15000"/>
            </a:srgbClr>
          </a:solidFill>
          <a:ln/>
        </p:spPr>
      </p:sp>
      <p:sp>
        <p:nvSpPr>
          <p:cNvPr id="189" name="Shape 187"/>
          <p:cNvSpPr/>
          <p:nvPr/>
        </p:nvSpPr>
        <p:spPr>
          <a:xfrm>
            <a:off x="3346704" y="4133088"/>
            <a:ext cx="36576" cy="36576"/>
          </a:xfrm>
          <a:prstGeom prst="ellipse">
            <a:avLst/>
          </a:prstGeom>
          <a:solidFill>
            <a:srgbClr val="0D9488">
              <a:alpha val="15000"/>
            </a:srgbClr>
          </a:solidFill>
          <a:ln/>
        </p:spPr>
      </p:sp>
      <p:sp>
        <p:nvSpPr>
          <p:cNvPr id="190" name="Shape 188"/>
          <p:cNvSpPr/>
          <p:nvPr/>
        </p:nvSpPr>
        <p:spPr>
          <a:xfrm>
            <a:off x="3785616" y="4133088"/>
            <a:ext cx="36576" cy="36576"/>
          </a:xfrm>
          <a:prstGeom prst="ellipse">
            <a:avLst/>
          </a:prstGeom>
          <a:solidFill>
            <a:srgbClr val="0D9488">
              <a:alpha val="15000"/>
            </a:srgbClr>
          </a:solidFill>
          <a:ln/>
        </p:spPr>
      </p:sp>
      <p:sp>
        <p:nvSpPr>
          <p:cNvPr id="191" name="Shape 189"/>
          <p:cNvSpPr/>
          <p:nvPr/>
        </p:nvSpPr>
        <p:spPr>
          <a:xfrm>
            <a:off x="4224528" y="4133088"/>
            <a:ext cx="36576" cy="36576"/>
          </a:xfrm>
          <a:prstGeom prst="ellipse">
            <a:avLst/>
          </a:prstGeom>
          <a:solidFill>
            <a:srgbClr val="0D9488">
              <a:alpha val="15000"/>
            </a:srgbClr>
          </a:solidFill>
          <a:ln/>
        </p:spPr>
      </p:sp>
      <p:sp>
        <p:nvSpPr>
          <p:cNvPr id="192" name="Shape 190"/>
          <p:cNvSpPr/>
          <p:nvPr/>
        </p:nvSpPr>
        <p:spPr>
          <a:xfrm>
            <a:off x="4663440" y="4133088"/>
            <a:ext cx="36576" cy="36576"/>
          </a:xfrm>
          <a:prstGeom prst="ellipse">
            <a:avLst/>
          </a:prstGeom>
          <a:solidFill>
            <a:srgbClr val="0D9488">
              <a:alpha val="15000"/>
            </a:srgbClr>
          </a:solidFill>
          <a:ln/>
        </p:spPr>
      </p:sp>
      <p:sp>
        <p:nvSpPr>
          <p:cNvPr id="193" name="Shape 191"/>
          <p:cNvSpPr/>
          <p:nvPr/>
        </p:nvSpPr>
        <p:spPr>
          <a:xfrm>
            <a:off x="5102352" y="4133088"/>
            <a:ext cx="36576" cy="36576"/>
          </a:xfrm>
          <a:prstGeom prst="ellipse">
            <a:avLst/>
          </a:prstGeom>
          <a:solidFill>
            <a:srgbClr val="0D9488">
              <a:alpha val="15000"/>
            </a:srgbClr>
          </a:solidFill>
          <a:ln/>
        </p:spPr>
      </p:sp>
      <p:sp>
        <p:nvSpPr>
          <p:cNvPr id="194" name="Shape 192"/>
          <p:cNvSpPr/>
          <p:nvPr/>
        </p:nvSpPr>
        <p:spPr>
          <a:xfrm>
            <a:off x="5541264" y="4133088"/>
            <a:ext cx="36576" cy="36576"/>
          </a:xfrm>
          <a:prstGeom prst="ellipse">
            <a:avLst/>
          </a:prstGeom>
          <a:solidFill>
            <a:srgbClr val="0D9488">
              <a:alpha val="15000"/>
            </a:srgbClr>
          </a:solidFill>
          <a:ln/>
        </p:spPr>
      </p:sp>
      <p:sp>
        <p:nvSpPr>
          <p:cNvPr id="195" name="Shape 193"/>
          <p:cNvSpPr/>
          <p:nvPr/>
        </p:nvSpPr>
        <p:spPr>
          <a:xfrm>
            <a:off x="5980176" y="4133088"/>
            <a:ext cx="36576" cy="36576"/>
          </a:xfrm>
          <a:prstGeom prst="ellipse">
            <a:avLst/>
          </a:prstGeom>
          <a:solidFill>
            <a:srgbClr val="0D9488">
              <a:alpha val="15000"/>
            </a:srgbClr>
          </a:solidFill>
          <a:ln/>
        </p:spPr>
      </p:sp>
      <p:sp>
        <p:nvSpPr>
          <p:cNvPr id="196" name="Shape 194"/>
          <p:cNvSpPr/>
          <p:nvPr/>
        </p:nvSpPr>
        <p:spPr>
          <a:xfrm>
            <a:off x="6419088" y="4133088"/>
            <a:ext cx="36576" cy="36576"/>
          </a:xfrm>
          <a:prstGeom prst="ellipse">
            <a:avLst/>
          </a:prstGeom>
          <a:solidFill>
            <a:srgbClr val="0D9488">
              <a:alpha val="15000"/>
            </a:srgbClr>
          </a:solidFill>
          <a:ln/>
        </p:spPr>
      </p:sp>
      <p:sp>
        <p:nvSpPr>
          <p:cNvPr id="197" name="Shape 195"/>
          <p:cNvSpPr/>
          <p:nvPr/>
        </p:nvSpPr>
        <p:spPr>
          <a:xfrm>
            <a:off x="6858000" y="4133088"/>
            <a:ext cx="36576" cy="36576"/>
          </a:xfrm>
          <a:prstGeom prst="ellipse">
            <a:avLst/>
          </a:prstGeom>
          <a:solidFill>
            <a:srgbClr val="0D9488">
              <a:alpha val="15000"/>
            </a:srgbClr>
          </a:solidFill>
          <a:ln/>
        </p:spPr>
      </p:sp>
      <p:sp>
        <p:nvSpPr>
          <p:cNvPr id="198" name="Shape 196"/>
          <p:cNvSpPr/>
          <p:nvPr/>
        </p:nvSpPr>
        <p:spPr>
          <a:xfrm>
            <a:off x="7296912" y="4133088"/>
            <a:ext cx="36576" cy="36576"/>
          </a:xfrm>
          <a:prstGeom prst="ellipse">
            <a:avLst/>
          </a:prstGeom>
          <a:solidFill>
            <a:srgbClr val="0D9488">
              <a:alpha val="15000"/>
            </a:srgbClr>
          </a:solidFill>
          <a:ln/>
        </p:spPr>
      </p:sp>
      <p:sp>
        <p:nvSpPr>
          <p:cNvPr id="199" name="Shape 197"/>
          <p:cNvSpPr/>
          <p:nvPr/>
        </p:nvSpPr>
        <p:spPr>
          <a:xfrm>
            <a:off x="7735824" y="4133088"/>
            <a:ext cx="36576" cy="36576"/>
          </a:xfrm>
          <a:prstGeom prst="ellipse">
            <a:avLst/>
          </a:prstGeom>
          <a:solidFill>
            <a:srgbClr val="0D9488">
              <a:alpha val="15000"/>
            </a:srgbClr>
          </a:solidFill>
          <a:ln/>
        </p:spPr>
      </p:sp>
      <p:sp>
        <p:nvSpPr>
          <p:cNvPr id="200" name="Shape 198"/>
          <p:cNvSpPr/>
          <p:nvPr/>
        </p:nvSpPr>
        <p:spPr>
          <a:xfrm>
            <a:off x="8174736" y="4133088"/>
            <a:ext cx="36576" cy="36576"/>
          </a:xfrm>
          <a:prstGeom prst="ellipse">
            <a:avLst/>
          </a:prstGeom>
          <a:solidFill>
            <a:srgbClr val="0D9488">
              <a:alpha val="15000"/>
            </a:srgbClr>
          </a:solidFill>
          <a:ln/>
        </p:spPr>
      </p:sp>
      <p:sp>
        <p:nvSpPr>
          <p:cNvPr id="201" name="Shape 199"/>
          <p:cNvSpPr/>
          <p:nvPr/>
        </p:nvSpPr>
        <p:spPr>
          <a:xfrm>
            <a:off x="8613648" y="4133088"/>
            <a:ext cx="36576" cy="36576"/>
          </a:xfrm>
          <a:prstGeom prst="ellipse">
            <a:avLst/>
          </a:prstGeom>
          <a:solidFill>
            <a:srgbClr val="0D9488">
              <a:alpha val="15000"/>
            </a:srgbClr>
          </a:solidFill>
          <a:ln/>
        </p:spPr>
      </p:sp>
      <p:sp>
        <p:nvSpPr>
          <p:cNvPr id="202" name="Shape 200"/>
          <p:cNvSpPr/>
          <p:nvPr/>
        </p:nvSpPr>
        <p:spPr>
          <a:xfrm>
            <a:off x="274320" y="4572000"/>
            <a:ext cx="36576" cy="36576"/>
          </a:xfrm>
          <a:prstGeom prst="ellipse">
            <a:avLst/>
          </a:prstGeom>
          <a:solidFill>
            <a:srgbClr val="0D9488">
              <a:alpha val="15000"/>
            </a:srgbClr>
          </a:solidFill>
          <a:ln/>
        </p:spPr>
      </p:sp>
      <p:sp>
        <p:nvSpPr>
          <p:cNvPr id="203" name="Shape 201"/>
          <p:cNvSpPr/>
          <p:nvPr/>
        </p:nvSpPr>
        <p:spPr>
          <a:xfrm>
            <a:off x="713232" y="4572000"/>
            <a:ext cx="36576" cy="36576"/>
          </a:xfrm>
          <a:prstGeom prst="ellipse">
            <a:avLst/>
          </a:prstGeom>
          <a:solidFill>
            <a:srgbClr val="0D9488">
              <a:alpha val="15000"/>
            </a:srgbClr>
          </a:solidFill>
          <a:ln/>
        </p:spPr>
      </p:sp>
      <p:sp>
        <p:nvSpPr>
          <p:cNvPr id="204" name="Shape 202"/>
          <p:cNvSpPr/>
          <p:nvPr/>
        </p:nvSpPr>
        <p:spPr>
          <a:xfrm>
            <a:off x="1152144" y="4572000"/>
            <a:ext cx="36576" cy="36576"/>
          </a:xfrm>
          <a:prstGeom prst="ellipse">
            <a:avLst/>
          </a:prstGeom>
          <a:solidFill>
            <a:srgbClr val="0D9488">
              <a:alpha val="15000"/>
            </a:srgbClr>
          </a:solidFill>
          <a:ln/>
        </p:spPr>
      </p:sp>
      <p:sp>
        <p:nvSpPr>
          <p:cNvPr id="205" name="Shape 203"/>
          <p:cNvSpPr/>
          <p:nvPr/>
        </p:nvSpPr>
        <p:spPr>
          <a:xfrm>
            <a:off x="1591056" y="4572000"/>
            <a:ext cx="36576" cy="36576"/>
          </a:xfrm>
          <a:prstGeom prst="ellipse">
            <a:avLst/>
          </a:prstGeom>
          <a:solidFill>
            <a:srgbClr val="0D9488">
              <a:alpha val="15000"/>
            </a:srgbClr>
          </a:solidFill>
          <a:ln/>
        </p:spPr>
      </p:sp>
      <p:sp>
        <p:nvSpPr>
          <p:cNvPr id="206" name="Shape 204"/>
          <p:cNvSpPr/>
          <p:nvPr/>
        </p:nvSpPr>
        <p:spPr>
          <a:xfrm>
            <a:off x="2029968" y="4572000"/>
            <a:ext cx="36576" cy="36576"/>
          </a:xfrm>
          <a:prstGeom prst="ellipse">
            <a:avLst/>
          </a:prstGeom>
          <a:solidFill>
            <a:srgbClr val="0D9488">
              <a:alpha val="15000"/>
            </a:srgbClr>
          </a:solidFill>
          <a:ln/>
        </p:spPr>
      </p:sp>
      <p:sp>
        <p:nvSpPr>
          <p:cNvPr id="207" name="Shape 205"/>
          <p:cNvSpPr/>
          <p:nvPr/>
        </p:nvSpPr>
        <p:spPr>
          <a:xfrm>
            <a:off x="2468880" y="4572000"/>
            <a:ext cx="36576" cy="36576"/>
          </a:xfrm>
          <a:prstGeom prst="ellipse">
            <a:avLst/>
          </a:prstGeom>
          <a:solidFill>
            <a:srgbClr val="0D9488">
              <a:alpha val="15000"/>
            </a:srgbClr>
          </a:solidFill>
          <a:ln/>
        </p:spPr>
      </p:sp>
      <p:sp>
        <p:nvSpPr>
          <p:cNvPr id="208" name="Shape 206"/>
          <p:cNvSpPr/>
          <p:nvPr/>
        </p:nvSpPr>
        <p:spPr>
          <a:xfrm>
            <a:off x="2907792" y="4572000"/>
            <a:ext cx="36576" cy="36576"/>
          </a:xfrm>
          <a:prstGeom prst="ellipse">
            <a:avLst/>
          </a:prstGeom>
          <a:solidFill>
            <a:srgbClr val="0D9488">
              <a:alpha val="15000"/>
            </a:srgbClr>
          </a:solidFill>
          <a:ln/>
        </p:spPr>
      </p:sp>
      <p:sp>
        <p:nvSpPr>
          <p:cNvPr id="209" name="Shape 207"/>
          <p:cNvSpPr/>
          <p:nvPr/>
        </p:nvSpPr>
        <p:spPr>
          <a:xfrm>
            <a:off x="3346704" y="4572000"/>
            <a:ext cx="36576" cy="36576"/>
          </a:xfrm>
          <a:prstGeom prst="ellipse">
            <a:avLst/>
          </a:prstGeom>
          <a:solidFill>
            <a:srgbClr val="0D9488">
              <a:alpha val="15000"/>
            </a:srgbClr>
          </a:solidFill>
          <a:ln/>
        </p:spPr>
      </p:sp>
      <p:sp>
        <p:nvSpPr>
          <p:cNvPr id="210" name="Shape 208"/>
          <p:cNvSpPr/>
          <p:nvPr/>
        </p:nvSpPr>
        <p:spPr>
          <a:xfrm>
            <a:off x="3785616" y="4572000"/>
            <a:ext cx="36576" cy="36576"/>
          </a:xfrm>
          <a:prstGeom prst="ellipse">
            <a:avLst/>
          </a:prstGeom>
          <a:solidFill>
            <a:srgbClr val="0D9488">
              <a:alpha val="15000"/>
            </a:srgbClr>
          </a:solidFill>
          <a:ln/>
        </p:spPr>
      </p:sp>
      <p:sp>
        <p:nvSpPr>
          <p:cNvPr id="211" name="Shape 209"/>
          <p:cNvSpPr/>
          <p:nvPr/>
        </p:nvSpPr>
        <p:spPr>
          <a:xfrm>
            <a:off x="4224528" y="4572000"/>
            <a:ext cx="36576" cy="36576"/>
          </a:xfrm>
          <a:prstGeom prst="ellipse">
            <a:avLst/>
          </a:prstGeom>
          <a:solidFill>
            <a:srgbClr val="0D9488">
              <a:alpha val="15000"/>
            </a:srgbClr>
          </a:solidFill>
          <a:ln/>
        </p:spPr>
      </p:sp>
      <p:sp>
        <p:nvSpPr>
          <p:cNvPr id="212" name="Shape 210"/>
          <p:cNvSpPr/>
          <p:nvPr/>
        </p:nvSpPr>
        <p:spPr>
          <a:xfrm>
            <a:off x="4663440" y="4572000"/>
            <a:ext cx="36576" cy="36576"/>
          </a:xfrm>
          <a:prstGeom prst="ellipse">
            <a:avLst/>
          </a:prstGeom>
          <a:solidFill>
            <a:srgbClr val="0D9488">
              <a:alpha val="15000"/>
            </a:srgbClr>
          </a:solidFill>
          <a:ln/>
        </p:spPr>
      </p:sp>
      <p:sp>
        <p:nvSpPr>
          <p:cNvPr id="213" name="Shape 211"/>
          <p:cNvSpPr/>
          <p:nvPr/>
        </p:nvSpPr>
        <p:spPr>
          <a:xfrm>
            <a:off x="5102352" y="4572000"/>
            <a:ext cx="36576" cy="36576"/>
          </a:xfrm>
          <a:prstGeom prst="ellipse">
            <a:avLst/>
          </a:prstGeom>
          <a:solidFill>
            <a:srgbClr val="0D9488">
              <a:alpha val="15000"/>
            </a:srgbClr>
          </a:solidFill>
          <a:ln/>
        </p:spPr>
      </p:sp>
      <p:sp>
        <p:nvSpPr>
          <p:cNvPr id="214" name="Shape 212"/>
          <p:cNvSpPr/>
          <p:nvPr/>
        </p:nvSpPr>
        <p:spPr>
          <a:xfrm>
            <a:off x="5541264" y="4572000"/>
            <a:ext cx="36576" cy="36576"/>
          </a:xfrm>
          <a:prstGeom prst="ellipse">
            <a:avLst/>
          </a:prstGeom>
          <a:solidFill>
            <a:srgbClr val="0D9488">
              <a:alpha val="15000"/>
            </a:srgbClr>
          </a:solidFill>
          <a:ln/>
        </p:spPr>
      </p:sp>
      <p:sp>
        <p:nvSpPr>
          <p:cNvPr id="215" name="Shape 213"/>
          <p:cNvSpPr/>
          <p:nvPr/>
        </p:nvSpPr>
        <p:spPr>
          <a:xfrm>
            <a:off x="5980176" y="4572000"/>
            <a:ext cx="36576" cy="36576"/>
          </a:xfrm>
          <a:prstGeom prst="ellipse">
            <a:avLst/>
          </a:prstGeom>
          <a:solidFill>
            <a:srgbClr val="0D9488">
              <a:alpha val="15000"/>
            </a:srgbClr>
          </a:solidFill>
          <a:ln/>
        </p:spPr>
      </p:sp>
      <p:sp>
        <p:nvSpPr>
          <p:cNvPr id="216" name="Shape 214"/>
          <p:cNvSpPr/>
          <p:nvPr/>
        </p:nvSpPr>
        <p:spPr>
          <a:xfrm>
            <a:off x="6419088" y="4572000"/>
            <a:ext cx="36576" cy="36576"/>
          </a:xfrm>
          <a:prstGeom prst="ellipse">
            <a:avLst/>
          </a:prstGeom>
          <a:solidFill>
            <a:srgbClr val="0D9488">
              <a:alpha val="15000"/>
            </a:srgbClr>
          </a:solidFill>
          <a:ln/>
        </p:spPr>
      </p:sp>
      <p:sp>
        <p:nvSpPr>
          <p:cNvPr id="217" name="Shape 215"/>
          <p:cNvSpPr/>
          <p:nvPr/>
        </p:nvSpPr>
        <p:spPr>
          <a:xfrm>
            <a:off x="6858000" y="4572000"/>
            <a:ext cx="36576" cy="36576"/>
          </a:xfrm>
          <a:prstGeom prst="ellipse">
            <a:avLst/>
          </a:prstGeom>
          <a:solidFill>
            <a:srgbClr val="0D9488">
              <a:alpha val="15000"/>
            </a:srgbClr>
          </a:solidFill>
          <a:ln/>
        </p:spPr>
      </p:sp>
      <p:sp>
        <p:nvSpPr>
          <p:cNvPr id="218" name="Shape 216"/>
          <p:cNvSpPr/>
          <p:nvPr/>
        </p:nvSpPr>
        <p:spPr>
          <a:xfrm>
            <a:off x="7296912" y="4572000"/>
            <a:ext cx="36576" cy="36576"/>
          </a:xfrm>
          <a:prstGeom prst="ellipse">
            <a:avLst/>
          </a:prstGeom>
          <a:solidFill>
            <a:srgbClr val="0D9488">
              <a:alpha val="15000"/>
            </a:srgbClr>
          </a:solidFill>
          <a:ln/>
        </p:spPr>
      </p:sp>
      <p:sp>
        <p:nvSpPr>
          <p:cNvPr id="219" name="Shape 217"/>
          <p:cNvSpPr/>
          <p:nvPr/>
        </p:nvSpPr>
        <p:spPr>
          <a:xfrm>
            <a:off x="7735824" y="4572000"/>
            <a:ext cx="36576" cy="36576"/>
          </a:xfrm>
          <a:prstGeom prst="ellipse">
            <a:avLst/>
          </a:prstGeom>
          <a:solidFill>
            <a:srgbClr val="0D9488">
              <a:alpha val="15000"/>
            </a:srgbClr>
          </a:solidFill>
          <a:ln/>
        </p:spPr>
      </p:sp>
      <p:sp>
        <p:nvSpPr>
          <p:cNvPr id="220" name="Shape 218"/>
          <p:cNvSpPr/>
          <p:nvPr/>
        </p:nvSpPr>
        <p:spPr>
          <a:xfrm>
            <a:off x="8174736" y="4572000"/>
            <a:ext cx="36576" cy="36576"/>
          </a:xfrm>
          <a:prstGeom prst="ellipse">
            <a:avLst/>
          </a:prstGeom>
          <a:solidFill>
            <a:srgbClr val="0D9488">
              <a:alpha val="15000"/>
            </a:srgbClr>
          </a:solidFill>
          <a:ln/>
        </p:spPr>
      </p:sp>
      <p:sp>
        <p:nvSpPr>
          <p:cNvPr id="221" name="Shape 219"/>
          <p:cNvSpPr/>
          <p:nvPr/>
        </p:nvSpPr>
        <p:spPr>
          <a:xfrm>
            <a:off x="8613648" y="4572000"/>
            <a:ext cx="36576" cy="36576"/>
          </a:xfrm>
          <a:prstGeom prst="ellipse">
            <a:avLst/>
          </a:prstGeom>
          <a:solidFill>
            <a:srgbClr val="0D9488">
              <a:alpha val="15000"/>
            </a:srgbClr>
          </a:solidFill>
          <a:ln/>
        </p:spPr>
      </p:sp>
      <p:sp>
        <p:nvSpPr>
          <p:cNvPr id="222" name="Shape 220"/>
          <p:cNvSpPr/>
          <p:nvPr/>
        </p:nvSpPr>
        <p:spPr>
          <a:xfrm>
            <a:off x="274320" y="5010912"/>
            <a:ext cx="36576" cy="36576"/>
          </a:xfrm>
          <a:prstGeom prst="ellipse">
            <a:avLst/>
          </a:prstGeom>
          <a:solidFill>
            <a:srgbClr val="0D9488">
              <a:alpha val="15000"/>
            </a:srgbClr>
          </a:solidFill>
          <a:ln/>
        </p:spPr>
      </p:sp>
      <p:sp>
        <p:nvSpPr>
          <p:cNvPr id="223" name="Shape 221"/>
          <p:cNvSpPr/>
          <p:nvPr/>
        </p:nvSpPr>
        <p:spPr>
          <a:xfrm>
            <a:off x="713232" y="5010912"/>
            <a:ext cx="36576" cy="36576"/>
          </a:xfrm>
          <a:prstGeom prst="ellipse">
            <a:avLst/>
          </a:prstGeom>
          <a:solidFill>
            <a:srgbClr val="0D9488">
              <a:alpha val="15000"/>
            </a:srgbClr>
          </a:solidFill>
          <a:ln/>
        </p:spPr>
      </p:sp>
      <p:sp>
        <p:nvSpPr>
          <p:cNvPr id="224" name="Shape 222"/>
          <p:cNvSpPr/>
          <p:nvPr/>
        </p:nvSpPr>
        <p:spPr>
          <a:xfrm>
            <a:off x="1152144" y="5010912"/>
            <a:ext cx="36576" cy="36576"/>
          </a:xfrm>
          <a:prstGeom prst="ellipse">
            <a:avLst/>
          </a:prstGeom>
          <a:solidFill>
            <a:srgbClr val="0D9488">
              <a:alpha val="15000"/>
            </a:srgbClr>
          </a:solidFill>
          <a:ln/>
        </p:spPr>
      </p:sp>
      <p:sp>
        <p:nvSpPr>
          <p:cNvPr id="225" name="Shape 223"/>
          <p:cNvSpPr/>
          <p:nvPr/>
        </p:nvSpPr>
        <p:spPr>
          <a:xfrm>
            <a:off x="1591056" y="5010912"/>
            <a:ext cx="36576" cy="36576"/>
          </a:xfrm>
          <a:prstGeom prst="ellipse">
            <a:avLst/>
          </a:prstGeom>
          <a:solidFill>
            <a:srgbClr val="0D9488">
              <a:alpha val="15000"/>
            </a:srgbClr>
          </a:solidFill>
          <a:ln/>
        </p:spPr>
      </p:sp>
      <p:sp>
        <p:nvSpPr>
          <p:cNvPr id="226" name="Shape 224"/>
          <p:cNvSpPr/>
          <p:nvPr/>
        </p:nvSpPr>
        <p:spPr>
          <a:xfrm>
            <a:off x="2029968" y="5010912"/>
            <a:ext cx="36576" cy="36576"/>
          </a:xfrm>
          <a:prstGeom prst="ellipse">
            <a:avLst/>
          </a:prstGeom>
          <a:solidFill>
            <a:srgbClr val="0D9488">
              <a:alpha val="15000"/>
            </a:srgbClr>
          </a:solidFill>
          <a:ln/>
        </p:spPr>
      </p:sp>
      <p:sp>
        <p:nvSpPr>
          <p:cNvPr id="227" name="Shape 225"/>
          <p:cNvSpPr/>
          <p:nvPr/>
        </p:nvSpPr>
        <p:spPr>
          <a:xfrm>
            <a:off x="2468880" y="5010912"/>
            <a:ext cx="36576" cy="36576"/>
          </a:xfrm>
          <a:prstGeom prst="ellipse">
            <a:avLst/>
          </a:prstGeom>
          <a:solidFill>
            <a:srgbClr val="0D9488">
              <a:alpha val="15000"/>
            </a:srgbClr>
          </a:solidFill>
          <a:ln/>
        </p:spPr>
      </p:sp>
      <p:sp>
        <p:nvSpPr>
          <p:cNvPr id="228" name="Shape 226"/>
          <p:cNvSpPr/>
          <p:nvPr/>
        </p:nvSpPr>
        <p:spPr>
          <a:xfrm>
            <a:off x="2907792" y="5010912"/>
            <a:ext cx="36576" cy="36576"/>
          </a:xfrm>
          <a:prstGeom prst="ellipse">
            <a:avLst/>
          </a:prstGeom>
          <a:solidFill>
            <a:srgbClr val="0D9488">
              <a:alpha val="15000"/>
            </a:srgbClr>
          </a:solidFill>
          <a:ln/>
        </p:spPr>
      </p:sp>
      <p:sp>
        <p:nvSpPr>
          <p:cNvPr id="229" name="Shape 227"/>
          <p:cNvSpPr/>
          <p:nvPr/>
        </p:nvSpPr>
        <p:spPr>
          <a:xfrm>
            <a:off x="3346704" y="5010912"/>
            <a:ext cx="36576" cy="36576"/>
          </a:xfrm>
          <a:prstGeom prst="ellipse">
            <a:avLst/>
          </a:prstGeom>
          <a:solidFill>
            <a:srgbClr val="0D9488">
              <a:alpha val="15000"/>
            </a:srgbClr>
          </a:solidFill>
          <a:ln/>
        </p:spPr>
      </p:sp>
      <p:sp>
        <p:nvSpPr>
          <p:cNvPr id="230" name="Shape 228"/>
          <p:cNvSpPr/>
          <p:nvPr/>
        </p:nvSpPr>
        <p:spPr>
          <a:xfrm>
            <a:off x="3785616" y="5010912"/>
            <a:ext cx="36576" cy="36576"/>
          </a:xfrm>
          <a:prstGeom prst="ellipse">
            <a:avLst/>
          </a:prstGeom>
          <a:solidFill>
            <a:srgbClr val="0D9488">
              <a:alpha val="15000"/>
            </a:srgbClr>
          </a:solidFill>
          <a:ln/>
        </p:spPr>
      </p:sp>
      <p:sp>
        <p:nvSpPr>
          <p:cNvPr id="231" name="Shape 229"/>
          <p:cNvSpPr/>
          <p:nvPr/>
        </p:nvSpPr>
        <p:spPr>
          <a:xfrm>
            <a:off x="4224528" y="5010912"/>
            <a:ext cx="36576" cy="36576"/>
          </a:xfrm>
          <a:prstGeom prst="ellipse">
            <a:avLst/>
          </a:prstGeom>
          <a:solidFill>
            <a:srgbClr val="0D9488">
              <a:alpha val="15000"/>
            </a:srgbClr>
          </a:solidFill>
          <a:ln/>
        </p:spPr>
      </p:sp>
      <p:sp>
        <p:nvSpPr>
          <p:cNvPr id="232" name="Shape 230"/>
          <p:cNvSpPr/>
          <p:nvPr/>
        </p:nvSpPr>
        <p:spPr>
          <a:xfrm>
            <a:off x="4663440" y="5010912"/>
            <a:ext cx="36576" cy="36576"/>
          </a:xfrm>
          <a:prstGeom prst="ellipse">
            <a:avLst/>
          </a:prstGeom>
          <a:solidFill>
            <a:srgbClr val="0D9488">
              <a:alpha val="15000"/>
            </a:srgbClr>
          </a:solidFill>
          <a:ln/>
        </p:spPr>
      </p:sp>
      <p:sp>
        <p:nvSpPr>
          <p:cNvPr id="233" name="Shape 231"/>
          <p:cNvSpPr/>
          <p:nvPr/>
        </p:nvSpPr>
        <p:spPr>
          <a:xfrm>
            <a:off x="5102352" y="5010912"/>
            <a:ext cx="36576" cy="36576"/>
          </a:xfrm>
          <a:prstGeom prst="ellipse">
            <a:avLst/>
          </a:prstGeom>
          <a:solidFill>
            <a:srgbClr val="0D9488">
              <a:alpha val="15000"/>
            </a:srgbClr>
          </a:solidFill>
          <a:ln/>
        </p:spPr>
      </p:sp>
      <p:sp>
        <p:nvSpPr>
          <p:cNvPr id="234" name="Shape 232"/>
          <p:cNvSpPr/>
          <p:nvPr/>
        </p:nvSpPr>
        <p:spPr>
          <a:xfrm>
            <a:off x="5541264" y="5010912"/>
            <a:ext cx="36576" cy="36576"/>
          </a:xfrm>
          <a:prstGeom prst="ellipse">
            <a:avLst/>
          </a:prstGeom>
          <a:solidFill>
            <a:srgbClr val="0D9488">
              <a:alpha val="15000"/>
            </a:srgbClr>
          </a:solidFill>
          <a:ln/>
        </p:spPr>
      </p:sp>
      <p:sp>
        <p:nvSpPr>
          <p:cNvPr id="235" name="Shape 233"/>
          <p:cNvSpPr/>
          <p:nvPr/>
        </p:nvSpPr>
        <p:spPr>
          <a:xfrm>
            <a:off x="5980176" y="5010912"/>
            <a:ext cx="36576" cy="36576"/>
          </a:xfrm>
          <a:prstGeom prst="ellipse">
            <a:avLst/>
          </a:prstGeom>
          <a:solidFill>
            <a:srgbClr val="0D9488">
              <a:alpha val="15000"/>
            </a:srgbClr>
          </a:solidFill>
          <a:ln/>
        </p:spPr>
      </p:sp>
      <p:sp>
        <p:nvSpPr>
          <p:cNvPr id="236" name="Shape 234"/>
          <p:cNvSpPr/>
          <p:nvPr/>
        </p:nvSpPr>
        <p:spPr>
          <a:xfrm>
            <a:off x="6419088" y="5010912"/>
            <a:ext cx="36576" cy="36576"/>
          </a:xfrm>
          <a:prstGeom prst="ellipse">
            <a:avLst/>
          </a:prstGeom>
          <a:solidFill>
            <a:srgbClr val="0D9488">
              <a:alpha val="15000"/>
            </a:srgbClr>
          </a:solidFill>
          <a:ln/>
        </p:spPr>
      </p:sp>
      <p:sp>
        <p:nvSpPr>
          <p:cNvPr id="237" name="Shape 235"/>
          <p:cNvSpPr/>
          <p:nvPr/>
        </p:nvSpPr>
        <p:spPr>
          <a:xfrm>
            <a:off x="6858000" y="5010912"/>
            <a:ext cx="36576" cy="36576"/>
          </a:xfrm>
          <a:prstGeom prst="ellipse">
            <a:avLst/>
          </a:prstGeom>
          <a:solidFill>
            <a:srgbClr val="0D9488">
              <a:alpha val="15000"/>
            </a:srgbClr>
          </a:solidFill>
          <a:ln/>
        </p:spPr>
      </p:sp>
      <p:sp>
        <p:nvSpPr>
          <p:cNvPr id="238" name="Shape 236"/>
          <p:cNvSpPr/>
          <p:nvPr/>
        </p:nvSpPr>
        <p:spPr>
          <a:xfrm>
            <a:off x="7296912" y="5010912"/>
            <a:ext cx="36576" cy="36576"/>
          </a:xfrm>
          <a:prstGeom prst="ellipse">
            <a:avLst/>
          </a:prstGeom>
          <a:solidFill>
            <a:srgbClr val="0D9488">
              <a:alpha val="15000"/>
            </a:srgbClr>
          </a:solidFill>
          <a:ln/>
        </p:spPr>
      </p:sp>
      <p:sp>
        <p:nvSpPr>
          <p:cNvPr id="239" name="Shape 237"/>
          <p:cNvSpPr/>
          <p:nvPr/>
        </p:nvSpPr>
        <p:spPr>
          <a:xfrm>
            <a:off x="7735824" y="5010912"/>
            <a:ext cx="36576" cy="36576"/>
          </a:xfrm>
          <a:prstGeom prst="ellipse">
            <a:avLst/>
          </a:prstGeom>
          <a:solidFill>
            <a:srgbClr val="0D9488">
              <a:alpha val="15000"/>
            </a:srgbClr>
          </a:solidFill>
          <a:ln/>
        </p:spPr>
      </p:sp>
      <p:sp>
        <p:nvSpPr>
          <p:cNvPr id="240" name="Shape 238"/>
          <p:cNvSpPr/>
          <p:nvPr/>
        </p:nvSpPr>
        <p:spPr>
          <a:xfrm>
            <a:off x="8174736" y="5010912"/>
            <a:ext cx="36576" cy="36576"/>
          </a:xfrm>
          <a:prstGeom prst="ellipse">
            <a:avLst/>
          </a:prstGeom>
          <a:solidFill>
            <a:srgbClr val="0D9488">
              <a:alpha val="15000"/>
            </a:srgbClr>
          </a:solidFill>
          <a:ln/>
        </p:spPr>
      </p:sp>
      <p:sp>
        <p:nvSpPr>
          <p:cNvPr id="241" name="Shape 239"/>
          <p:cNvSpPr/>
          <p:nvPr/>
        </p:nvSpPr>
        <p:spPr>
          <a:xfrm>
            <a:off x="8613648" y="5010912"/>
            <a:ext cx="36576" cy="36576"/>
          </a:xfrm>
          <a:prstGeom prst="ellipse">
            <a:avLst/>
          </a:prstGeom>
          <a:solidFill>
            <a:srgbClr val="0D9488">
              <a:alpha val="15000"/>
            </a:srgbClr>
          </a:solidFill>
          <a:ln/>
        </p:spPr>
      </p:sp>
      <p:sp>
        <p:nvSpPr>
          <p:cNvPr id="242" name="Shape 240"/>
          <p:cNvSpPr/>
          <p:nvPr/>
        </p:nvSpPr>
        <p:spPr>
          <a:xfrm>
            <a:off x="0" y="0"/>
            <a:ext cx="54864" cy="5143500"/>
          </a:xfrm>
          <a:prstGeom prst="rect">
            <a:avLst/>
          </a:prstGeom>
          <a:solidFill>
            <a:srgbClr val="F59E0B"/>
          </a:solidFill>
          <a:ln/>
        </p:spPr>
      </p:sp>
      <p:pic>
        <p:nvPicPr>
          <p:cNvPr id="243" name="Image 0" descr="preencoded.png">    </p:cNvPr>
          <p:cNvPicPr>
            <a:picLocks noChangeAspect="1"/>
          </p:cNvPicPr>
          <p:nvPr/>
        </p:nvPicPr>
        <p:blipFill>
          <a:blip r:embed="rId1"/>
          <a:stretch>
            <a:fillRect/>
          </a:stretch>
        </p:blipFill>
        <p:spPr>
          <a:xfrm>
            <a:off x="457200" y="320040"/>
            <a:ext cx="365760" cy="365760"/>
          </a:xfrm>
          <a:prstGeom prst="rect">
            <a:avLst/>
          </a:prstGeom>
        </p:spPr>
      </p:pic>
      <p:sp>
        <p:nvSpPr>
          <p:cNvPr id="244" name="Text 241"/>
          <p:cNvSpPr/>
          <p:nvPr/>
        </p:nvSpPr>
        <p:spPr>
          <a:xfrm>
            <a:off x="914400" y="274320"/>
            <a:ext cx="4572000" cy="502920"/>
          </a:xfrm>
          <a:prstGeom prst="rect">
            <a:avLst/>
          </a:prstGeom>
          <a:noFill/>
          <a:ln/>
        </p:spPr>
        <p:txBody>
          <a:bodyPr wrap="square" lIns="0" tIns="0" rIns="0" bIns="0"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Next Steps</a:t>
            </a:r>
            <a:endParaRPr lang="en-US" sz="3000" dirty="0"/>
          </a:p>
        </p:txBody>
      </p:sp>
      <p:sp>
        <p:nvSpPr>
          <p:cNvPr id="245" name="Text 242"/>
          <p:cNvSpPr/>
          <p:nvPr/>
        </p:nvSpPr>
        <p:spPr>
          <a:xfrm>
            <a:off x="457200" y="1005840"/>
            <a:ext cx="8229600" cy="365760"/>
          </a:xfrm>
          <a:prstGeom prst="rect">
            <a:avLst/>
          </a:prstGeom>
          <a:noFill/>
          <a:ln/>
        </p:spPr>
        <p:txBody>
          <a:bodyPr wrap="square" lIns="0" tIns="0" rIns="0" bIns="0" rtlCol="0" anchor="ctr"/>
          <a:lstStyle/>
          <a:p>
            <a:pPr indent="0" marL="0">
              <a:buNone/>
            </a:pPr>
            <a:r>
              <a:rPr lang="en-US" sz="1500" b="1" dirty="0">
                <a:solidFill>
                  <a:srgbClr val="F59E0B"/>
                </a:solidFill>
                <a:latin typeface="Trebuchet MS" pitchFamily="34" charset="0"/>
                <a:ea typeface="Trebuchet MS" pitchFamily="34" charset="-122"/>
                <a:cs typeface="Trebuchet MS" pitchFamily="34" charset="-120"/>
              </a:rPr>
              <a:t>Top 3 actions — next 30 days:</a:t>
            </a:r>
            <a:endParaRPr lang="en-US" sz="1500" dirty="0"/>
          </a:p>
        </p:txBody>
      </p:sp>
      <p:sp>
        <p:nvSpPr>
          <p:cNvPr id="246" name="Shape 243"/>
          <p:cNvSpPr/>
          <p:nvPr/>
        </p:nvSpPr>
        <p:spPr>
          <a:xfrm>
            <a:off x="457200" y="1508760"/>
            <a:ext cx="8229600" cy="731520"/>
          </a:xfrm>
          <a:prstGeom prst="rect">
            <a:avLst/>
          </a:prstGeom>
          <a:solidFill>
            <a:srgbClr val="FFFFFF">
              <a:alpha val="10000"/>
            </a:srgbClr>
          </a:solidFill>
          <a:ln/>
        </p:spPr>
      </p:sp>
      <p:sp>
        <p:nvSpPr>
          <p:cNvPr id="247" name="Text 244"/>
          <p:cNvSpPr/>
          <p:nvPr/>
        </p:nvSpPr>
        <p:spPr>
          <a:xfrm>
            <a:off x="640080" y="1645920"/>
            <a:ext cx="548640" cy="457200"/>
          </a:xfrm>
          <a:prstGeom prst="rect">
            <a:avLst/>
          </a:prstGeom>
          <a:noFill/>
          <a:ln/>
        </p:spPr>
        <p:txBody>
          <a:bodyPr wrap="square" lIns="0" tIns="0" rIns="0" bIns="0" rtlCol="0" anchor="ctr"/>
          <a:lstStyle/>
          <a:p>
            <a:pPr indent="0" marL="0">
              <a:buNone/>
            </a:pPr>
            <a:r>
              <a:rPr lang="en-US" sz="2400" b="1" dirty="0">
                <a:solidFill>
                  <a:srgbClr val="F59E0B"/>
                </a:solidFill>
                <a:latin typeface="Trebuchet MS" pitchFamily="34" charset="0"/>
                <a:ea typeface="Trebuchet MS" pitchFamily="34" charset="-122"/>
                <a:cs typeface="Trebuchet MS" pitchFamily="34" charset="-120"/>
              </a:rPr>
              <a:t>01</a:t>
            </a:r>
            <a:endParaRPr lang="en-US" sz="2400" dirty="0"/>
          </a:p>
        </p:txBody>
      </p:sp>
      <p:sp>
        <p:nvSpPr>
          <p:cNvPr id="248" name="Text 245"/>
          <p:cNvSpPr/>
          <p:nvPr/>
        </p:nvSpPr>
        <p:spPr>
          <a:xfrm>
            <a:off x="1280160" y="1600200"/>
            <a:ext cx="2743200" cy="274320"/>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Launch Beta</a:t>
            </a:r>
            <a:endParaRPr lang="en-US" sz="1500" dirty="0"/>
          </a:p>
        </p:txBody>
      </p:sp>
      <p:sp>
        <p:nvSpPr>
          <p:cNvPr id="249" name="Text 246"/>
          <p:cNvSpPr/>
          <p:nvPr/>
        </p:nvSpPr>
        <p:spPr>
          <a:xfrm>
            <a:off x="1280160" y="1892808"/>
            <a:ext cx="7132320" cy="27432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Open to 500 beta users via waitlist. Measure activation, retention, and free-to-paid conversion.</a:t>
            </a:r>
            <a:endParaRPr lang="en-US" sz="1200" dirty="0"/>
          </a:p>
        </p:txBody>
      </p:sp>
      <p:sp>
        <p:nvSpPr>
          <p:cNvPr id="250" name="Shape 247"/>
          <p:cNvSpPr/>
          <p:nvPr/>
        </p:nvSpPr>
        <p:spPr>
          <a:xfrm>
            <a:off x="457200" y="2423160"/>
            <a:ext cx="8229600" cy="731520"/>
          </a:xfrm>
          <a:prstGeom prst="rect">
            <a:avLst/>
          </a:prstGeom>
          <a:solidFill>
            <a:srgbClr val="FFFFFF">
              <a:alpha val="10000"/>
            </a:srgbClr>
          </a:solidFill>
          <a:ln/>
        </p:spPr>
      </p:sp>
      <p:sp>
        <p:nvSpPr>
          <p:cNvPr id="251" name="Text 248"/>
          <p:cNvSpPr/>
          <p:nvPr/>
        </p:nvSpPr>
        <p:spPr>
          <a:xfrm>
            <a:off x="640080" y="2560320"/>
            <a:ext cx="548640" cy="457200"/>
          </a:xfrm>
          <a:prstGeom prst="rect">
            <a:avLst/>
          </a:prstGeom>
          <a:noFill/>
          <a:ln/>
        </p:spPr>
        <p:txBody>
          <a:bodyPr wrap="square" lIns="0" tIns="0" rIns="0" bIns="0" rtlCol="0" anchor="ctr"/>
          <a:lstStyle/>
          <a:p>
            <a:pPr indent="0" marL="0">
              <a:buNone/>
            </a:pPr>
            <a:r>
              <a:rPr lang="en-US" sz="2400" b="1" dirty="0">
                <a:solidFill>
                  <a:srgbClr val="F59E0B"/>
                </a:solidFill>
                <a:latin typeface="Trebuchet MS" pitchFamily="34" charset="0"/>
                <a:ea typeface="Trebuchet MS" pitchFamily="34" charset="-122"/>
                <a:cs typeface="Trebuchet MS" pitchFamily="34" charset="-120"/>
              </a:rPr>
              <a:t>02</a:t>
            </a:r>
            <a:endParaRPr lang="en-US" sz="2400" dirty="0"/>
          </a:p>
        </p:txBody>
      </p:sp>
      <p:sp>
        <p:nvSpPr>
          <p:cNvPr id="252" name="Text 249"/>
          <p:cNvSpPr/>
          <p:nvPr/>
        </p:nvSpPr>
        <p:spPr>
          <a:xfrm>
            <a:off x="1280160" y="2514600"/>
            <a:ext cx="2743200" cy="274320"/>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Partner Outreach</a:t>
            </a:r>
            <a:endParaRPr lang="en-US" sz="1500" dirty="0"/>
          </a:p>
        </p:txBody>
      </p:sp>
      <p:sp>
        <p:nvSpPr>
          <p:cNvPr id="253" name="Text 250"/>
          <p:cNvSpPr/>
          <p:nvPr/>
        </p:nvSpPr>
        <p:spPr>
          <a:xfrm>
            <a:off x="1280160" y="2807208"/>
            <a:ext cx="7132320" cy="27432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Secure 3 housing association partnerships for distribution to 10,000+ households.</a:t>
            </a:r>
            <a:endParaRPr lang="en-US" sz="1200" dirty="0"/>
          </a:p>
        </p:txBody>
      </p:sp>
      <p:sp>
        <p:nvSpPr>
          <p:cNvPr id="254" name="Shape 251"/>
          <p:cNvSpPr/>
          <p:nvPr/>
        </p:nvSpPr>
        <p:spPr>
          <a:xfrm>
            <a:off x="457200" y="3337560"/>
            <a:ext cx="8229600" cy="731520"/>
          </a:xfrm>
          <a:prstGeom prst="rect">
            <a:avLst/>
          </a:prstGeom>
          <a:solidFill>
            <a:srgbClr val="FFFFFF">
              <a:alpha val="10000"/>
            </a:srgbClr>
          </a:solidFill>
          <a:ln/>
        </p:spPr>
      </p:sp>
      <p:sp>
        <p:nvSpPr>
          <p:cNvPr id="255" name="Text 252"/>
          <p:cNvSpPr/>
          <p:nvPr/>
        </p:nvSpPr>
        <p:spPr>
          <a:xfrm>
            <a:off x="640080" y="3474720"/>
            <a:ext cx="548640" cy="457200"/>
          </a:xfrm>
          <a:prstGeom prst="rect">
            <a:avLst/>
          </a:prstGeom>
          <a:noFill/>
          <a:ln/>
        </p:spPr>
        <p:txBody>
          <a:bodyPr wrap="square" lIns="0" tIns="0" rIns="0" bIns="0" rtlCol="0" anchor="ctr"/>
          <a:lstStyle/>
          <a:p>
            <a:pPr indent="0" marL="0">
              <a:buNone/>
            </a:pPr>
            <a:r>
              <a:rPr lang="en-US" sz="2400" b="1" dirty="0">
                <a:solidFill>
                  <a:srgbClr val="F59E0B"/>
                </a:solidFill>
                <a:latin typeface="Trebuchet MS" pitchFamily="34" charset="0"/>
                <a:ea typeface="Trebuchet MS" pitchFamily="34" charset="-122"/>
                <a:cs typeface="Trebuchet MS" pitchFamily="34" charset="-120"/>
              </a:rPr>
              <a:t>03</a:t>
            </a:r>
            <a:endParaRPr lang="en-US" sz="2400" dirty="0"/>
          </a:p>
        </p:txBody>
      </p:sp>
      <p:sp>
        <p:nvSpPr>
          <p:cNvPr id="256" name="Text 253"/>
          <p:cNvSpPr/>
          <p:nvPr/>
        </p:nvSpPr>
        <p:spPr>
          <a:xfrm>
            <a:off x="1280160" y="3429000"/>
            <a:ext cx="2743200" cy="274320"/>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Investor Conversations</a:t>
            </a:r>
            <a:endParaRPr lang="en-US" sz="1500" dirty="0"/>
          </a:p>
        </p:txBody>
      </p:sp>
      <p:sp>
        <p:nvSpPr>
          <p:cNvPr id="257" name="Text 254"/>
          <p:cNvSpPr/>
          <p:nvPr/>
        </p:nvSpPr>
        <p:spPr>
          <a:xfrm>
            <a:off x="1280160" y="3721608"/>
            <a:ext cx="7132320" cy="27432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Close seed round commitments. Target: £150K from angels and climate-tech funds.</a:t>
            </a:r>
            <a:endParaRPr lang="en-US" sz="1200" dirty="0"/>
          </a:p>
        </p:txBody>
      </p:sp>
      <p:sp>
        <p:nvSpPr>
          <p:cNvPr id="258" name="Text 255"/>
          <p:cNvSpPr/>
          <p:nvPr/>
        </p:nvSpPr>
        <p:spPr>
          <a:xfrm>
            <a:off x="457200" y="4389120"/>
            <a:ext cx="8229600" cy="274320"/>
          </a:xfrm>
          <a:prstGeom prst="rect">
            <a:avLst/>
          </a:prstGeom>
          <a:noFill/>
          <a:ln/>
        </p:spPr>
        <p:txBody>
          <a:bodyPr wrap="square" lIns="0" tIns="0" rIns="0" bIns="0" rtlCol="0" anchor="ctr"/>
          <a:lstStyle/>
          <a:p>
            <a:pPr indent="0" marL="0">
              <a:buNone/>
            </a:pPr>
            <a:r>
              <a:rPr lang="en-US" sz="1300" b="1" dirty="0">
                <a:solidFill>
                  <a:srgbClr val="F59E0B"/>
                </a:solidFill>
                <a:latin typeface="Trebuchet MS" pitchFamily="34" charset="0"/>
                <a:ea typeface="Trebuchet MS" pitchFamily="34" charset="-122"/>
                <a:cs typeface="Trebuchet MS" pitchFamily="34" charset="-120"/>
              </a:rPr>
              <a:t>What unlocks the next 6 months:</a:t>
            </a:r>
            <a:endParaRPr lang="en-US" sz="1300" dirty="0"/>
          </a:p>
        </p:txBody>
      </p:sp>
      <p:sp>
        <p:nvSpPr>
          <p:cNvPr id="259" name="Text 256"/>
          <p:cNvSpPr/>
          <p:nvPr/>
        </p:nvSpPr>
        <p:spPr>
          <a:xfrm>
            <a:off x="457200" y="4617720"/>
            <a:ext cx="8229600" cy="27432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Seed funding + 1,000 active users + 2 energy provider API integrations</a:t>
            </a:r>
            <a:endParaRPr lang="en-US" sz="1200" dirty="0"/>
          </a:p>
        </p:txBody>
      </p:sp>
      <p:sp>
        <p:nvSpPr>
          <p:cNvPr id="260" name="Shape 257"/>
          <p:cNvSpPr/>
          <p:nvPr/>
        </p:nvSpPr>
        <p:spPr>
          <a:xfrm>
            <a:off x="5943600" y="4297680"/>
            <a:ext cx="2743200" cy="731520"/>
          </a:xfrm>
          <a:prstGeom prst="rect">
            <a:avLst/>
          </a:prstGeom>
          <a:solidFill>
            <a:srgbClr val="0D9488">
              <a:alpha val="30000"/>
            </a:srgbClr>
          </a:solidFill>
          <a:ln/>
        </p:spPr>
      </p:sp>
      <p:sp>
        <p:nvSpPr>
          <p:cNvPr id="261" name="Text 258"/>
          <p:cNvSpPr/>
          <p:nvPr/>
        </p:nvSpPr>
        <p:spPr>
          <a:xfrm>
            <a:off x="6035040" y="4343400"/>
            <a:ext cx="2560320" cy="6400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venture-spark-uk.lovable.app</a:t>
            </a:r>
            <a:endParaRPr lang="en-US" sz="1100" dirty="0"/>
          </a:p>
          <a:p>
            <a:pPr indent="0" marL="0">
              <a:buNone/>
            </a:pPr>
            <a:r>
              <a:rPr lang="en-US" sz="1000" dirty="0">
                <a:solidFill>
                  <a:srgbClr val="FFFFFF"/>
                </a:solidFill>
                <a:latin typeface="Calibri" pitchFamily="34" charset="0"/>
                <a:ea typeface="Calibri" pitchFamily="34" charset="-122"/>
                <a:cs typeface="Calibri" pitchFamily="34" charset="-120"/>
              </a:rPr>
              <a:t>support@energywise.co.uk</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EnergyWise UK - Investor Pitch Deck</dc:title>
  <dc:subject>PptxGenJS Presentation</dc:subject>
  <dc:creator>EnergyWise UK</dc:creator>
  <cp:lastModifiedBy>EnergyWise UK</cp:lastModifiedBy>
  <cp:revision>1</cp:revision>
  <dcterms:created xsi:type="dcterms:W3CDTF">2026-03-18T17:44:46Z</dcterms:created>
  <dcterms:modified xsi:type="dcterms:W3CDTF">2026-03-18T17:44:46Z</dcterms:modified>
</cp:coreProperties>
</file>