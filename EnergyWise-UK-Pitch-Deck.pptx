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0D9488"/>
          </a:solidFill>
          <a:ln/>
        </p:spPr>
      </p:sp>
      <p:pic>
        <p:nvPicPr>
          <p:cNvPr id="243"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244" name="Text 241"/>
          <p:cNvSpPr/>
          <p:nvPr/>
        </p:nvSpPr>
        <p:spPr>
          <a:xfrm>
            <a:off x="1463040" y="100584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EnergyWise UK</a:t>
            </a:r>
            <a:endParaRPr lang="en-US" sz="4400" dirty="0"/>
          </a:p>
        </p:txBody>
      </p:sp>
      <p:sp>
        <p:nvSpPr>
          <p:cNvPr id="245" name="Shape 242"/>
          <p:cNvSpPr/>
          <p:nvPr/>
        </p:nvSpPr>
        <p:spPr>
          <a:xfrm>
            <a:off x="1463040" y="1874520"/>
            <a:ext cx="2286000" cy="36576"/>
          </a:xfrm>
          <a:prstGeom prst="rect">
            <a:avLst/>
          </a:prstGeom>
          <a:solidFill>
            <a:srgbClr val="0D9488"/>
          </a:solidFill>
          <a:ln/>
        </p:spPr>
      </p:sp>
      <p:sp>
        <p:nvSpPr>
          <p:cNvPr id="246" name="Text 243"/>
          <p:cNvSpPr/>
          <p:nvPr/>
        </p:nvSpPr>
        <p:spPr>
          <a:xfrm>
            <a:off x="1463040" y="2103120"/>
            <a:ext cx="6400800" cy="54864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AI-powered energy intelligence for every UK household</a:t>
            </a:r>
            <a:endParaRPr lang="en-US" sz="2000" dirty="0"/>
          </a:p>
        </p:txBody>
      </p:sp>
      <p:sp>
        <p:nvSpPr>
          <p:cNvPr id="247" name="Text 244"/>
          <p:cNvSpPr/>
          <p:nvPr/>
        </p:nvSpPr>
        <p:spPr>
          <a:xfrm>
            <a:off x="1463040" y="3108960"/>
            <a:ext cx="45720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Venture Spark Programme 2026</a:t>
            </a:r>
            <a:endParaRPr lang="en-US" sz="1400" dirty="0"/>
          </a:p>
        </p:txBody>
      </p:sp>
      <p:sp>
        <p:nvSpPr>
          <p:cNvPr id="248" name="Text 245"/>
          <p:cNvSpPr/>
          <p:nvPr/>
        </p:nvSpPr>
        <p:spPr>
          <a:xfrm>
            <a:off x="1463040" y="3474720"/>
            <a:ext cx="4572000" cy="36576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Presented by Ayan Dhar</a:t>
            </a:r>
            <a:endParaRPr lang="en-US" sz="1300" dirty="0"/>
          </a:p>
        </p:txBody>
      </p:sp>
      <p:sp>
        <p:nvSpPr>
          <p:cNvPr id="249" name="Shape 246"/>
          <p:cNvSpPr/>
          <p:nvPr/>
        </p:nvSpPr>
        <p:spPr>
          <a:xfrm>
            <a:off x="0" y="4869180"/>
            <a:ext cx="9144000" cy="274320"/>
          </a:xfrm>
          <a:prstGeom prst="rect">
            <a:avLst/>
          </a:prstGeom>
          <a:solidFill>
            <a:srgbClr val="0D9488">
              <a:alpha val="2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Problem</a:t>
            </a:r>
            <a:endParaRPr lang="en-US" sz="3000" dirty="0"/>
          </a:p>
        </p:txBody>
      </p:sp>
      <p:sp>
        <p:nvSpPr>
          <p:cNvPr id="5" name="Shape 2"/>
          <p:cNvSpPr/>
          <p:nvPr/>
        </p:nvSpPr>
        <p:spPr>
          <a:xfrm>
            <a:off x="45720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2560320" cy="54864"/>
          </a:xfrm>
          <a:prstGeom prst="rect">
            <a:avLst/>
          </a:prstGeom>
          <a:solidFill>
            <a:srgbClr val="0D9488"/>
          </a:solidFill>
          <a:ln/>
        </p:spPr>
      </p:sp>
      <p:sp>
        <p:nvSpPr>
          <p:cNvPr id="7" name="Text 4"/>
          <p:cNvSpPr/>
          <p:nvPr/>
        </p:nvSpPr>
        <p:spPr>
          <a:xfrm>
            <a:off x="45720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80%</a:t>
            </a:r>
            <a:endParaRPr lang="en-US" sz="3600" dirty="0"/>
          </a:p>
        </p:txBody>
      </p:sp>
      <p:sp>
        <p:nvSpPr>
          <p:cNvPr id="8" name="Text 5"/>
          <p:cNvSpPr/>
          <p:nvPr/>
        </p:nvSpPr>
        <p:spPr>
          <a:xfrm>
            <a:off x="64008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of UK households overpay</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on energy bills</a:t>
            </a:r>
            <a:endParaRPr lang="en-US" sz="1200" dirty="0"/>
          </a:p>
        </p:txBody>
      </p:sp>
      <p:sp>
        <p:nvSpPr>
          <p:cNvPr id="9" name="Shape 6"/>
          <p:cNvSpPr/>
          <p:nvPr/>
        </p:nvSpPr>
        <p:spPr>
          <a:xfrm>
            <a:off x="329184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7"/>
          <p:cNvSpPr/>
          <p:nvPr/>
        </p:nvSpPr>
        <p:spPr>
          <a:xfrm>
            <a:off x="3291840" y="1051560"/>
            <a:ext cx="2560320" cy="54864"/>
          </a:xfrm>
          <a:prstGeom prst="rect">
            <a:avLst/>
          </a:prstGeom>
          <a:solidFill>
            <a:srgbClr val="F59E0B"/>
          </a:solidFill>
          <a:ln/>
        </p:spPr>
      </p:sp>
      <p:sp>
        <p:nvSpPr>
          <p:cNvPr id="11" name="Text 8"/>
          <p:cNvSpPr/>
          <p:nvPr/>
        </p:nvSpPr>
        <p:spPr>
          <a:xfrm>
            <a:off x="3291840" y="1234440"/>
            <a:ext cx="2560320" cy="594360"/>
          </a:xfrm>
          <a:prstGeom prst="rect">
            <a:avLst/>
          </a:prstGeom>
          <a:noFill/>
          <a:ln/>
        </p:spPr>
        <p:txBody>
          <a:bodyPr wrap="square" lIns="0" tIns="0" rIns="0" bIns="0" rtlCol="0" anchor="ctr"/>
          <a:lstStyle/>
          <a:p>
            <a:pPr algn="ctr" indent="0" marL="0">
              <a:buNone/>
            </a:pPr>
            <a:r>
              <a:rPr lang="en-US" sz="3600" b="1" dirty="0">
                <a:solidFill>
                  <a:srgbClr val="F59E0B"/>
                </a:solidFill>
                <a:latin typeface="Trebuchet MS" pitchFamily="34" charset="0"/>
                <a:ea typeface="Trebuchet MS" pitchFamily="34" charset="-122"/>
                <a:cs typeface="Trebuchet MS" pitchFamily="34" charset="-120"/>
              </a:rPr>
              <a:t>£300+</a:t>
            </a:r>
            <a:endParaRPr lang="en-US" sz="3600" dirty="0"/>
          </a:p>
        </p:txBody>
      </p:sp>
      <p:sp>
        <p:nvSpPr>
          <p:cNvPr id="12" name="Text 9"/>
          <p:cNvSpPr/>
          <p:nvPr/>
        </p:nvSpPr>
        <p:spPr>
          <a:xfrm>
            <a:off x="347472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average annual overspend</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per household</a:t>
            </a:r>
            <a:endParaRPr lang="en-US" sz="1200" dirty="0"/>
          </a:p>
        </p:txBody>
      </p:sp>
      <p:sp>
        <p:nvSpPr>
          <p:cNvPr id="13" name="Shape 10"/>
          <p:cNvSpPr/>
          <p:nvPr/>
        </p:nvSpPr>
        <p:spPr>
          <a:xfrm>
            <a:off x="612648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6126480" y="1051560"/>
            <a:ext cx="2560320" cy="54864"/>
          </a:xfrm>
          <a:prstGeom prst="rect">
            <a:avLst/>
          </a:prstGeom>
          <a:solidFill>
            <a:srgbClr val="0D9488"/>
          </a:solidFill>
          <a:ln/>
        </p:spPr>
      </p:sp>
      <p:sp>
        <p:nvSpPr>
          <p:cNvPr id="15" name="Text 12"/>
          <p:cNvSpPr/>
          <p:nvPr/>
        </p:nvSpPr>
        <p:spPr>
          <a:xfrm>
            <a:off x="612648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29M</a:t>
            </a:r>
            <a:endParaRPr lang="en-US" sz="3600" dirty="0"/>
          </a:p>
        </p:txBody>
      </p:sp>
      <p:sp>
        <p:nvSpPr>
          <p:cNvPr id="16" name="Text 13"/>
          <p:cNvSpPr/>
          <p:nvPr/>
        </p:nvSpPr>
        <p:spPr>
          <a:xfrm>
            <a:off x="630936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UK households lack</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energy visibility</a:t>
            </a:r>
            <a:endParaRPr lang="en-US" sz="1200" dirty="0"/>
          </a:p>
        </p:txBody>
      </p:sp>
      <p:sp>
        <p:nvSpPr>
          <p:cNvPr id="17" name="Shape 14"/>
          <p:cNvSpPr/>
          <p:nvPr/>
        </p:nvSpPr>
        <p:spPr>
          <a:xfrm>
            <a:off x="457200" y="2834640"/>
            <a:ext cx="8229600" cy="9144"/>
          </a:xfrm>
          <a:prstGeom prst="rect">
            <a:avLst/>
          </a:prstGeom>
          <a:solidFill>
            <a:srgbClr val="E2E8F0"/>
          </a:solidFill>
          <a:ln/>
        </p:spPr>
      </p:sp>
      <p:sp>
        <p:nvSpPr>
          <p:cNvPr id="18" name="Text 15"/>
          <p:cNvSpPr/>
          <p:nvPr/>
        </p:nvSpPr>
        <p:spPr>
          <a:xfrm>
            <a:off x="457200" y="3017520"/>
            <a:ext cx="8229600" cy="1280160"/>
          </a:xfrm>
          <a:prstGeom prst="rect">
            <a:avLst/>
          </a:prstGeom>
          <a:noFill/>
          <a:ln/>
        </p:spPr>
        <p:txBody>
          <a:bodyPr wrap="square" lIns="0" tIns="0" rIns="0" bIns="0" rtlCol="0" anchor="ctr"/>
          <a:lstStyle/>
          <a:p>
            <a:pPr indent="0" marL="0">
              <a:lnSpc>
                <a:spcPct val="130000"/>
              </a:lnSpc>
              <a:buNone/>
            </a:pPr>
            <a:r>
              <a:rPr lang="en-US" sz="1300" b="1" dirty="0">
                <a:solidFill>
                  <a:srgbClr val="1E293B"/>
                </a:solidFill>
                <a:latin typeface="Calibri" pitchFamily="34" charset="0"/>
                <a:ea typeface="Calibri" pitchFamily="34" charset="-122"/>
                <a:cs typeface="Calibri" pitchFamily="34" charset="-120"/>
              </a:rPr>
              <a:t>UK energy bills have risen 54% since 2021. </a:t>
            </a:r>
            <a:pPr indent="0" marL="0">
              <a:lnSpc>
                <a:spcPct val="130000"/>
              </a:lnSpc>
              <a:buNone/>
            </a:pPr>
            <a:r>
              <a:rPr lang="en-US" sz="1300" dirty="0">
                <a:solidFill>
                  <a:srgbClr val="1E293B"/>
                </a:solidFill>
                <a:latin typeface="Calibri" pitchFamily="34" charset="0"/>
                <a:ea typeface="Calibri" pitchFamily="34" charset="-122"/>
                <a:cs typeface="Calibri" pitchFamily="34" charset="-120"/>
              </a:rPr>
              <a:t>Yet consumers still receive paper bills with no actionable insight. Most have no idea if they are on the cheapest tariff, how their usage compares, or what their carbon footprint looks like. The problem is not energy cost alone — it is the total absence of accessible, personalised energy intelligence.</a:t>
            </a:r>
            <a:endParaRPr lang="en-US" sz="1300" dirty="0"/>
          </a:p>
        </p:txBody>
      </p:sp>
      <p:sp>
        <p:nvSpPr>
          <p:cNvPr id="19" name="Text 16"/>
          <p:cNvSpPr/>
          <p:nvPr/>
        </p:nvSpPr>
        <p:spPr>
          <a:xfrm>
            <a:off x="457200" y="4389120"/>
            <a:ext cx="8229600" cy="41148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"I have no idea if I'm on a good deal — my bill is just numbers." — UK Consumer Survey, 2025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Solution</a:t>
            </a:r>
            <a:endParaRPr lang="en-US" sz="3000" dirty="0"/>
          </a:p>
        </p:txBody>
      </p:sp>
      <p:sp>
        <p:nvSpPr>
          <p:cNvPr id="5" name="Text 2"/>
          <p:cNvSpPr/>
          <p:nvPr/>
        </p:nvSpPr>
        <p:spPr>
          <a:xfrm>
            <a:off x="457200" y="1005840"/>
            <a:ext cx="8229600" cy="640080"/>
          </a:xfrm>
          <a:prstGeom prst="rect">
            <a:avLst/>
          </a:prstGeom>
          <a:noFill/>
          <a:ln/>
        </p:spPr>
        <p:txBody>
          <a:bodyPr wrap="square" lIns="0" tIns="0" rIns="0" bIns="0" rtlCol="0" anchor="ctr"/>
          <a:lstStyle/>
          <a:p>
            <a:pPr indent="0" marL="0">
              <a:lnSpc>
                <a:spcPct val="130000"/>
              </a:lnSpc>
              <a:buNone/>
            </a:pPr>
            <a:r>
              <a:rPr lang="en-US" sz="1400" dirty="0">
                <a:solidFill>
                  <a:srgbClr val="1E293B"/>
                </a:solidFill>
                <a:latin typeface="Calibri" pitchFamily="34" charset="0"/>
                <a:ea typeface="Calibri" pitchFamily="34" charset="-122"/>
                <a:cs typeface="Calibri" pitchFamily="34" charset="-120"/>
              </a:rPr>
              <a:t>EnergyWise is an AI-powered energy dashboard that scans your bills, compares tariffs, tracks carbon footprint, and delivers personalised savings advice — all in one place.</a:t>
            </a:r>
            <a:endParaRPr lang="en-US" sz="1400" dirty="0"/>
          </a:p>
        </p:txBody>
      </p:sp>
      <p:sp>
        <p:nvSpPr>
          <p:cNvPr id="6" name="Shape 3"/>
          <p:cNvSpPr/>
          <p:nvPr/>
        </p:nvSpPr>
        <p:spPr>
          <a:xfrm>
            <a:off x="45720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7" name="Shape 4"/>
          <p:cNvSpPr/>
          <p:nvPr/>
        </p:nvSpPr>
        <p:spPr>
          <a:xfrm>
            <a:off x="457200" y="1874520"/>
            <a:ext cx="54864" cy="1188720"/>
          </a:xfrm>
          <a:prstGeom prst="rect">
            <a:avLst/>
          </a:prstGeom>
          <a:solidFill>
            <a:srgbClr val="0D9488"/>
          </a:solidFill>
          <a:ln/>
        </p:spPr>
      </p:sp>
      <p:pic>
        <p:nvPicPr>
          <p:cNvPr id="8" name="Image 1" descr="preencoded.png">    </p:cNvPr>
          <p:cNvPicPr>
            <a:picLocks noChangeAspect="1"/>
          </p:cNvPicPr>
          <p:nvPr/>
        </p:nvPicPr>
        <p:blipFill>
          <a:blip r:embed="rId2"/>
          <a:stretch>
            <a:fillRect/>
          </a:stretch>
        </p:blipFill>
        <p:spPr>
          <a:xfrm>
            <a:off x="685800" y="2057400"/>
            <a:ext cx="320040" cy="320040"/>
          </a:xfrm>
          <a:prstGeom prst="rect">
            <a:avLst/>
          </a:prstGeom>
        </p:spPr>
      </p:pic>
      <p:sp>
        <p:nvSpPr>
          <p:cNvPr id="9" name="Text 5"/>
          <p:cNvSpPr/>
          <p:nvPr/>
        </p:nvSpPr>
        <p:spPr>
          <a:xfrm>
            <a:off x="114300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AI Bill Scanner</a:t>
            </a:r>
            <a:endParaRPr lang="en-US" sz="1400" dirty="0"/>
          </a:p>
        </p:txBody>
      </p:sp>
      <p:sp>
        <p:nvSpPr>
          <p:cNvPr id="10" name="Text 6"/>
          <p:cNvSpPr/>
          <p:nvPr/>
        </p:nvSpPr>
        <p:spPr>
          <a:xfrm>
            <a:off x="114300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Upload a bill photo and Gemini AI extracts provider, tariff, usage &amp; cost data instantly.</a:t>
            </a:r>
            <a:endParaRPr lang="en-US" sz="1100" dirty="0"/>
          </a:p>
        </p:txBody>
      </p:sp>
      <p:sp>
        <p:nvSpPr>
          <p:cNvPr id="11" name="Shape 7"/>
          <p:cNvSpPr/>
          <p:nvPr/>
        </p:nvSpPr>
        <p:spPr>
          <a:xfrm>
            <a:off x="466344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Shape 8"/>
          <p:cNvSpPr/>
          <p:nvPr/>
        </p:nvSpPr>
        <p:spPr>
          <a:xfrm>
            <a:off x="4663440" y="1874520"/>
            <a:ext cx="54864" cy="1188720"/>
          </a:xfrm>
          <a:prstGeom prst="rect">
            <a:avLst/>
          </a:prstGeom>
          <a:solidFill>
            <a:srgbClr val="0D9488"/>
          </a:solidFill>
          <a:ln/>
        </p:spPr>
      </p:sp>
      <p:pic>
        <p:nvPicPr>
          <p:cNvPr id="13" name="Image 2" descr="preencoded.png">    </p:cNvPr>
          <p:cNvPicPr>
            <a:picLocks noChangeAspect="1"/>
          </p:cNvPicPr>
          <p:nvPr/>
        </p:nvPicPr>
        <p:blipFill>
          <a:blip r:embed="rId3"/>
          <a:stretch>
            <a:fillRect/>
          </a:stretch>
        </p:blipFill>
        <p:spPr>
          <a:xfrm>
            <a:off x="4892040" y="2057400"/>
            <a:ext cx="320040" cy="320040"/>
          </a:xfrm>
          <a:prstGeom prst="rect">
            <a:avLst/>
          </a:prstGeom>
        </p:spPr>
      </p:pic>
      <p:sp>
        <p:nvSpPr>
          <p:cNvPr id="14" name="Text 9"/>
          <p:cNvSpPr/>
          <p:nvPr/>
        </p:nvSpPr>
        <p:spPr>
          <a:xfrm>
            <a:off x="534924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Usage Analytics</a:t>
            </a:r>
            <a:endParaRPr lang="en-US" sz="1400" dirty="0"/>
          </a:p>
        </p:txBody>
      </p:sp>
      <p:sp>
        <p:nvSpPr>
          <p:cNvPr id="15" name="Text 10"/>
          <p:cNvSpPr/>
          <p:nvPr/>
        </p:nvSpPr>
        <p:spPr>
          <a:xfrm>
            <a:off x="534924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Interactive charts track electricity and gas consumption trends over time.</a:t>
            </a:r>
            <a:endParaRPr lang="en-US" sz="1100" dirty="0"/>
          </a:p>
        </p:txBody>
      </p:sp>
      <p:sp>
        <p:nvSpPr>
          <p:cNvPr id="16" name="Shape 11"/>
          <p:cNvSpPr/>
          <p:nvPr/>
        </p:nvSpPr>
        <p:spPr>
          <a:xfrm>
            <a:off x="45720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2"/>
          <p:cNvSpPr/>
          <p:nvPr/>
        </p:nvSpPr>
        <p:spPr>
          <a:xfrm>
            <a:off x="457200" y="3291840"/>
            <a:ext cx="54864" cy="1188720"/>
          </a:xfrm>
          <a:prstGeom prst="rect">
            <a:avLst/>
          </a:prstGeom>
          <a:solidFill>
            <a:srgbClr val="0D9488"/>
          </a:solidFill>
          <a:ln/>
        </p:spPr>
      </p:sp>
      <p:pic>
        <p:nvPicPr>
          <p:cNvPr id="18" name="Image 3" descr="preencoded.png">    </p:cNvPr>
          <p:cNvPicPr>
            <a:picLocks noChangeAspect="1"/>
          </p:cNvPicPr>
          <p:nvPr/>
        </p:nvPicPr>
        <p:blipFill>
          <a:blip r:embed="rId4"/>
          <a:stretch>
            <a:fillRect/>
          </a:stretch>
        </p:blipFill>
        <p:spPr>
          <a:xfrm>
            <a:off x="685800" y="3474720"/>
            <a:ext cx="320040" cy="320040"/>
          </a:xfrm>
          <a:prstGeom prst="rect">
            <a:avLst/>
          </a:prstGeom>
        </p:spPr>
      </p:pic>
      <p:sp>
        <p:nvSpPr>
          <p:cNvPr id="19" name="Text 13"/>
          <p:cNvSpPr/>
          <p:nvPr/>
        </p:nvSpPr>
        <p:spPr>
          <a:xfrm>
            <a:off x="114300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EPC &amp; Carbon</a:t>
            </a:r>
            <a:endParaRPr lang="en-US" sz="1400" dirty="0"/>
          </a:p>
        </p:txBody>
      </p:sp>
      <p:sp>
        <p:nvSpPr>
          <p:cNvPr id="20" name="Text 14"/>
          <p:cNvSpPr/>
          <p:nvPr/>
        </p:nvSpPr>
        <p:spPr>
          <a:xfrm>
            <a:off x="114300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Postcode-based EPC rating lookup and real-time CO₂ emissions tracking.</a:t>
            </a:r>
            <a:endParaRPr lang="en-US" sz="1100" dirty="0"/>
          </a:p>
        </p:txBody>
      </p:sp>
      <p:sp>
        <p:nvSpPr>
          <p:cNvPr id="21" name="Shape 15"/>
          <p:cNvSpPr/>
          <p:nvPr/>
        </p:nvSpPr>
        <p:spPr>
          <a:xfrm>
            <a:off x="466344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6"/>
          <p:cNvSpPr/>
          <p:nvPr/>
        </p:nvSpPr>
        <p:spPr>
          <a:xfrm>
            <a:off x="4663440" y="3291840"/>
            <a:ext cx="54864" cy="1188720"/>
          </a:xfrm>
          <a:prstGeom prst="rect">
            <a:avLst/>
          </a:prstGeom>
          <a:solidFill>
            <a:srgbClr val="0D9488"/>
          </a:solidFill>
          <a:ln/>
        </p:spPr>
      </p:sp>
      <p:pic>
        <p:nvPicPr>
          <p:cNvPr id="23" name="Image 4" descr="preencoded.png">    </p:cNvPr>
          <p:cNvPicPr>
            <a:picLocks noChangeAspect="1"/>
          </p:cNvPicPr>
          <p:nvPr/>
        </p:nvPicPr>
        <p:blipFill>
          <a:blip r:embed="rId5"/>
          <a:stretch>
            <a:fillRect/>
          </a:stretch>
        </p:blipFill>
        <p:spPr>
          <a:xfrm>
            <a:off x="4892040" y="3474720"/>
            <a:ext cx="320040" cy="320040"/>
          </a:xfrm>
          <a:prstGeom prst="rect">
            <a:avLst/>
          </a:prstGeom>
        </p:spPr>
      </p:pic>
      <p:sp>
        <p:nvSpPr>
          <p:cNvPr id="24" name="Text 17"/>
          <p:cNvSpPr/>
          <p:nvPr/>
        </p:nvSpPr>
        <p:spPr>
          <a:xfrm>
            <a:off x="534924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Tariff Comparison</a:t>
            </a:r>
            <a:endParaRPr lang="en-US" sz="1400" dirty="0"/>
          </a:p>
        </p:txBody>
      </p:sp>
      <p:sp>
        <p:nvSpPr>
          <p:cNvPr id="25" name="Text 18"/>
          <p:cNvSpPr/>
          <p:nvPr/>
        </p:nvSpPr>
        <p:spPr>
          <a:xfrm>
            <a:off x="534924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Side-by-side comparison of current vs available tariffs to find savings.</a:t>
            </a:r>
            <a:endParaRPr lang="en-US" sz="1100" dirty="0"/>
          </a:p>
        </p:txBody>
      </p:sp>
      <p:sp>
        <p:nvSpPr>
          <p:cNvPr id="26" name="Text 19"/>
          <p:cNvSpPr/>
          <p:nvPr/>
        </p:nvSpPr>
        <p:spPr>
          <a:xfrm>
            <a:off x="457200" y="4663440"/>
            <a:ext cx="8229600" cy="32004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Live Demo: venture-spark-uk.lovable.app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Market Potential</a:t>
            </a:r>
            <a:endParaRPr lang="en-US" sz="3000" dirty="0"/>
          </a:p>
        </p:txBody>
      </p:sp>
      <p:sp>
        <p:nvSpPr>
          <p:cNvPr id="5" name="Shape 2"/>
          <p:cNvSpPr/>
          <p:nvPr/>
        </p:nvSpPr>
        <p:spPr>
          <a:xfrm>
            <a:off x="914400" y="1051560"/>
            <a:ext cx="7315200" cy="1005840"/>
          </a:xfrm>
          <a:prstGeom prst="rect">
            <a:avLst/>
          </a:prstGeom>
          <a:solidFill>
            <a:srgbClr val="0D9488">
              <a:alpha val="25000"/>
            </a:srgbClr>
          </a:solidFill>
          <a:ln/>
        </p:spPr>
      </p:sp>
      <p:sp>
        <p:nvSpPr>
          <p:cNvPr id="6" name="Text 3"/>
          <p:cNvSpPr/>
          <p:nvPr/>
        </p:nvSpPr>
        <p:spPr>
          <a:xfrm>
            <a:off x="1097280" y="114300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TAM</a:t>
            </a:r>
            <a:endParaRPr lang="en-US" sz="1100" dirty="0"/>
          </a:p>
        </p:txBody>
      </p:sp>
      <p:sp>
        <p:nvSpPr>
          <p:cNvPr id="7" name="Text 4"/>
          <p:cNvSpPr/>
          <p:nvPr/>
        </p:nvSpPr>
        <p:spPr>
          <a:xfrm>
            <a:off x="1097280" y="1417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£8.7B</a:t>
            </a:r>
            <a:endParaRPr lang="en-US" sz="2800" dirty="0"/>
          </a:p>
        </p:txBody>
      </p:sp>
      <p:sp>
        <p:nvSpPr>
          <p:cNvPr id="8" name="Text 5"/>
          <p:cNvSpPr/>
          <p:nvPr/>
        </p:nvSpPr>
        <p:spPr>
          <a:xfrm>
            <a:off x="3200400" y="1325880"/>
            <a:ext cx="4572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UK household energy management market</a:t>
            </a:r>
            <a:endParaRPr lang="en-US" sz="1200" dirty="0"/>
          </a:p>
        </p:txBody>
      </p:sp>
      <p:sp>
        <p:nvSpPr>
          <p:cNvPr id="9" name="Shape 6"/>
          <p:cNvSpPr/>
          <p:nvPr/>
        </p:nvSpPr>
        <p:spPr>
          <a:xfrm>
            <a:off x="2057400" y="2286000"/>
            <a:ext cx="5029200" cy="1005840"/>
          </a:xfrm>
          <a:prstGeom prst="rect">
            <a:avLst/>
          </a:prstGeom>
          <a:solidFill>
            <a:srgbClr val="0D9488">
              <a:alpha val="45000"/>
            </a:srgbClr>
          </a:solidFill>
          <a:ln/>
        </p:spPr>
      </p:sp>
      <p:sp>
        <p:nvSpPr>
          <p:cNvPr id="10" name="Text 7"/>
          <p:cNvSpPr/>
          <p:nvPr/>
        </p:nvSpPr>
        <p:spPr>
          <a:xfrm>
            <a:off x="2240280" y="237744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SAM</a:t>
            </a:r>
            <a:endParaRPr lang="en-US" sz="1100" dirty="0"/>
          </a:p>
        </p:txBody>
      </p:sp>
      <p:sp>
        <p:nvSpPr>
          <p:cNvPr id="11" name="Text 8"/>
          <p:cNvSpPr/>
          <p:nvPr/>
        </p:nvSpPr>
        <p:spPr>
          <a:xfrm>
            <a:off x="2240280" y="26517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£1.2B</a:t>
            </a:r>
            <a:endParaRPr lang="en-US" sz="2800" dirty="0"/>
          </a:p>
        </p:txBody>
      </p:sp>
      <p:sp>
        <p:nvSpPr>
          <p:cNvPr id="12" name="Text 9"/>
          <p:cNvSpPr/>
          <p:nvPr/>
        </p:nvSpPr>
        <p:spPr>
          <a:xfrm>
            <a:off x="4343400" y="2560320"/>
            <a:ext cx="2286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Digitally-engaged UK households seeking energy tools</a:t>
            </a:r>
            <a:endParaRPr lang="en-US" sz="1200" dirty="0"/>
          </a:p>
        </p:txBody>
      </p:sp>
      <p:sp>
        <p:nvSpPr>
          <p:cNvPr id="13" name="Shape 10"/>
          <p:cNvSpPr/>
          <p:nvPr/>
        </p:nvSpPr>
        <p:spPr>
          <a:xfrm>
            <a:off x="3200400" y="3520440"/>
            <a:ext cx="2743200" cy="1005840"/>
          </a:xfrm>
          <a:prstGeom prst="rect">
            <a:avLst/>
          </a:prstGeom>
          <a:solidFill>
            <a:srgbClr val="0D9488">
              <a:alpha val="80000"/>
            </a:srgbClr>
          </a:solidFill>
          <a:ln/>
        </p:spPr>
      </p:sp>
      <p:sp>
        <p:nvSpPr>
          <p:cNvPr id="14" name="Text 11"/>
          <p:cNvSpPr/>
          <p:nvPr/>
        </p:nvSpPr>
        <p:spPr>
          <a:xfrm>
            <a:off x="3383280" y="361188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SOM</a:t>
            </a:r>
            <a:endParaRPr lang="en-US" sz="1100" dirty="0"/>
          </a:p>
        </p:txBody>
      </p:sp>
      <p:sp>
        <p:nvSpPr>
          <p:cNvPr id="15" name="Text 12"/>
          <p:cNvSpPr/>
          <p:nvPr/>
        </p:nvSpPr>
        <p:spPr>
          <a:xfrm>
            <a:off x="3383280" y="3886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£24M</a:t>
            </a:r>
            <a:endParaRPr lang="en-US" sz="2800" dirty="0"/>
          </a:p>
        </p:txBody>
      </p:sp>
      <p:sp>
        <p:nvSpPr>
          <p:cNvPr id="16" name="Text 13"/>
          <p:cNvSpPr/>
          <p:nvPr/>
        </p:nvSpPr>
        <p:spPr>
          <a:xfrm>
            <a:off x="5486400" y="3794760"/>
            <a:ext cx="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Year 3 target: 80K subscribers at £25/mo</a:t>
            </a:r>
            <a:endParaRPr lang="en-US" sz="1200" dirty="0"/>
          </a:p>
        </p:txBody>
      </p:sp>
      <p:sp>
        <p:nvSpPr>
          <p:cNvPr id="17" name="Text 14"/>
          <p:cNvSpPr/>
          <p:nvPr/>
        </p:nvSpPr>
        <p:spPr>
          <a:xfrm>
            <a:off x="457200" y="4663440"/>
            <a:ext cx="8229600" cy="32004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Sources: Ofgem, Energy UK, Statista 2025. SOM based on 0.3% penetration of digitally active households.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Unique Value Proposition</a:t>
            </a:r>
            <a:endParaRPr lang="en-US" sz="3000" dirty="0"/>
          </a:p>
        </p:txBody>
      </p:sp>
      <p:sp>
        <p:nvSpPr>
          <p:cNvPr id="5" name="Text 2"/>
          <p:cNvSpPr/>
          <p:nvPr/>
        </p:nvSpPr>
        <p:spPr>
          <a:xfrm>
            <a:off x="457200" y="1051560"/>
            <a:ext cx="8229600" cy="640080"/>
          </a:xfrm>
          <a:prstGeom prst="rect">
            <a:avLst/>
          </a:prstGeom>
          <a:noFill/>
          <a:ln/>
        </p:spPr>
        <p:txBody>
          <a:bodyPr wrap="square" lIns="0" tIns="0" rIns="0" bIns="0" rtlCol="0" anchor="ctr"/>
          <a:lstStyle/>
          <a:p>
            <a:pPr indent="0" marL="0">
              <a:lnSpc>
                <a:spcPct val="130000"/>
              </a:lnSpc>
              <a:buNone/>
            </a:pPr>
            <a:r>
              <a:rPr lang="en-US" sz="1500" i="1" dirty="0">
                <a:solidFill>
                  <a:srgbClr val="CBD5E1"/>
                </a:solidFill>
                <a:latin typeface="Calibri" pitchFamily="34" charset="0"/>
                <a:ea typeface="Calibri" pitchFamily="34" charset="-122"/>
                <a:cs typeface="Calibri" pitchFamily="34" charset="-120"/>
              </a:rPr>
              <a:t>"Unlike price-comparison sites that give you a one-off quote, EnergyWise gives you an ongoing, AI-powered energy command centre."</a:t>
            </a:r>
            <a:endParaRPr lang="en-US" sz="1500" dirty="0"/>
          </a:p>
        </p:txBody>
      </p:sp>
      <p:sp>
        <p:nvSpPr>
          <p:cNvPr id="6" name="Shape 3"/>
          <p:cNvSpPr/>
          <p:nvPr/>
        </p:nvSpPr>
        <p:spPr>
          <a:xfrm>
            <a:off x="457200" y="1965960"/>
            <a:ext cx="8229600" cy="777240"/>
          </a:xfrm>
          <a:prstGeom prst="rect">
            <a:avLst/>
          </a:prstGeom>
          <a:solidFill>
            <a:srgbClr val="FFFFFF">
              <a:alpha val="8000"/>
            </a:srgbClr>
          </a:solidFill>
          <a:ln/>
        </p:spPr>
      </p:sp>
      <p:sp>
        <p:nvSpPr>
          <p:cNvPr id="7" name="Text 4"/>
          <p:cNvSpPr/>
          <p:nvPr/>
        </p:nvSpPr>
        <p:spPr>
          <a:xfrm>
            <a:off x="640080" y="210312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01</a:t>
            </a:r>
            <a:endParaRPr lang="en-US" sz="2400" dirty="0"/>
          </a:p>
        </p:txBody>
      </p:sp>
      <p:sp>
        <p:nvSpPr>
          <p:cNvPr id="8" name="Text 5"/>
          <p:cNvSpPr/>
          <p:nvPr/>
        </p:nvSpPr>
        <p:spPr>
          <a:xfrm>
            <a:off x="1280160" y="203911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AI-First Intelligence</a:t>
            </a:r>
            <a:endParaRPr lang="en-US" sz="1500" dirty="0"/>
          </a:p>
        </p:txBody>
      </p:sp>
      <p:sp>
        <p:nvSpPr>
          <p:cNvPr id="9" name="Text 6"/>
          <p:cNvSpPr/>
          <p:nvPr/>
        </p:nvSpPr>
        <p:spPr>
          <a:xfrm>
            <a:off x="1280160" y="235000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Gemini-powered bill scanning extracts data from photos — no manual entry, no OCR errors.</a:t>
            </a:r>
            <a:endParaRPr lang="en-US" sz="1200" dirty="0"/>
          </a:p>
        </p:txBody>
      </p:sp>
      <p:sp>
        <p:nvSpPr>
          <p:cNvPr id="10" name="Shape 7"/>
          <p:cNvSpPr/>
          <p:nvPr/>
        </p:nvSpPr>
        <p:spPr>
          <a:xfrm>
            <a:off x="457200" y="2926080"/>
            <a:ext cx="8229600" cy="777240"/>
          </a:xfrm>
          <a:prstGeom prst="rect">
            <a:avLst/>
          </a:prstGeom>
          <a:solidFill>
            <a:srgbClr val="FFFFFF">
              <a:alpha val="8000"/>
            </a:srgbClr>
          </a:solidFill>
          <a:ln/>
        </p:spPr>
      </p:sp>
      <p:sp>
        <p:nvSpPr>
          <p:cNvPr id="11" name="Text 8"/>
          <p:cNvSpPr/>
          <p:nvPr/>
        </p:nvSpPr>
        <p:spPr>
          <a:xfrm>
            <a:off x="640080" y="306324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02</a:t>
            </a:r>
            <a:endParaRPr lang="en-US" sz="2400" dirty="0"/>
          </a:p>
        </p:txBody>
      </p:sp>
      <p:sp>
        <p:nvSpPr>
          <p:cNvPr id="12" name="Text 9"/>
          <p:cNvSpPr/>
          <p:nvPr/>
        </p:nvSpPr>
        <p:spPr>
          <a:xfrm>
            <a:off x="1280160" y="299923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Holistic Dashboard</a:t>
            </a:r>
            <a:endParaRPr lang="en-US" sz="1500" dirty="0"/>
          </a:p>
        </p:txBody>
      </p:sp>
      <p:sp>
        <p:nvSpPr>
          <p:cNvPr id="13" name="Text 10"/>
          <p:cNvSpPr/>
          <p:nvPr/>
        </p:nvSpPr>
        <p:spPr>
          <a:xfrm>
            <a:off x="1280160" y="331012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Usage tracking, tariff comparison, EPC ratings, carbon footprint, and budget tools in one platform.</a:t>
            </a:r>
            <a:endParaRPr lang="en-US" sz="1200" dirty="0"/>
          </a:p>
        </p:txBody>
      </p:sp>
      <p:sp>
        <p:nvSpPr>
          <p:cNvPr id="14" name="Shape 11"/>
          <p:cNvSpPr/>
          <p:nvPr/>
        </p:nvSpPr>
        <p:spPr>
          <a:xfrm>
            <a:off x="457200" y="3886200"/>
            <a:ext cx="8229600" cy="777240"/>
          </a:xfrm>
          <a:prstGeom prst="rect">
            <a:avLst/>
          </a:prstGeom>
          <a:solidFill>
            <a:srgbClr val="FFFFFF">
              <a:alpha val="8000"/>
            </a:srgbClr>
          </a:solidFill>
          <a:ln/>
        </p:spPr>
      </p:sp>
      <p:sp>
        <p:nvSpPr>
          <p:cNvPr id="15" name="Text 12"/>
          <p:cNvSpPr/>
          <p:nvPr/>
        </p:nvSpPr>
        <p:spPr>
          <a:xfrm>
            <a:off x="640080" y="402336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03</a:t>
            </a:r>
            <a:endParaRPr lang="en-US" sz="2400" dirty="0"/>
          </a:p>
        </p:txBody>
      </p:sp>
      <p:sp>
        <p:nvSpPr>
          <p:cNvPr id="16" name="Text 13"/>
          <p:cNvSpPr/>
          <p:nvPr/>
        </p:nvSpPr>
        <p:spPr>
          <a:xfrm>
            <a:off x="1280160" y="395935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Personalised &amp; Persistent</a:t>
            </a:r>
            <a:endParaRPr lang="en-US" sz="1500" dirty="0"/>
          </a:p>
        </p:txBody>
      </p:sp>
      <p:sp>
        <p:nvSpPr>
          <p:cNvPr id="17" name="Text 14"/>
          <p:cNvSpPr/>
          <p:nvPr/>
        </p:nvSpPr>
        <p:spPr>
          <a:xfrm>
            <a:off x="1280160" y="427024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Learns your household profile over time. Every bill builds a richer picture of your energy story.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Business Model</a:t>
            </a:r>
            <a:endParaRPr lang="en-US" sz="3000" dirty="0"/>
          </a:p>
        </p:txBody>
      </p:sp>
      <p:sp>
        <p:nvSpPr>
          <p:cNvPr id="5" name="Shape 2"/>
          <p:cNvSpPr/>
          <p:nvPr/>
        </p:nvSpPr>
        <p:spPr>
          <a:xfrm>
            <a:off x="45720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05840"/>
            <a:ext cx="2651760" cy="54864"/>
          </a:xfrm>
          <a:prstGeom prst="rect">
            <a:avLst/>
          </a:prstGeom>
          <a:solidFill>
            <a:srgbClr val="64748B"/>
          </a:solidFill>
          <a:ln/>
        </p:spPr>
      </p:sp>
      <p:sp>
        <p:nvSpPr>
          <p:cNvPr id="7" name="Text 4"/>
          <p:cNvSpPr/>
          <p:nvPr/>
        </p:nvSpPr>
        <p:spPr>
          <a:xfrm>
            <a:off x="45720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Free Tier</a:t>
            </a:r>
            <a:endParaRPr lang="en-US" sz="1600" dirty="0"/>
          </a:p>
        </p:txBody>
      </p:sp>
      <p:sp>
        <p:nvSpPr>
          <p:cNvPr id="8" name="Text 5"/>
          <p:cNvSpPr/>
          <p:nvPr/>
        </p:nvSpPr>
        <p:spPr>
          <a:xfrm>
            <a:off x="457200" y="1600200"/>
            <a:ext cx="2651760" cy="457200"/>
          </a:xfrm>
          <a:prstGeom prst="rect">
            <a:avLst/>
          </a:prstGeom>
          <a:noFill/>
          <a:ln/>
        </p:spPr>
        <p:txBody>
          <a:bodyPr wrap="square" lIns="0" tIns="0" rIns="0" bIns="0" rtlCol="0" anchor="ctr"/>
          <a:lstStyle/>
          <a:p>
            <a:pPr algn="ctr" indent="0" marL="0">
              <a:buNone/>
            </a:pPr>
            <a:r>
              <a:rPr lang="en-US" sz="2800" b="1" dirty="0">
                <a:solidFill>
                  <a:srgbClr val="64748B"/>
                </a:solidFill>
                <a:latin typeface="Trebuchet MS" pitchFamily="34" charset="0"/>
                <a:ea typeface="Trebuchet MS" pitchFamily="34" charset="-122"/>
                <a:cs typeface="Trebuchet MS" pitchFamily="34" charset="-120"/>
              </a:rPr>
              <a:t>£0/mo</a:t>
            </a:r>
            <a:endParaRPr lang="en-US" sz="2800" dirty="0"/>
          </a:p>
        </p:txBody>
      </p:sp>
      <p:sp>
        <p:nvSpPr>
          <p:cNvPr id="9" name="Shape 6"/>
          <p:cNvSpPr/>
          <p:nvPr/>
        </p:nvSpPr>
        <p:spPr>
          <a:xfrm>
            <a:off x="822960" y="2148840"/>
            <a:ext cx="1920240" cy="9144"/>
          </a:xfrm>
          <a:prstGeom prst="rect">
            <a:avLst/>
          </a:prstGeom>
          <a:solidFill>
            <a:srgbClr val="E2E8F0"/>
          </a:solidFill>
          <a:ln/>
        </p:spPr>
      </p:sp>
      <p:sp>
        <p:nvSpPr>
          <p:cNvPr id="10" name="Text 7"/>
          <p:cNvSpPr/>
          <p:nvPr/>
        </p:nvSpPr>
        <p:spPr>
          <a:xfrm>
            <a:off x="73152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Manual bill entry</a:t>
            </a:r>
            <a:endParaRPr lang="en-US" sz="1100" dirty="0"/>
          </a:p>
        </p:txBody>
      </p:sp>
      <p:sp>
        <p:nvSpPr>
          <p:cNvPr id="11" name="Text 8"/>
          <p:cNvSpPr/>
          <p:nvPr/>
        </p:nvSpPr>
        <p:spPr>
          <a:xfrm>
            <a:off x="73152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Basic dashboard</a:t>
            </a:r>
            <a:endParaRPr lang="en-US" sz="1100" dirty="0"/>
          </a:p>
        </p:txBody>
      </p:sp>
      <p:sp>
        <p:nvSpPr>
          <p:cNvPr id="12" name="Text 9"/>
          <p:cNvSpPr/>
          <p:nvPr/>
        </p:nvSpPr>
        <p:spPr>
          <a:xfrm>
            <a:off x="73152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Savings tips</a:t>
            </a:r>
            <a:endParaRPr lang="en-US" sz="1100" dirty="0"/>
          </a:p>
        </p:txBody>
      </p:sp>
      <p:sp>
        <p:nvSpPr>
          <p:cNvPr id="13" name="Shape 10"/>
          <p:cNvSpPr/>
          <p:nvPr/>
        </p:nvSpPr>
        <p:spPr>
          <a:xfrm>
            <a:off x="333756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3337560" y="1005840"/>
            <a:ext cx="2651760" cy="54864"/>
          </a:xfrm>
          <a:prstGeom prst="rect">
            <a:avLst/>
          </a:prstGeom>
          <a:solidFill>
            <a:srgbClr val="0D9488"/>
          </a:solidFill>
          <a:ln/>
        </p:spPr>
      </p:sp>
      <p:sp>
        <p:nvSpPr>
          <p:cNvPr id="15" name="Text 12"/>
          <p:cNvSpPr/>
          <p:nvPr/>
        </p:nvSpPr>
        <p:spPr>
          <a:xfrm>
            <a:off x="333756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Smart</a:t>
            </a:r>
            <a:endParaRPr lang="en-US" sz="1600" dirty="0"/>
          </a:p>
        </p:txBody>
      </p:sp>
      <p:sp>
        <p:nvSpPr>
          <p:cNvPr id="16" name="Text 13"/>
          <p:cNvSpPr/>
          <p:nvPr/>
        </p:nvSpPr>
        <p:spPr>
          <a:xfrm>
            <a:off x="3337560" y="1600200"/>
            <a:ext cx="2651760" cy="457200"/>
          </a:xfrm>
          <a:prstGeom prst="rect">
            <a:avLst/>
          </a:prstGeom>
          <a:noFill/>
          <a:ln/>
        </p:spPr>
        <p:txBody>
          <a:bodyPr wrap="square" lIns="0" tIns="0" rIns="0" bIns="0" rtlCol="0" anchor="ctr"/>
          <a:lstStyle/>
          <a:p>
            <a:pPr algn="ctr" indent="0" marL="0">
              <a:buNone/>
            </a:pPr>
            <a:r>
              <a:rPr lang="en-US" sz="2800" b="1" dirty="0">
                <a:solidFill>
                  <a:srgbClr val="0D9488"/>
                </a:solidFill>
                <a:latin typeface="Trebuchet MS" pitchFamily="34" charset="0"/>
                <a:ea typeface="Trebuchet MS" pitchFamily="34" charset="-122"/>
                <a:cs typeface="Trebuchet MS" pitchFamily="34" charset="-120"/>
              </a:rPr>
              <a:t>£9.99/mo</a:t>
            </a:r>
            <a:endParaRPr lang="en-US" sz="2800" dirty="0"/>
          </a:p>
        </p:txBody>
      </p:sp>
      <p:sp>
        <p:nvSpPr>
          <p:cNvPr id="17" name="Shape 14"/>
          <p:cNvSpPr/>
          <p:nvPr/>
        </p:nvSpPr>
        <p:spPr>
          <a:xfrm>
            <a:off x="3703320" y="2148840"/>
            <a:ext cx="1920240" cy="9144"/>
          </a:xfrm>
          <a:prstGeom prst="rect">
            <a:avLst/>
          </a:prstGeom>
          <a:solidFill>
            <a:srgbClr val="E2E8F0"/>
          </a:solidFill>
          <a:ln/>
        </p:spPr>
      </p:sp>
      <p:sp>
        <p:nvSpPr>
          <p:cNvPr id="18" name="Text 15"/>
          <p:cNvSpPr/>
          <p:nvPr/>
        </p:nvSpPr>
        <p:spPr>
          <a:xfrm>
            <a:off x="361188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AI bill scanning</a:t>
            </a:r>
            <a:endParaRPr lang="en-US" sz="1100" dirty="0"/>
          </a:p>
        </p:txBody>
      </p:sp>
      <p:sp>
        <p:nvSpPr>
          <p:cNvPr id="19" name="Text 16"/>
          <p:cNvSpPr/>
          <p:nvPr/>
        </p:nvSpPr>
        <p:spPr>
          <a:xfrm>
            <a:off x="361188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Tariff comparison</a:t>
            </a:r>
            <a:endParaRPr lang="en-US" sz="1100" dirty="0"/>
          </a:p>
        </p:txBody>
      </p:sp>
      <p:sp>
        <p:nvSpPr>
          <p:cNvPr id="20" name="Text 17"/>
          <p:cNvSpPr/>
          <p:nvPr/>
        </p:nvSpPr>
        <p:spPr>
          <a:xfrm>
            <a:off x="361188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Carbon tracking</a:t>
            </a:r>
            <a:endParaRPr lang="en-US" sz="1100" dirty="0"/>
          </a:p>
        </p:txBody>
      </p:sp>
      <p:sp>
        <p:nvSpPr>
          <p:cNvPr id="21" name="Shape 18"/>
          <p:cNvSpPr/>
          <p:nvPr/>
        </p:nvSpPr>
        <p:spPr>
          <a:xfrm>
            <a:off x="621792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9"/>
          <p:cNvSpPr/>
          <p:nvPr/>
        </p:nvSpPr>
        <p:spPr>
          <a:xfrm>
            <a:off x="6217920" y="1005840"/>
            <a:ext cx="2651760" cy="54864"/>
          </a:xfrm>
          <a:prstGeom prst="rect">
            <a:avLst/>
          </a:prstGeom>
          <a:solidFill>
            <a:srgbClr val="F59E0B"/>
          </a:solidFill>
          <a:ln/>
        </p:spPr>
      </p:sp>
      <p:sp>
        <p:nvSpPr>
          <p:cNvPr id="23" name="Text 20"/>
          <p:cNvSpPr/>
          <p:nvPr/>
        </p:nvSpPr>
        <p:spPr>
          <a:xfrm>
            <a:off x="621792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Pro</a:t>
            </a:r>
            <a:endParaRPr lang="en-US" sz="1600" dirty="0"/>
          </a:p>
        </p:txBody>
      </p:sp>
      <p:sp>
        <p:nvSpPr>
          <p:cNvPr id="24" name="Text 21"/>
          <p:cNvSpPr/>
          <p:nvPr/>
        </p:nvSpPr>
        <p:spPr>
          <a:xfrm>
            <a:off x="6217920" y="1600200"/>
            <a:ext cx="2651760" cy="457200"/>
          </a:xfrm>
          <a:prstGeom prst="rect">
            <a:avLst/>
          </a:prstGeom>
          <a:noFill/>
          <a:ln/>
        </p:spPr>
        <p:txBody>
          <a:bodyPr wrap="square" lIns="0" tIns="0" rIns="0" bIns="0" rtlCol="0" anchor="ctr"/>
          <a:lstStyle/>
          <a:p>
            <a:pPr algn="ctr" indent="0" marL="0">
              <a:buNone/>
            </a:pPr>
            <a:r>
              <a:rPr lang="en-US" sz="2800" b="1" dirty="0">
                <a:solidFill>
                  <a:srgbClr val="F59E0B"/>
                </a:solidFill>
                <a:latin typeface="Trebuchet MS" pitchFamily="34" charset="0"/>
                <a:ea typeface="Trebuchet MS" pitchFamily="34" charset="-122"/>
                <a:cs typeface="Trebuchet MS" pitchFamily="34" charset="-120"/>
              </a:rPr>
              <a:t>£24.99/mo</a:t>
            </a:r>
            <a:endParaRPr lang="en-US" sz="2800" dirty="0"/>
          </a:p>
        </p:txBody>
      </p:sp>
      <p:sp>
        <p:nvSpPr>
          <p:cNvPr id="25" name="Shape 22"/>
          <p:cNvSpPr/>
          <p:nvPr/>
        </p:nvSpPr>
        <p:spPr>
          <a:xfrm>
            <a:off x="6583680" y="2148840"/>
            <a:ext cx="1920240" cy="9144"/>
          </a:xfrm>
          <a:prstGeom prst="rect">
            <a:avLst/>
          </a:prstGeom>
          <a:solidFill>
            <a:srgbClr val="E2E8F0"/>
          </a:solidFill>
          <a:ln/>
        </p:spPr>
      </p:sp>
      <p:sp>
        <p:nvSpPr>
          <p:cNvPr id="26" name="Text 23"/>
          <p:cNvSpPr/>
          <p:nvPr/>
        </p:nvSpPr>
        <p:spPr>
          <a:xfrm>
            <a:off x="649224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Unlimited scans</a:t>
            </a:r>
            <a:endParaRPr lang="en-US" sz="1100" dirty="0"/>
          </a:p>
        </p:txBody>
      </p:sp>
      <p:sp>
        <p:nvSpPr>
          <p:cNvPr id="27" name="Text 24"/>
          <p:cNvSpPr/>
          <p:nvPr/>
        </p:nvSpPr>
        <p:spPr>
          <a:xfrm>
            <a:off x="649224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Household profiles</a:t>
            </a:r>
            <a:endParaRPr lang="en-US" sz="1100" dirty="0"/>
          </a:p>
        </p:txBody>
      </p:sp>
      <p:sp>
        <p:nvSpPr>
          <p:cNvPr id="28" name="Text 25"/>
          <p:cNvSpPr/>
          <p:nvPr/>
        </p:nvSpPr>
        <p:spPr>
          <a:xfrm>
            <a:off x="649224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Priority support</a:t>
            </a:r>
            <a:endParaRPr lang="en-US" sz="1100" dirty="0"/>
          </a:p>
        </p:txBody>
      </p:sp>
      <p:sp>
        <p:nvSpPr>
          <p:cNvPr id="29" name="Text 26"/>
          <p:cNvSpPr/>
          <p:nvPr/>
        </p:nvSpPr>
        <p:spPr>
          <a:xfrm>
            <a:off x="6492240" y="338328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API access</a:t>
            </a:r>
            <a:endParaRPr lang="en-US" sz="1100" dirty="0"/>
          </a:p>
        </p:txBody>
      </p:sp>
      <p:sp>
        <p:nvSpPr>
          <p:cNvPr id="30" name="Text 27"/>
          <p:cNvSpPr/>
          <p:nvPr/>
        </p:nvSpPr>
        <p:spPr>
          <a:xfrm>
            <a:off x="457200" y="42062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64748B"/>
                </a:solidFill>
                <a:latin typeface="Calibri" pitchFamily="34" charset="0"/>
                <a:ea typeface="Calibri" pitchFamily="34" charset="-122"/>
                <a:cs typeface="Calibri" pitchFamily="34" charset="-120"/>
              </a:rPr>
              <a:t>Revenue mix: 70% subscriptions, 20% affiliate commissions from energy switching, 10% data insights (anonymised).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Go-to-Market Strategy</a:t>
            </a:r>
            <a:endParaRPr lang="en-US" sz="3000" dirty="0"/>
          </a:p>
        </p:txBody>
      </p:sp>
      <p:sp>
        <p:nvSpPr>
          <p:cNvPr id="5" name="Shape 2"/>
          <p:cNvSpPr/>
          <p:nvPr/>
        </p:nvSpPr>
        <p:spPr>
          <a:xfrm>
            <a:off x="457200" y="105156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54864" cy="1051560"/>
          </a:xfrm>
          <a:prstGeom prst="rect">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731520" y="1188720"/>
            <a:ext cx="365760" cy="365760"/>
          </a:xfrm>
          <a:prstGeom prst="rect">
            <a:avLst/>
          </a:prstGeom>
        </p:spPr>
      </p:pic>
      <p:sp>
        <p:nvSpPr>
          <p:cNvPr id="8" name="Text 4"/>
          <p:cNvSpPr/>
          <p:nvPr/>
        </p:nvSpPr>
        <p:spPr>
          <a:xfrm>
            <a:off x="1280160" y="114300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Content &amp; SEO</a:t>
            </a:r>
            <a:endParaRPr lang="en-US" sz="1500" dirty="0"/>
          </a:p>
        </p:txBody>
      </p:sp>
      <p:sp>
        <p:nvSpPr>
          <p:cNvPr id="9" name="Text 5"/>
          <p:cNvSpPr/>
          <p:nvPr/>
        </p:nvSpPr>
        <p:spPr>
          <a:xfrm>
            <a:off x="1280160" y="150876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Energy-saving guides and postcode comparison tools driving organic traffic. Target: 50K monthly visitors within 12 months.</a:t>
            </a:r>
            <a:endParaRPr lang="en-US" sz="1200" dirty="0"/>
          </a:p>
        </p:txBody>
      </p:sp>
      <p:sp>
        <p:nvSpPr>
          <p:cNvPr id="10" name="Shape 6"/>
          <p:cNvSpPr/>
          <p:nvPr/>
        </p:nvSpPr>
        <p:spPr>
          <a:xfrm>
            <a:off x="457200" y="233172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7"/>
          <p:cNvSpPr/>
          <p:nvPr/>
        </p:nvSpPr>
        <p:spPr>
          <a:xfrm>
            <a:off x="457200" y="2331720"/>
            <a:ext cx="54864" cy="1051560"/>
          </a:xfrm>
          <a:prstGeom prst="rect">
            <a:avLst/>
          </a:prstGeom>
          <a:solidFill>
            <a:srgbClr val="0D9488"/>
          </a:solidFill>
          <a:ln/>
        </p:spPr>
      </p:sp>
      <p:pic>
        <p:nvPicPr>
          <p:cNvPr id="12" name="Image 2" descr="preencoded.png">    </p:cNvPr>
          <p:cNvPicPr>
            <a:picLocks noChangeAspect="1"/>
          </p:cNvPicPr>
          <p:nvPr/>
        </p:nvPicPr>
        <p:blipFill>
          <a:blip r:embed="rId3"/>
          <a:stretch>
            <a:fillRect/>
          </a:stretch>
        </p:blipFill>
        <p:spPr>
          <a:xfrm>
            <a:off x="731520" y="2468880"/>
            <a:ext cx="365760" cy="365760"/>
          </a:xfrm>
          <a:prstGeom prst="rect">
            <a:avLst/>
          </a:prstGeom>
        </p:spPr>
      </p:pic>
      <p:sp>
        <p:nvSpPr>
          <p:cNvPr id="13" name="Text 8"/>
          <p:cNvSpPr/>
          <p:nvPr/>
        </p:nvSpPr>
        <p:spPr>
          <a:xfrm>
            <a:off x="1280160" y="242316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Community Partnerships</a:t>
            </a:r>
            <a:endParaRPr lang="en-US" sz="1500" dirty="0"/>
          </a:p>
        </p:txBody>
      </p:sp>
      <p:sp>
        <p:nvSpPr>
          <p:cNvPr id="14" name="Text 9"/>
          <p:cNvSpPr/>
          <p:nvPr/>
        </p:nvSpPr>
        <p:spPr>
          <a:xfrm>
            <a:off x="1280160" y="278892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Partner with housing associations, local councils, and fuel poverty charities to reach underserved households.</a:t>
            </a:r>
            <a:endParaRPr lang="en-US" sz="1200" dirty="0"/>
          </a:p>
        </p:txBody>
      </p:sp>
      <p:sp>
        <p:nvSpPr>
          <p:cNvPr id="15" name="Shape 10"/>
          <p:cNvSpPr/>
          <p:nvPr/>
        </p:nvSpPr>
        <p:spPr>
          <a:xfrm>
            <a:off x="457200" y="361188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1"/>
          <p:cNvSpPr/>
          <p:nvPr/>
        </p:nvSpPr>
        <p:spPr>
          <a:xfrm>
            <a:off x="457200" y="3611880"/>
            <a:ext cx="54864" cy="1051560"/>
          </a:xfrm>
          <a:prstGeom prst="rect">
            <a:avLst/>
          </a:prstGeom>
          <a:solidFill>
            <a:srgbClr val="0D9488"/>
          </a:solidFill>
          <a:ln/>
        </p:spPr>
      </p:sp>
      <p:pic>
        <p:nvPicPr>
          <p:cNvPr id="17" name="Image 3" descr="preencoded.png">    </p:cNvPr>
          <p:cNvPicPr>
            <a:picLocks noChangeAspect="1"/>
          </p:cNvPicPr>
          <p:nvPr/>
        </p:nvPicPr>
        <p:blipFill>
          <a:blip r:embed="rId4"/>
          <a:stretch>
            <a:fillRect/>
          </a:stretch>
        </p:blipFill>
        <p:spPr>
          <a:xfrm>
            <a:off x="731520" y="3749040"/>
            <a:ext cx="365760" cy="365760"/>
          </a:xfrm>
          <a:prstGeom prst="rect">
            <a:avLst/>
          </a:prstGeom>
        </p:spPr>
      </p:pic>
      <p:sp>
        <p:nvSpPr>
          <p:cNvPr id="18" name="Text 12"/>
          <p:cNvSpPr/>
          <p:nvPr/>
        </p:nvSpPr>
        <p:spPr>
          <a:xfrm>
            <a:off x="1280160" y="370332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Referral Engine</a:t>
            </a:r>
            <a:endParaRPr lang="en-US" sz="1500" dirty="0"/>
          </a:p>
        </p:txBody>
      </p:sp>
      <p:sp>
        <p:nvSpPr>
          <p:cNvPr id="19" name="Text 13"/>
          <p:cNvSpPr/>
          <p:nvPr/>
        </p:nvSpPr>
        <p:spPr>
          <a:xfrm>
            <a:off x="1280160" y="406908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Users who save money become advocates. In-app referral rewards: 1 month free for every 3 referrals.</a:t>
            </a:r>
            <a:endParaRPr lang="en-US" sz="1200" dirty="0"/>
          </a:p>
        </p:txBody>
      </p:sp>
      <p:sp>
        <p:nvSpPr>
          <p:cNvPr id="20" name="Text 14"/>
          <p:cNvSpPr/>
          <p:nvPr/>
        </p:nvSpPr>
        <p:spPr>
          <a:xfrm>
            <a:off x="457200" y="4572000"/>
            <a:ext cx="8229600" cy="36576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Conversion funnel: Free sign-up → AI scan first bill → show savings → convert to paid plan (target: 12% free-to-paid).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MVP &amp; Traction</a:t>
            </a:r>
            <a:endParaRPr lang="en-US" sz="3000" dirty="0"/>
          </a:p>
        </p:txBody>
      </p:sp>
      <p:sp>
        <p:nvSpPr>
          <p:cNvPr id="5" name="Text 2"/>
          <p:cNvSpPr/>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What we built this sprint:</a:t>
            </a:r>
            <a:endParaRPr lang="en-US" sz="1400" dirty="0"/>
          </a:p>
        </p:txBody>
      </p:sp>
      <p:sp>
        <p:nvSpPr>
          <p:cNvPr id="6" name="Text 3"/>
          <p:cNvSpPr/>
          <p:nvPr/>
        </p:nvSpPr>
        <p:spPr>
          <a:xfrm>
            <a:off x="640080" y="1325880"/>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Full-stack energy dashboard with auth, profiles, and bill history</a:t>
            </a:r>
            <a:endParaRPr lang="en-US" sz="1200" dirty="0"/>
          </a:p>
        </p:txBody>
      </p:sp>
      <p:sp>
        <p:nvSpPr>
          <p:cNvPr id="7" name="Text 4"/>
          <p:cNvSpPr/>
          <p:nvPr/>
        </p:nvSpPr>
        <p:spPr>
          <a:xfrm>
            <a:off x="640080" y="1673352"/>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AI bill scanner using Gemini 2.5 Flash via secure edge function (JWT-protected)</a:t>
            </a:r>
            <a:endParaRPr lang="en-US" sz="1200" dirty="0"/>
          </a:p>
        </p:txBody>
      </p:sp>
      <p:sp>
        <p:nvSpPr>
          <p:cNvPr id="8" name="Text 5"/>
          <p:cNvSpPr/>
          <p:nvPr/>
        </p:nvSpPr>
        <p:spPr>
          <a:xfrm>
            <a:off x="640080" y="2020824"/>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Interactive usage charts, budget tracker, and tariff comparison engine</a:t>
            </a:r>
            <a:endParaRPr lang="en-US" sz="1200" dirty="0"/>
          </a:p>
        </p:txBody>
      </p:sp>
      <p:sp>
        <p:nvSpPr>
          <p:cNvPr id="9" name="Text 6"/>
          <p:cNvSpPr/>
          <p:nvPr/>
        </p:nvSpPr>
        <p:spPr>
          <a:xfrm>
            <a:off x="640080" y="2368296"/>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EPC rating lookup by postcode and real-time carbon footprint calculator</a:t>
            </a:r>
            <a:endParaRPr lang="en-US" sz="1200" dirty="0"/>
          </a:p>
        </p:txBody>
      </p:sp>
      <p:sp>
        <p:nvSpPr>
          <p:cNvPr id="10" name="Text 7"/>
          <p:cNvSpPr/>
          <p:nvPr/>
        </p:nvSpPr>
        <p:spPr>
          <a:xfrm>
            <a:off x="640080" y="2715768"/>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Dark/light mode, responsive design, and production deployment on Lovable Cloud</a:t>
            </a:r>
            <a:endParaRPr lang="en-US" sz="1200" dirty="0"/>
          </a:p>
        </p:txBody>
      </p:sp>
      <p:sp>
        <p:nvSpPr>
          <p:cNvPr id="11" name="Shape 8"/>
          <p:cNvSpPr/>
          <p:nvPr/>
        </p:nvSpPr>
        <p:spPr>
          <a:xfrm>
            <a:off x="457200" y="3200400"/>
            <a:ext cx="8229600" cy="9144"/>
          </a:xfrm>
          <a:prstGeom prst="rect">
            <a:avLst/>
          </a:prstGeom>
          <a:solidFill>
            <a:srgbClr val="E2E8F0"/>
          </a:solidFill>
          <a:ln/>
        </p:spPr>
      </p:sp>
      <p:sp>
        <p:nvSpPr>
          <p:cNvPr id="12" name="Text 9"/>
          <p:cNvSpPr/>
          <p:nvPr/>
        </p:nvSpPr>
        <p:spPr>
          <a:xfrm>
            <a:off x="457200" y="333756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Riskiest assumptions tested:</a:t>
            </a:r>
            <a:endParaRPr lang="en-US" sz="1400" dirty="0"/>
          </a:p>
        </p:txBody>
      </p:sp>
      <p:sp>
        <p:nvSpPr>
          <p:cNvPr id="13" name="Text 10"/>
          <p:cNvSpPr/>
          <p:nvPr/>
        </p:nvSpPr>
        <p:spPr>
          <a:xfrm>
            <a:off x="640080" y="370332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Can AI reliably extract structured data from energy bill photos?</a:t>
            </a:r>
            <a:endParaRPr lang="en-US" sz="1200" dirty="0"/>
          </a:p>
        </p:txBody>
      </p:sp>
      <p:sp>
        <p:nvSpPr>
          <p:cNvPr id="14" name="Text 11"/>
          <p:cNvSpPr/>
          <p:nvPr/>
        </p:nvSpPr>
        <p:spPr>
          <a:xfrm>
            <a:off x="640080" y="397764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Yes — Gemini 2.5 Flash achieves 90%+ accuracy on UK bill formats.</a:t>
            </a:r>
            <a:endParaRPr lang="en-US" sz="1100" dirty="0"/>
          </a:p>
        </p:txBody>
      </p:sp>
      <p:sp>
        <p:nvSpPr>
          <p:cNvPr id="15" name="Text 12"/>
          <p:cNvSpPr/>
          <p:nvPr/>
        </p:nvSpPr>
        <p:spPr>
          <a:xfrm>
            <a:off x="640080" y="434340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Will users trust an automated tool with their bill data?</a:t>
            </a:r>
            <a:endParaRPr lang="en-US" sz="1200" dirty="0"/>
          </a:p>
        </p:txBody>
      </p:sp>
      <p:sp>
        <p:nvSpPr>
          <p:cNvPr id="16" name="Text 13"/>
          <p:cNvSpPr/>
          <p:nvPr/>
        </p:nvSpPr>
        <p:spPr>
          <a:xfrm>
            <a:off x="640080" y="461772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JWT auth + RLS policies ensure data isolation; early testers reported high confidence.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The Team</a:t>
            </a:r>
            <a:endParaRPr lang="en-US" sz="3000" dirty="0"/>
          </a:p>
        </p:txBody>
      </p:sp>
      <p:sp>
        <p:nvSpPr>
          <p:cNvPr id="5" name="Shape 2"/>
          <p:cNvSpPr/>
          <p:nvPr/>
        </p:nvSpPr>
        <p:spPr>
          <a:xfrm>
            <a:off x="1371600" y="1188720"/>
            <a:ext cx="6400800" cy="2743200"/>
          </a:xfrm>
          <a:prstGeom prst="rect">
            <a:avLst/>
          </a:prstGeom>
          <a:solidFill>
            <a:srgbClr val="FFFFFF">
              <a:alpha val="8000"/>
            </a:srgbClr>
          </a:solidFill>
          <a:ln/>
        </p:spPr>
      </p:sp>
      <p:sp>
        <p:nvSpPr>
          <p:cNvPr id="6" name="Shape 3"/>
          <p:cNvSpPr/>
          <p:nvPr/>
        </p:nvSpPr>
        <p:spPr>
          <a:xfrm>
            <a:off x="1828800" y="1463040"/>
            <a:ext cx="1097280" cy="1097280"/>
          </a:xfrm>
          <a:prstGeom prst="ellipse">
            <a:avLst/>
          </a:prstGeom>
          <a:solidFill>
            <a:srgbClr val="0D9488">
              <a:alpha val="50000"/>
            </a:srgbClr>
          </a:solidFill>
          <a:ln/>
        </p:spPr>
      </p:sp>
      <p:sp>
        <p:nvSpPr>
          <p:cNvPr id="7" name="Text 4"/>
          <p:cNvSpPr/>
          <p:nvPr/>
        </p:nvSpPr>
        <p:spPr>
          <a:xfrm>
            <a:off x="1828800" y="1600200"/>
            <a:ext cx="109728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AD</a:t>
            </a:r>
            <a:endParaRPr lang="en-US" sz="2800" dirty="0"/>
          </a:p>
        </p:txBody>
      </p:sp>
      <p:sp>
        <p:nvSpPr>
          <p:cNvPr id="8" name="Text 5"/>
          <p:cNvSpPr/>
          <p:nvPr/>
        </p:nvSpPr>
        <p:spPr>
          <a:xfrm>
            <a:off x="3200400" y="1234440"/>
            <a:ext cx="4114800" cy="365760"/>
          </a:xfrm>
          <a:prstGeom prst="rect">
            <a:avLst/>
          </a:prstGeom>
          <a:noFill/>
          <a:ln/>
        </p:spPr>
        <p:txBody>
          <a:bodyPr wrap="square" lIns="0" tIns="0" rIns="0" bIns="0" rtlCol="0" anchor="ctr"/>
          <a:lstStyle/>
          <a:p>
            <a:pPr indent="0" marL="0">
              <a:buNone/>
            </a:pPr>
            <a:r>
              <a:rPr lang="en-US" sz="2000" b="1" dirty="0">
                <a:solidFill>
                  <a:srgbClr val="FFFFFF"/>
                </a:solidFill>
                <a:latin typeface="Trebuchet MS" pitchFamily="34" charset="0"/>
                <a:ea typeface="Trebuchet MS" pitchFamily="34" charset="-122"/>
                <a:cs typeface="Trebuchet MS" pitchFamily="34" charset="-120"/>
              </a:rPr>
              <a:t>Ayan Dhar</a:t>
            </a:r>
            <a:endParaRPr lang="en-US" sz="2000" dirty="0"/>
          </a:p>
        </p:txBody>
      </p:sp>
      <p:sp>
        <p:nvSpPr>
          <p:cNvPr id="9" name="Text 6"/>
          <p:cNvSpPr/>
          <p:nvPr/>
        </p:nvSpPr>
        <p:spPr>
          <a:xfrm>
            <a:off x="3200400" y="1554480"/>
            <a:ext cx="4114800" cy="182880"/>
          </a:xfrm>
          <a:prstGeom prst="rect">
            <a:avLst/>
          </a:prstGeom>
          <a:noFill/>
          <a:ln/>
        </p:spPr>
        <p:txBody>
          <a:bodyPr wrap="square" lIns="0" tIns="0" rIns="0" bIns="0" rtlCol="0" anchor="ctr"/>
          <a:lstStyle/>
          <a:p>
            <a:pPr indent="0" marL="0">
              <a:buNone/>
            </a:pPr>
            <a:r>
              <a:rPr lang="en-US" sz="1000" dirty="0">
                <a:solidFill>
                  <a:srgbClr val="0D9488"/>
                </a:solidFill>
                <a:latin typeface="Calibri" pitchFamily="34" charset="0"/>
                <a:ea typeface="Calibri" pitchFamily="34" charset="-122"/>
                <a:cs typeface="Calibri" pitchFamily="34" charset="-120"/>
              </a:rPr>
              <a:t>Founder &amp; Developer  |  EnergyWise UK</a:t>
            </a:r>
            <a:endParaRPr lang="en-US" sz="1000" dirty="0"/>
          </a:p>
        </p:txBody>
      </p:sp>
      <p:sp>
        <p:nvSpPr>
          <p:cNvPr id="10" name="Text 7"/>
          <p:cNvSpPr/>
          <p:nvPr/>
        </p:nvSpPr>
        <p:spPr>
          <a:xfrm>
            <a:off x="3200400" y="1874520"/>
            <a:ext cx="4114800" cy="1874520"/>
          </a:xfrm>
          <a:prstGeom prst="rect">
            <a:avLst/>
          </a:prstGeom>
          <a:noFill/>
          <a:ln/>
        </p:spPr>
        <p:txBody>
          <a:bodyPr wrap="square" lIns="0" tIns="0" rIns="0" bIns="0" rtlCol="0" anchor="ctr"/>
          <a:lstStyle/>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MSc Data Science &amp; Analytics</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Cardiff University (current)</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4+ years as a Cloud Data Engineer</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Expertise in cloud infrastructure, data pipelines, and scalable backend systems — the backbone of EnergyWise’s AI-powered bill analysis and real-time energy insights.</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BEng Electronics &amp; Communication Engineering</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Strong foundation in systems thinking, signal processing, and hardware-software integration.</a:t>
            </a:r>
            <a:endParaRPr lang="en-US" sz="1100" dirty="0"/>
          </a:p>
        </p:txBody>
      </p:sp>
      <p:sp>
        <p:nvSpPr>
          <p:cNvPr id="11" name="Text 8"/>
          <p:cNvSpPr/>
          <p:nvPr/>
        </p:nvSpPr>
        <p:spPr>
          <a:xfrm>
            <a:off x="1371600" y="4114800"/>
            <a:ext cx="6400800" cy="640080"/>
          </a:xfrm>
          <a:prstGeom prst="rect">
            <a:avLst/>
          </a:prstGeom>
          <a:noFill/>
          <a:ln/>
        </p:spPr>
        <p:txBody>
          <a:bodyPr wrap="square" lIns="0" tIns="0" rIns="0" bIns="0" rtlCol="0" anchor="ctr"/>
          <a:lstStyle/>
          <a:p>
            <a:pPr indent="0" marL="0">
              <a:buNone/>
            </a:pPr>
            <a:r>
              <a:rPr lang="en-US" sz="1200" i="1" dirty="0">
                <a:solidFill>
                  <a:srgbClr val="F59E0B"/>
                </a:solidFill>
                <a:latin typeface="Calibri" pitchFamily="34" charset="0"/>
                <a:ea typeface="Calibri" pitchFamily="34" charset="-122"/>
                <a:cs typeface="Calibri" pitchFamily="34" charset="-120"/>
              </a:rPr>
              <a:t>Why me: I bring the rare combination of cloud engineering depth, data science rigour, and first-hand understanding of UK energy costs as a student and consumer.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Budget Breakdown</a:t>
            </a:r>
            <a:endParaRPr lang="en-US" sz="3000" dirty="0"/>
          </a:p>
        </p:txBody>
      </p:sp>
      <p:sp>
        <p:nvSpPr>
          <p:cNvPr id="5" name="Text 2"/>
          <p:cNvSpPr/>
          <p:nvPr/>
        </p:nvSpPr>
        <p:spPr>
          <a:xfrm>
            <a:off x="457200" y="914400"/>
            <a:ext cx="8229600" cy="365760"/>
          </a:xfrm>
          <a:prstGeom prst="rect">
            <a:avLst/>
          </a:prstGeom>
          <a:noFill/>
          <a:ln/>
        </p:spPr>
        <p:txBody>
          <a:bodyPr wrap="square" lIns="0" tIns="0" rIns="0" bIns="0" rtlCol="0" anchor="ctr"/>
          <a:lstStyle/>
          <a:p>
            <a:pPr indent="0" marL="0">
              <a:buNone/>
            </a:pPr>
            <a:r>
              <a:rPr lang="en-US" sz="1600" b="1" dirty="0">
                <a:solidFill>
                  <a:srgbClr val="0D9488"/>
                </a:solidFill>
                <a:latin typeface="Trebuchet MS" pitchFamily="34" charset="0"/>
                <a:ea typeface="Trebuchet MS" pitchFamily="34" charset="-122"/>
                <a:cs typeface="Trebuchet MS" pitchFamily="34" charset="-120"/>
              </a:rPr>
              <a:t>Seed round: £150,000 over 18 months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1097280"/>
                <a:gridCol w="914400"/>
                <a:gridCol w="42062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Product &amp; Engineering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 full-time developers, AI/ML costs, infrastructure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User Acquisition</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Content marketing, SEO, community partnerships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Operations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Cloud hosting, Supabase, API costs, legal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Team &amp; Hiring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Part-time energy advisor, customer support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Contingency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Buffer for market shifts and unexpected costs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bl>
          </a:graphicData>
        </a:graphic>
      </p:graphicFrame>
      <p:sp>
        <p:nvSpPr>
          <p:cNvPr id="7" name="Text 3"/>
          <p:cNvSpPr/>
          <p:nvPr/>
        </p:nvSpPr>
        <p:spPr>
          <a:xfrm>
            <a:off x="457200" y="4389120"/>
            <a:ext cx="8229600" cy="36576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Runway: 18 months to Series A metrics (10K paid subscribers, £120K ARR).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Impact &amp; Scalability</a:t>
            </a:r>
            <a:endParaRPr lang="en-US" sz="3000" dirty="0"/>
          </a:p>
        </p:txBody>
      </p:sp>
      <p:sp>
        <p:nvSpPr>
          <p:cNvPr id="5" name="Shape 2"/>
          <p:cNvSpPr/>
          <p:nvPr/>
        </p:nvSpPr>
        <p:spPr>
          <a:xfrm>
            <a:off x="457200" y="1051560"/>
            <a:ext cx="8229600" cy="777240"/>
          </a:xfrm>
          <a:prstGeom prst="rect">
            <a:avLst/>
          </a:prstGeom>
          <a:solidFill>
            <a:srgbClr val="FFFFFF">
              <a:alpha val="8000"/>
            </a:srgbClr>
          </a:solidFill>
          <a:ln/>
        </p:spPr>
      </p:sp>
      <p:sp>
        <p:nvSpPr>
          <p:cNvPr id="6" name="Text 3"/>
          <p:cNvSpPr/>
          <p:nvPr/>
        </p:nvSpPr>
        <p:spPr>
          <a:xfrm>
            <a:off x="640080" y="114300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2.4M tonnes</a:t>
            </a:r>
            <a:endParaRPr lang="en-US" sz="2600" dirty="0"/>
          </a:p>
        </p:txBody>
      </p:sp>
      <p:sp>
        <p:nvSpPr>
          <p:cNvPr id="7" name="Text 4"/>
          <p:cNvSpPr/>
          <p:nvPr/>
        </p:nvSpPr>
        <p:spPr>
          <a:xfrm>
            <a:off x="3017520" y="123444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potential CO₂ reduction if 10% of UK households optimise energy use</a:t>
            </a:r>
            <a:endParaRPr lang="en-US" sz="1300" dirty="0"/>
          </a:p>
        </p:txBody>
      </p:sp>
      <p:sp>
        <p:nvSpPr>
          <p:cNvPr id="8" name="Shape 5"/>
          <p:cNvSpPr/>
          <p:nvPr/>
        </p:nvSpPr>
        <p:spPr>
          <a:xfrm>
            <a:off x="457200" y="2057400"/>
            <a:ext cx="8229600" cy="777240"/>
          </a:xfrm>
          <a:prstGeom prst="rect">
            <a:avLst/>
          </a:prstGeom>
          <a:solidFill>
            <a:srgbClr val="FFFFFF">
              <a:alpha val="8000"/>
            </a:srgbClr>
          </a:solidFill>
          <a:ln/>
        </p:spPr>
      </p:sp>
      <p:sp>
        <p:nvSpPr>
          <p:cNvPr id="9" name="Text 6"/>
          <p:cNvSpPr/>
          <p:nvPr/>
        </p:nvSpPr>
        <p:spPr>
          <a:xfrm>
            <a:off x="640080" y="214884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£8.7B</a:t>
            </a:r>
            <a:endParaRPr lang="en-US" sz="2600" dirty="0"/>
          </a:p>
        </p:txBody>
      </p:sp>
      <p:sp>
        <p:nvSpPr>
          <p:cNvPr id="10" name="Text 7"/>
          <p:cNvSpPr/>
          <p:nvPr/>
        </p:nvSpPr>
        <p:spPr>
          <a:xfrm>
            <a:off x="3017520" y="224028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annual household savings unlocked through smarter tariff switching</a:t>
            </a:r>
            <a:endParaRPr lang="en-US" sz="1300" dirty="0"/>
          </a:p>
        </p:txBody>
      </p:sp>
      <p:sp>
        <p:nvSpPr>
          <p:cNvPr id="11" name="Shape 8"/>
          <p:cNvSpPr/>
          <p:nvPr/>
        </p:nvSpPr>
        <p:spPr>
          <a:xfrm>
            <a:off x="457200" y="3063240"/>
            <a:ext cx="8229600" cy="777240"/>
          </a:xfrm>
          <a:prstGeom prst="rect">
            <a:avLst/>
          </a:prstGeom>
          <a:solidFill>
            <a:srgbClr val="FFFFFF">
              <a:alpha val="8000"/>
            </a:srgbClr>
          </a:solidFill>
          <a:ln/>
        </p:spPr>
      </p:sp>
      <p:sp>
        <p:nvSpPr>
          <p:cNvPr id="12" name="Text 9"/>
          <p:cNvSpPr/>
          <p:nvPr/>
        </p:nvSpPr>
        <p:spPr>
          <a:xfrm>
            <a:off x="640080" y="315468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29M</a:t>
            </a:r>
            <a:endParaRPr lang="en-US" sz="2600" dirty="0"/>
          </a:p>
        </p:txBody>
      </p:sp>
      <p:sp>
        <p:nvSpPr>
          <p:cNvPr id="13" name="Text 10"/>
          <p:cNvSpPr/>
          <p:nvPr/>
        </p:nvSpPr>
        <p:spPr>
          <a:xfrm>
            <a:off x="3017520" y="324612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UK households addressable — expanding to EU energy markets in Year 3</a:t>
            </a:r>
            <a:endParaRPr lang="en-US" sz="1300" dirty="0"/>
          </a:p>
        </p:txBody>
      </p:sp>
      <p:sp>
        <p:nvSpPr>
          <p:cNvPr id="14" name="Text 11"/>
          <p:cNvSpPr/>
          <p:nvPr/>
        </p:nvSpPr>
        <p:spPr>
          <a:xfrm>
            <a:off x="457200" y="41605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Network Effects &amp; Scale:</a:t>
            </a:r>
            <a:endParaRPr lang="en-US" sz="1300" dirty="0"/>
          </a:p>
        </p:txBody>
      </p:sp>
      <p:sp>
        <p:nvSpPr>
          <p:cNvPr id="15" name="Text 12"/>
          <p:cNvSpPr/>
          <p:nvPr/>
        </p:nvSpPr>
        <p:spPr>
          <a:xfrm>
            <a:off x="457200" y="44348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CBD5E1"/>
                </a:solidFill>
                <a:latin typeface="Calibri" pitchFamily="34" charset="0"/>
                <a:ea typeface="Calibri" pitchFamily="34" charset="-122"/>
                <a:cs typeface="Calibri" pitchFamily="34" charset="-120"/>
              </a:rPr>
              <a:t>More users = richer anonymised benchmarking data = better recommendations = higher retention. Each new bill scanned improves AI accuracy for all users.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F59E0B"/>
          </a:solidFill>
          <a:ln/>
        </p:spPr>
      </p:sp>
      <p:pic>
        <p:nvPicPr>
          <p:cNvPr id="24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244" name="Text 24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Next Steps</a:t>
            </a:r>
            <a:endParaRPr lang="en-US" sz="3000" dirty="0"/>
          </a:p>
        </p:txBody>
      </p:sp>
      <p:sp>
        <p:nvSpPr>
          <p:cNvPr id="245" name="Text 242"/>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b="1" dirty="0">
                <a:solidFill>
                  <a:srgbClr val="F59E0B"/>
                </a:solidFill>
                <a:latin typeface="Trebuchet MS" pitchFamily="34" charset="0"/>
                <a:ea typeface="Trebuchet MS" pitchFamily="34" charset="-122"/>
                <a:cs typeface="Trebuchet MS" pitchFamily="34" charset="-120"/>
              </a:rPr>
              <a:t>Top 3 actions — next 30 days:</a:t>
            </a:r>
            <a:endParaRPr lang="en-US" sz="1500" dirty="0"/>
          </a:p>
        </p:txBody>
      </p:sp>
      <p:sp>
        <p:nvSpPr>
          <p:cNvPr id="246" name="Shape 243"/>
          <p:cNvSpPr/>
          <p:nvPr/>
        </p:nvSpPr>
        <p:spPr>
          <a:xfrm>
            <a:off x="457200" y="1508760"/>
            <a:ext cx="8229600" cy="731520"/>
          </a:xfrm>
          <a:prstGeom prst="rect">
            <a:avLst/>
          </a:prstGeom>
          <a:solidFill>
            <a:srgbClr val="FFFFFF">
              <a:alpha val="10000"/>
            </a:srgbClr>
          </a:solidFill>
          <a:ln/>
        </p:spPr>
      </p:sp>
      <p:sp>
        <p:nvSpPr>
          <p:cNvPr id="247" name="Text 244"/>
          <p:cNvSpPr/>
          <p:nvPr/>
        </p:nvSpPr>
        <p:spPr>
          <a:xfrm>
            <a:off x="640080" y="16459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01</a:t>
            </a:r>
            <a:endParaRPr lang="en-US" sz="2400" dirty="0"/>
          </a:p>
        </p:txBody>
      </p:sp>
      <p:sp>
        <p:nvSpPr>
          <p:cNvPr id="248" name="Text 245"/>
          <p:cNvSpPr/>
          <p:nvPr/>
        </p:nvSpPr>
        <p:spPr>
          <a:xfrm>
            <a:off x="1280160" y="16002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Launch Beta</a:t>
            </a:r>
            <a:endParaRPr lang="en-US" sz="1500" dirty="0"/>
          </a:p>
        </p:txBody>
      </p:sp>
      <p:sp>
        <p:nvSpPr>
          <p:cNvPr id="249" name="Text 246"/>
          <p:cNvSpPr/>
          <p:nvPr/>
        </p:nvSpPr>
        <p:spPr>
          <a:xfrm>
            <a:off x="1280160" y="18928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Open to 500 beta users via waitlist. Measure activation, retention, and free-to-paid conversion.</a:t>
            </a:r>
            <a:endParaRPr lang="en-US" sz="1200" dirty="0"/>
          </a:p>
        </p:txBody>
      </p:sp>
      <p:sp>
        <p:nvSpPr>
          <p:cNvPr id="250" name="Shape 247"/>
          <p:cNvSpPr/>
          <p:nvPr/>
        </p:nvSpPr>
        <p:spPr>
          <a:xfrm>
            <a:off x="457200" y="2423160"/>
            <a:ext cx="8229600" cy="731520"/>
          </a:xfrm>
          <a:prstGeom prst="rect">
            <a:avLst/>
          </a:prstGeom>
          <a:solidFill>
            <a:srgbClr val="FFFFFF">
              <a:alpha val="10000"/>
            </a:srgbClr>
          </a:solidFill>
          <a:ln/>
        </p:spPr>
      </p:sp>
      <p:sp>
        <p:nvSpPr>
          <p:cNvPr id="251" name="Text 248"/>
          <p:cNvSpPr/>
          <p:nvPr/>
        </p:nvSpPr>
        <p:spPr>
          <a:xfrm>
            <a:off x="640080" y="25603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02</a:t>
            </a:r>
            <a:endParaRPr lang="en-US" sz="2400" dirty="0"/>
          </a:p>
        </p:txBody>
      </p:sp>
      <p:sp>
        <p:nvSpPr>
          <p:cNvPr id="252" name="Text 249"/>
          <p:cNvSpPr/>
          <p:nvPr/>
        </p:nvSpPr>
        <p:spPr>
          <a:xfrm>
            <a:off x="1280160" y="25146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Partner Outreach</a:t>
            </a:r>
            <a:endParaRPr lang="en-US" sz="1500" dirty="0"/>
          </a:p>
        </p:txBody>
      </p:sp>
      <p:sp>
        <p:nvSpPr>
          <p:cNvPr id="253" name="Text 250"/>
          <p:cNvSpPr/>
          <p:nvPr/>
        </p:nvSpPr>
        <p:spPr>
          <a:xfrm>
            <a:off x="1280160" y="28072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Secure 3 housing association partnerships for distribution to 10,000+ households.</a:t>
            </a:r>
            <a:endParaRPr lang="en-US" sz="1200" dirty="0"/>
          </a:p>
        </p:txBody>
      </p:sp>
      <p:sp>
        <p:nvSpPr>
          <p:cNvPr id="254" name="Shape 251"/>
          <p:cNvSpPr/>
          <p:nvPr/>
        </p:nvSpPr>
        <p:spPr>
          <a:xfrm>
            <a:off x="457200" y="3337560"/>
            <a:ext cx="8229600" cy="731520"/>
          </a:xfrm>
          <a:prstGeom prst="rect">
            <a:avLst/>
          </a:prstGeom>
          <a:solidFill>
            <a:srgbClr val="FFFFFF">
              <a:alpha val="10000"/>
            </a:srgbClr>
          </a:solidFill>
          <a:ln/>
        </p:spPr>
      </p:sp>
      <p:sp>
        <p:nvSpPr>
          <p:cNvPr id="255" name="Text 252"/>
          <p:cNvSpPr/>
          <p:nvPr/>
        </p:nvSpPr>
        <p:spPr>
          <a:xfrm>
            <a:off x="640080" y="34747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03</a:t>
            </a:r>
            <a:endParaRPr lang="en-US" sz="2400" dirty="0"/>
          </a:p>
        </p:txBody>
      </p:sp>
      <p:sp>
        <p:nvSpPr>
          <p:cNvPr id="256" name="Text 253"/>
          <p:cNvSpPr/>
          <p:nvPr/>
        </p:nvSpPr>
        <p:spPr>
          <a:xfrm>
            <a:off x="1280160" y="34290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Investor Conversations</a:t>
            </a:r>
            <a:endParaRPr lang="en-US" sz="1500" dirty="0"/>
          </a:p>
        </p:txBody>
      </p:sp>
      <p:sp>
        <p:nvSpPr>
          <p:cNvPr id="257" name="Text 254"/>
          <p:cNvSpPr/>
          <p:nvPr/>
        </p:nvSpPr>
        <p:spPr>
          <a:xfrm>
            <a:off x="1280160" y="37216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Close seed round commitments. Target: £150K from angels and climate-tech funds.</a:t>
            </a:r>
            <a:endParaRPr lang="en-US" sz="1200" dirty="0"/>
          </a:p>
        </p:txBody>
      </p:sp>
      <p:sp>
        <p:nvSpPr>
          <p:cNvPr id="258" name="Text 255"/>
          <p:cNvSpPr/>
          <p:nvPr/>
        </p:nvSpPr>
        <p:spPr>
          <a:xfrm>
            <a:off x="457200" y="43891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What unlocks the next 6 months:</a:t>
            </a:r>
            <a:endParaRPr lang="en-US" sz="1300" dirty="0"/>
          </a:p>
        </p:txBody>
      </p:sp>
      <p:sp>
        <p:nvSpPr>
          <p:cNvPr id="259" name="Text 256"/>
          <p:cNvSpPr/>
          <p:nvPr/>
        </p:nvSpPr>
        <p:spPr>
          <a:xfrm>
            <a:off x="457200" y="4617720"/>
            <a:ext cx="822960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Seed funding + 1,000 active users + 2 energy provider API integrations</a:t>
            </a:r>
            <a:endParaRPr lang="en-US" sz="1200" dirty="0"/>
          </a:p>
        </p:txBody>
      </p:sp>
      <p:sp>
        <p:nvSpPr>
          <p:cNvPr id="260" name="Shape 257"/>
          <p:cNvSpPr/>
          <p:nvPr/>
        </p:nvSpPr>
        <p:spPr>
          <a:xfrm>
            <a:off x="5943600" y="4297680"/>
            <a:ext cx="2743200" cy="731520"/>
          </a:xfrm>
          <a:prstGeom prst="rect">
            <a:avLst/>
          </a:prstGeom>
          <a:solidFill>
            <a:srgbClr val="0D9488">
              <a:alpha val="30000"/>
            </a:srgbClr>
          </a:solidFill>
          <a:ln/>
        </p:spPr>
      </p:sp>
      <p:sp>
        <p:nvSpPr>
          <p:cNvPr id="261" name="Text 258"/>
          <p:cNvSpPr/>
          <p:nvPr/>
        </p:nvSpPr>
        <p:spPr>
          <a:xfrm>
            <a:off x="6035040" y="4343400"/>
            <a:ext cx="2560320" cy="6400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venture-spark-uk.lovable.app</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support@energywise.co.uk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EnergyWise UK - Investor Pitch Deck</dc:title>
  <dc:subject>PptxGenJS Presentation</dc:subject>
  <dc:creator>EnergyWise UK</dc:creator>
  <cp:lastModifiedBy>EnergyWise UK</cp:lastModifiedBy>
  <cp:revision>1</cp:revision>
  <dcterms:created xsi:type="dcterms:W3CDTF">2026-03-18T17:30:31Z</dcterms:created>
  <dcterms:modified xsi:type="dcterms:W3CDTF">2026-03-18T17:30:31Z</dcterms:modified>
</cp:coreProperties>
</file>